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5"/>
  </p:notesMasterIdLst>
  <p:handoutMasterIdLst>
    <p:handoutMasterId r:id="rId16"/>
  </p:handoutMasterIdLst>
  <p:sldIdLst>
    <p:sldId id="2147482955" r:id="rId5"/>
    <p:sldId id="2147470171" r:id="rId6"/>
    <p:sldId id="2147482949" r:id="rId7"/>
    <p:sldId id="2147482951" r:id="rId8"/>
    <p:sldId id="2147482956" r:id="rId9"/>
    <p:sldId id="2147482950" r:id="rId10"/>
    <p:sldId id="2147482952" r:id="rId11"/>
    <p:sldId id="2147482953" r:id="rId12"/>
    <p:sldId id="2147482946" r:id="rId13"/>
    <p:sldId id="2147482948" r:id="rId14"/>
  </p:sldIdLst>
  <p:sldSz cx="9144000" cy="5143500" type="screen16x9"/>
  <p:notesSz cx="6735763" cy="9866313"/>
  <p:defaultTextStyle>
    <a:defPPr>
      <a:defRPr lang="ja-JP"/>
    </a:defPPr>
    <a:lvl1pPr marL="0" algn="l" defTabSz="685800" rtl="0" eaLnBrk="1" latinLnBrk="0" hangingPunct="1">
      <a:defRPr kumimoji="1"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kumimoji="1"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kumimoji="1"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kumimoji="1"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kumimoji="1"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kumimoji="1"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kumimoji="1"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kumimoji="1"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kumimoji="1"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0AA"/>
    <a:srgbClr val="001F6B"/>
    <a:srgbClr val="009644"/>
    <a:srgbClr val="0000FF"/>
    <a:srgbClr val="00FF00"/>
    <a:srgbClr val="E7E7EB"/>
    <a:srgbClr val="C8003C"/>
    <a:srgbClr val="404040"/>
    <a:srgbClr val="E1E1E1"/>
    <a:srgbClr val="8C8C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4336" autoAdjust="0"/>
    <p:restoredTop sz="96242" autoAdjust="0"/>
  </p:normalViewPr>
  <p:slideViewPr>
    <p:cSldViewPr snapToGrid="0">
      <p:cViewPr varScale="1">
        <p:scale>
          <a:sx n="149" d="100"/>
          <a:sy n="149" d="100"/>
        </p:scale>
        <p:origin x="1770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9EE22A-0008-A04B-BCAB-9BA9B1E15137}" type="datetimeFigureOut">
              <a:rPr kumimoji="1" lang="ja-JP" altLang="en-US" smtClean="0"/>
              <a:t>2026/3/6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A5326E-CCE0-FC49-9E69-316AD90B1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345666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1F3B4A-B9E6-8249-825D-38F7B3A5783C}" type="datetimeFigureOut">
              <a:rPr kumimoji="1" lang="ja-JP" altLang="en-US" smtClean="0"/>
              <a:t>2026/3/6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8976AE-AD79-B84C-945A-39F4A60A9B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45359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685800" rtl="0" eaLnBrk="1" latinLnBrk="0" hangingPunct="1">
      <a:defRPr kumimoji="1"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kumimoji="1"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kumimoji="1"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kumimoji="1"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kumimoji="1"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kumimoji="1"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kumimoji="1"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kumimoji="1"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kumimoji="1"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 - Blue_confident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フリーフォーム 12"/>
          <p:cNvSpPr/>
          <p:nvPr userDrawn="1"/>
        </p:nvSpPr>
        <p:spPr>
          <a:xfrm>
            <a:off x="131614" y="120416"/>
            <a:ext cx="8884023" cy="4455459"/>
          </a:xfrm>
          <a:custGeom>
            <a:avLst/>
            <a:gdLst>
              <a:gd name="connsiteX0" fmla="*/ 8884023 w 8884023"/>
              <a:gd name="connsiteY0" fmla="*/ 3675529 h 4455459"/>
              <a:gd name="connsiteX1" fmla="*/ 8884023 w 8884023"/>
              <a:gd name="connsiteY1" fmla="*/ 0 h 4455459"/>
              <a:gd name="connsiteX2" fmla="*/ 0 w 8884023"/>
              <a:gd name="connsiteY2" fmla="*/ 0 h 4455459"/>
              <a:gd name="connsiteX3" fmla="*/ 0 w 8884023"/>
              <a:gd name="connsiteY3" fmla="*/ 4455459 h 4455459"/>
              <a:gd name="connsiteX4" fmla="*/ 8884023 w 8884023"/>
              <a:gd name="connsiteY4" fmla="*/ 3675529 h 4455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84023" h="4455459">
                <a:moveTo>
                  <a:pt x="8884023" y="3675529"/>
                </a:moveTo>
                <a:lnTo>
                  <a:pt x="8884023" y="0"/>
                </a:lnTo>
                <a:lnTo>
                  <a:pt x="0" y="0"/>
                </a:lnTo>
                <a:lnTo>
                  <a:pt x="0" y="4455459"/>
                </a:lnTo>
                <a:lnTo>
                  <a:pt x="8884023" y="3675529"/>
                </a:lnTo>
                <a:close/>
              </a:path>
            </a:pathLst>
          </a:custGeom>
          <a:solidFill>
            <a:srgbClr val="001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1" lang="ja-JP" altLang="en-US" sz="1800">
              <a:solidFill>
                <a:srgbClr val="0050AA"/>
              </a:solidFill>
              <a:latin typeface="+mj-lt"/>
              <a:ea typeface="Meiryo UI" panose="020B0604030504040204" pitchFamily="50" charset="-128"/>
            </a:endParaRPr>
          </a:p>
        </p:txBody>
      </p:sp>
      <p:pic>
        <p:nvPicPr>
          <p:cNvPr id="7" name="図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7909" y="160234"/>
            <a:ext cx="1073833" cy="397572"/>
          </a:xfrm>
          <a:prstGeom prst="rect">
            <a:avLst/>
          </a:prstGeom>
        </p:spPr>
      </p:pic>
      <p:sp>
        <p:nvSpPr>
          <p:cNvPr id="3" name="タイトル 1">
            <a:extLst>
              <a:ext uri="{FF2B5EF4-FFF2-40B4-BE49-F238E27FC236}">
                <a16:creationId xmlns:a16="http://schemas.microsoft.com/office/drawing/2014/main" id="{0073FBD5-4717-676E-1DFB-5BA0361FAFA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457201" y="1043568"/>
            <a:ext cx="6600535" cy="1512888"/>
          </a:xfrm>
        </p:spPr>
        <p:txBody>
          <a:bodyPr>
            <a:normAutofit/>
          </a:bodyPr>
          <a:lstStyle>
            <a:lvl1pPr>
              <a:defRPr sz="4000" b="1" i="0" baseline="0">
                <a:latin typeface="+mj-lt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kumimoji="1" lang="ja-JP" altLang="en-US"/>
              <a:t>タイトル</a:t>
            </a:r>
          </a:p>
        </p:txBody>
      </p:sp>
      <p:sp>
        <p:nvSpPr>
          <p:cNvPr id="4" name="サブタイトル 2">
            <a:extLst>
              <a:ext uri="{FF2B5EF4-FFF2-40B4-BE49-F238E27FC236}">
                <a16:creationId xmlns:a16="http://schemas.microsoft.com/office/drawing/2014/main" id="{ABDA930A-ACEB-7926-A675-2270688CC8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457201" y="2635744"/>
            <a:ext cx="6600535" cy="48601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 b="0" i="0" baseline="0">
                <a:solidFill>
                  <a:schemeClr val="bg1"/>
                </a:solidFill>
                <a:latin typeface="+mj-lt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サブタイトル</a:t>
            </a:r>
            <a:endParaRPr lang="en-US" altLang="ja-JP"/>
          </a:p>
        </p:txBody>
      </p:sp>
      <p:pic>
        <p:nvPicPr>
          <p:cNvPr id="5" name="図 33">
            <a:extLst>
              <a:ext uri="{FF2B5EF4-FFF2-40B4-BE49-F238E27FC236}">
                <a16:creationId xmlns:a16="http://schemas.microsoft.com/office/drawing/2014/main" id="{F5886EA0-047A-6561-9C1B-E36DAF5AC7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32456" y="4593939"/>
            <a:ext cx="3581400" cy="395386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64239FD-16F1-7D99-9E75-79151BEC11A6}"/>
              </a:ext>
            </a:extLst>
          </p:cNvPr>
          <p:cNvSpPr/>
          <p:nvPr userDrawn="1"/>
        </p:nvSpPr>
        <p:spPr>
          <a:xfrm>
            <a:off x="8789670" y="4971262"/>
            <a:ext cx="354330" cy="1722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600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4291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409242" y="772717"/>
            <a:ext cx="6496717" cy="1134666"/>
          </a:xfrm>
        </p:spPr>
        <p:txBody>
          <a:bodyPr anchor="ctr" anchorCtr="0">
            <a:normAutofit/>
          </a:bodyPr>
          <a:lstStyle>
            <a:lvl1pPr algn="l">
              <a:defRPr sz="3000" b="1" i="0">
                <a:solidFill>
                  <a:srgbClr val="404040"/>
                </a:solidFill>
                <a:latin typeface="+mj-lt"/>
                <a:ea typeface="Meiryo UI" panose="020B0604030504040204" pitchFamily="50" charset="-128"/>
                <a:cs typeface="Microsoft Sans Serif" panose="020B0604020202020204" pitchFamily="34" charset="0"/>
              </a:defRPr>
            </a:lvl1pPr>
          </a:lstStyle>
          <a:p>
            <a:r>
              <a:rPr lang="ja-JP" altLang="en-US"/>
              <a:t>スライドタイトル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409242" y="2227498"/>
            <a:ext cx="6496717" cy="57031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1" i="0">
                <a:solidFill>
                  <a:srgbClr val="404040"/>
                </a:solidFill>
                <a:latin typeface="+mj-lt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サブタイトル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409241" y="3763884"/>
            <a:ext cx="2779436" cy="324000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600" b="1" i="0" spc="0" baseline="0">
                <a:solidFill>
                  <a:srgbClr val="404040"/>
                </a:solidFill>
                <a:latin typeface="+mj-lt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lang="en-US" altLang="ja-JP"/>
              <a:t>20XX</a:t>
            </a:r>
            <a:r>
              <a:rPr lang="ja-JP" altLang="en-US" sz="1400"/>
              <a:t>年</a:t>
            </a:r>
            <a:r>
              <a:rPr lang="en-US" altLang="ja-JP"/>
              <a:t>XX</a:t>
            </a:r>
            <a:r>
              <a:rPr lang="ja-JP" altLang="en-US" sz="1400"/>
              <a:t>月</a:t>
            </a:r>
            <a:r>
              <a:rPr lang="en-US" altLang="ja-JP"/>
              <a:t>XX</a:t>
            </a:r>
            <a:r>
              <a:rPr lang="ja-JP" altLang="en-US" sz="1400"/>
              <a:t>日</a:t>
            </a:r>
          </a:p>
        </p:txBody>
      </p:sp>
      <p:pic>
        <p:nvPicPr>
          <p:cNvPr id="8" name="図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7385" y="231052"/>
            <a:ext cx="1844264" cy="86788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pag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19939" y="770711"/>
            <a:ext cx="7886700" cy="1101632"/>
          </a:xfrm>
        </p:spPr>
        <p:txBody>
          <a:bodyPr>
            <a:normAutofit/>
          </a:bodyPr>
          <a:lstStyle>
            <a:lvl1pPr>
              <a:defRPr sz="3000" b="1" i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lang="ja-JP" altLang="en-US"/>
              <a:t>タイトル</a:t>
            </a:r>
            <a:endParaRPr lang="en-US"/>
          </a:p>
        </p:txBody>
      </p:sp>
      <p:pic>
        <p:nvPicPr>
          <p:cNvPr id="6" name="図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61340" y="165238"/>
            <a:ext cx="1014463" cy="475766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page - whit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タイトル 1"/>
          <p:cNvSpPr>
            <a:spLocks noGrp="1"/>
          </p:cNvSpPr>
          <p:nvPr>
            <p:ph type="ctrTitle" hasCustomPrompt="1"/>
          </p:nvPr>
        </p:nvSpPr>
        <p:spPr>
          <a:xfrm>
            <a:off x="457200" y="864000"/>
            <a:ext cx="8229600" cy="1512888"/>
          </a:xfrm>
        </p:spPr>
        <p:txBody>
          <a:bodyPr anchor="b">
            <a:normAutofit/>
          </a:bodyPr>
          <a:lstStyle>
            <a:lvl1pPr>
              <a:defRPr sz="3200" b="1" i="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kumimoji="1" lang="ja-JP" altLang="en-US"/>
              <a:t>タイトル</a:t>
            </a:r>
          </a:p>
        </p:txBody>
      </p:sp>
      <p:pic>
        <p:nvPicPr>
          <p:cNvPr id="7" name="図 6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46106" y="133579"/>
            <a:ext cx="1146048" cy="539316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A47AC0F-9D05-E619-7F0D-087E91F9AFAA}"/>
              </a:ext>
            </a:extLst>
          </p:cNvPr>
          <p:cNvSpPr/>
          <p:nvPr userDrawn="1"/>
        </p:nvSpPr>
        <p:spPr>
          <a:xfrm>
            <a:off x="457200" y="2481137"/>
            <a:ext cx="8229600" cy="72008"/>
          </a:xfrm>
          <a:prstGeom prst="rect">
            <a:avLst/>
          </a:prstGeom>
          <a:solidFill>
            <a:srgbClr val="001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A94286D-FD06-C46F-943B-FAF66A91F4BB}"/>
              </a:ext>
            </a:extLst>
          </p:cNvPr>
          <p:cNvSpPr/>
          <p:nvPr userDrawn="1"/>
        </p:nvSpPr>
        <p:spPr>
          <a:xfrm>
            <a:off x="7511143" y="2481137"/>
            <a:ext cx="1175657" cy="72008"/>
          </a:xfrm>
          <a:prstGeom prst="rect">
            <a:avLst/>
          </a:prstGeom>
          <a:solidFill>
            <a:srgbClr val="C8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1" lang="ja-JP" altLang="en-US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4976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&amp;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 bwMode="auto">
          <a:xfrm>
            <a:off x="216000" y="165239"/>
            <a:ext cx="7707043" cy="509403"/>
          </a:xfrm>
        </p:spPr>
        <p:txBody>
          <a:bodyPr anchor="ctr" anchorCtr="0">
            <a:noAutofit/>
          </a:bodyPr>
          <a:lstStyle>
            <a:lvl1pPr algn="l">
              <a:defRPr sz="2400" b="1" i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lang="ja-JP" altLang="en-US"/>
              <a:t>ヘッダータイトル</a:t>
            </a:r>
            <a:endParaRPr lang="en-US"/>
          </a:p>
        </p:txBody>
      </p:sp>
      <p:pic>
        <p:nvPicPr>
          <p:cNvPr id="8" name="図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61340" y="165238"/>
            <a:ext cx="1014463" cy="475766"/>
          </a:xfrm>
          <a:prstGeom prst="rect">
            <a:avLst/>
          </a:prstGeom>
        </p:spPr>
      </p:pic>
      <p:sp>
        <p:nvSpPr>
          <p:cNvPr id="3" name="コンテンツ プレースホルダー 3">
            <a:extLst>
              <a:ext uri="{FF2B5EF4-FFF2-40B4-BE49-F238E27FC236}">
                <a16:creationId xmlns:a16="http://schemas.microsoft.com/office/drawing/2014/main" id="{43F351F6-E21C-5A1B-473E-D96F777B7A0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24000" y="863999"/>
            <a:ext cx="8496000" cy="3816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8147722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pos="204" userDrawn="1">
          <p15:clr>
            <a:srgbClr val="FBAE40"/>
          </p15:clr>
        </p15:guide>
        <p15:guide id="4" pos="5556" userDrawn="1">
          <p15:clr>
            <a:srgbClr val="FBAE40"/>
          </p15:clr>
        </p15:guide>
        <p15:guide id="5" orient="horz" pos="2958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&amp; Contents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 bwMode="auto">
          <a:xfrm>
            <a:off x="216000" y="165239"/>
            <a:ext cx="7707043" cy="509403"/>
          </a:xfrm>
        </p:spPr>
        <p:txBody>
          <a:bodyPr anchor="ctr" anchorCtr="0">
            <a:noAutofit/>
          </a:bodyPr>
          <a:lstStyle>
            <a:lvl1pPr algn="l">
              <a:defRPr sz="2400" b="1" i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lang="ja-JP" altLang="en-US"/>
              <a:t>ヘッダータイトル</a:t>
            </a:r>
            <a:endParaRPr lang="en-US"/>
          </a:p>
        </p:txBody>
      </p:sp>
      <p:pic>
        <p:nvPicPr>
          <p:cNvPr id="8" name="図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61340" y="165238"/>
            <a:ext cx="1014463" cy="475766"/>
          </a:xfrm>
          <a:prstGeom prst="rect">
            <a:avLst/>
          </a:prstGeom>
        </p:spPr>
      </p:pic>
      <p:sp>
        <p:nvSpPr>
          <p:cNvPr id="3" name="コンテンツ プレースホルダー 3">
            <a:extLst>
              <a:ext uri="{FF2B5EF4-FFF2-40B4-BE49-F238E27FC236}">
                <a16:creationId xmlns:a16="http://schemas.microsoft.com/office/drawing/2014/main" id="{43F351F6-E21C-5A1B-473E-D96F777B7A0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24000" y="863999"/>
            <a:ext cx="8496000" cy="10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8922299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pos="204" userDrawn="1">
          <p15:clr>
            <a:srgbClr val="FBAE40"/>
          </p15:clr>
        </p15:guide>
        <p15:guide id="4" pos="5556" userDrawn="1">
          <p15:clr>
            <a:srgbClr val="FBAE40"/>
          </p15:clr>
        </p15:guide>
        <p15:guide id="5" orient="horz" pos="2958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&amp; Contents -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216000" y="165240"/>
            <a:ext cx="7714100" cy="509402"/>
          </a:xfr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r>
              <a:rPr lang="ja-JP" altLang="en-US"/>
              <a:t>ヘッダータイトル</a:t>
            </a:r>
            <a:endParaRPr lang="en-US"/>
          </a:p>
        </p:txBody>
      </p:sp>
      <p:pic>
        <p:nvPicPr>
          <p:cNvPr id="9" name="図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61340" y="165238"/>
            <a:ext cx="1014463" cy="475766"/>
          </a:xfrm>
          <a:prstGeom prst="rect">
            <a:avLst/>
          </a:prstGeom>
        </p:spPr>
      </p:pic>
      <p:sp>
        <p:nvSpPr>
          <p:cNvPr id="3" name="コンテンツ プレースホルダー 3">
            <a:extLst>
              <a:ext uri="{FF2B5EF4-FFF2-40B4-BE49-F238E27FC236}">
                <a16:creationId xmlns:a16="http://schemas.microsoft.com/office/drawing/2014/main" id="{E2E58032-5594-673C-CE6C-59C00E11229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24000" y="900000"/>
            <a:ext cx="4032000" cy="37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lnSpc>
                <a:spcPct val="120000"/>
              </a:lnSpc>
              <a:defRPr/>
            </a:lvl2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10A5459-9ABB-C586-F9D6-4B6AFC4C223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88000" y="900000"/>
            <a:ext cx="4032000" cy="37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lnSpc>
                <a:spcPct val="120000"/>
              </a:lnSpc>
              <a:defRPr/>
            </a:lvl2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724127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&amp; Contents - 2 Columns 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216000" y="164704"/>
            <a:ext cx="7736828" cy="509938"/>
          </a:xfr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r>
              <a:rPr lang="ja-JP" altLang="en-US"/>
              <a:t>ヘッダータイトル</a:t>
            </a:r>
            <a:endParaRPr lang="en-US"/>
          </a:p>
        </p:txBody>
      </p:sp>
      <p:pic>
        <p:nvPicPr>
          <p:cNvPr id="11" name="図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61340" y="165238"/>
            <a:ext cx="1014463" cy="475766"/>
          </a:xfrm>
          <a:prstGeom prst="rect">
            <a:avLst/>
          </a:prstGeom>
        </p:spPr>
      </p:pic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5D0F764-068D-2BCC-F7A7-2CADDF37A1B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28564" y="900000"/>
            <a:ext cx="4032000" cy="288000"/>
          </a:xfrm>
          <a:prstGeom prst="rect">
            <a:avLst/>
          </a:prstGeom>
        </p:spPr>
        <p:txBody>
          <a:bodyPr lIns="0" rIns="0" anchor="t">
            <a:noAutofit/>
          </a:bodyPr>
          <a:lstStyle>
            <a:lvl1pPr marL="0" indent="0">
              <a:buNone/>
              <a:defRPr sz="1500" b="1">
                <a:solidFill>
                  <a:srgbClr val="001F6B"/>
                </a:solidFill>
                <a:latin typeface="+mj-lt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コラムタイトル</a:t>
            </a:r>
          </a:p>
        </p:txBody>
      </p:sp>
      <p:sp>
        <p:nvSpPr>
          <p:cNvPr id="4" name="テキスト プレースホルダー 2">
            <a:extLst>
              <a:ext uri="{FF2B5EF4-FFF2-40B4-BE49-F238E27FC236}">
                <a16:creationId xmlns:a16="http://schemas.microsoft.com/office/drawing/2014/main" id="{B6EED890-1B7B-B0CC-0D7D-66725714106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787078" y="900000"/>
            <a:ext cx="4032000" cy="288000"/>
          </a:xfrm>
          <a:prstGeom prst="rect">
            <a:avLst/>
          </a:prstGeom>
        </p:spPr>
        <p:txBody>
          <a:bodyPr lIns="0" rIns="0" anchor="t">
            <a:noAutofit/>
          </a:bodyPr>
          <a:lstStyle>
            <a:lvl1pPr marL="0" indent="0">
              <a:buNone/>
              <a:defRPr sz="1500" b="1">
                <a:solidFill>
                  <a:srgbClr val="001F6B"/>
                </a:solidFill>
                <a:latin typeface="+mj-lt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コラムタイトル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08D81E8C-2ED7-432A-1188-4D1C27B78FE1}"/>
              </a:ext>
            </a:extLst>
          </p:cNvPr>
          <p:cNvCxnSpPr>
            <a:cxnSpLocks/>
          </p:cNvCxnSpPr>
          <p:nvPr userDrawn="1"/>
        </p:nvCxnSpPr>
        <p:spPr>
          <a:xfrm>
            <a:off x="328564" y="900000"/>
            <a:ext cx="4032000" cy="0"/>
          </a:xfrm>
          <a:prstGeom prst="line">
            <a:avLst/>
          </a:prstGeom>
          <a:ln w="15875">
            <a:solidFill>
              <a:srgbClr val="001F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1F85B658-3250-2FA8-4010-5E65CEF824A7}"/>
              </a:ext>
            </a:extLst>
          </p:cNvPr>
          <p:cNvCxnSpPr>
            <a:cxnSpLocks/>
          </p:cNvCxnSpPr>
          <p:nvPr userDrawn="1"/>
        </p:nvCxnSpPr>
        <p:spPr>
          <a:xfrm>
            <a:off x="4787078" y="900000"/>
            <a:ext cx="4032000" cy="0"/>
          </a:xfrm>
          <a:prstGeom prst="line">
            <a:avLst/>
          </a:prstGeom>
          <a:ln w="15875">
            <a:solidFill>
              <a:srgbClr val="001F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コンテンツ プレースホルダー 4">
            <a:extLst>
              <a:ext uri="{FF2B5EF4-FFF2-40B4-BE49-F238E27FC236}">
                <a16:creationId xmlns:a16="http://schemas.microsoft.com/office/drawing/2014/main" id="{A144934F-F95D-0746-2313-4538F328ED5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28564" y="1425845"/>
            <a:ext cx="4032000" cy="32541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1400"/>
            </a:lvl1pPr>
            <a:lvl5pPr>
              <a:defRPr sz="140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5" name="コンテンツ プレースホルダー 4">
            <a:extLst>
              <a:ext uri="{FF2B5EF4-FFF2-40B4-BE49-F238E27FC236}">
                <a16:creationId xmlns:a16="http://schemas.microsoft.com/office/drawing/2014/main" id="{12EA5B26-7970-7CB6-3375-FB5FDE682FDC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787078" y="1425845"/>
            <a:ext cx="4032000" cy="32541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1400"/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37357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&amp; Contents -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216000" y="164704"/>
            <a:ext cx="7736828" cy="509938"/>
          </a:xfr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r>
              <a:rPr lang="ja-JP" altLang="en-US"/>
              <a:t>ヘッダータイトル</a:t>
            </a:r>
            <a:endParaRPr lang="en-US"/>
          </a:p>
        </p:txBody>
      </p:sp>
      <p:pic>
        <p:nvPicPr>
          <p:cNvPr id="11" name="図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61340" y="165238"/>
            <a:ext cx="1014463" cy="475766"/>
          </a:xfrm>
          <a:prstGeom prst="rect">
            <a:avLst/>
          </a:prstGeom>
        </p:spPr>
      </p:pic>
      <p:sp>
        <p:nvSpPr>
          <p:cNvPr id="7" name="テキスト プレースホルダー 2">
            <a:extLst>
              <a:ext uri="{FF2B5EF4-FFF2-40B4-BE49-F238E27FC236}">
                <a16:creationId xmlns:a16="http://schemas.microsoft.com/office/drawing/2014/main" id="{D1831076-468A-CFC9-BAEF-26FA38E72F8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24564" y="1729733"/>
            <a:ext cx="3636000" cy="288000"/>
          </a:xfrm>
          <a:prstGeom prst="rect">
            <a:avLst/>
          </a:prstGeom>
        </p:spPr>
        <p:txBody>
          <a:bodyPr lIns="0" rIns="0" anchor="t">
            <a:noAutofit/>
          </a:bodyPr>
          <a:lstStyle>
            <a:lvl1pPr marL="0" indent="0">
              <a:buNone/>
              <a:defRPr sz="1500" b="1">
                <a:solidFill>
                  <a:srgbClr val="001F6B"/>
                </a:solidFill>
                <a:latin typeface="+mj-lt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コラムタイトル</a:t>
            </a: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8F671D5B-9D9E-F12C-80A8-C39973288DE0}"/>
              </a:ext>
            </a:extLst>
          </p:cNvPr>
          <p:cNvCxnSpPr>
            <a:cxnSpLocks/>
          </p:cNvCxnSpPr>
          <p:nvPr userDrawn="1"/>
        </p:nvCxnSpPr>
        <p:spPr>
          <a:xfrm>
            <a:off x="724564" y="1729733"/>
            <a:ext cx="3636000" cy="0"/>
          </a:xfrm>
          <a:prstGeom prst="line">
            <a:avLst/>
          </a:prstGeom>
          <a:ln w="15875">
            <a:solidFill>
              <a:srgbClr val="001F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コンテンツ プレースホルダー 4">
            <a:extLst>
              <a:ext uri="{FF2B5EF4-FFF2-40B4-BE49-F238E27FC236}">
                <a16:creationId xmlns:a16="http://schemas.microsoft.com/office/drawing/2014/main" id="{C25081B7-984C-EDC5-2495-586BDE79E14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28564" y="2106302"/>
            <a:ext cx="4032000" cy="1008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1200"/>
            </a:lvl1pPr>
            <a:lvl5pPr marL="180000" indent="-180000">
              <a:defRPr sz="120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0" name="コンテンツ プレースホルダー 4">
            <a:extLst>
              <a:ext uri="{FF2B5EF4-FFF2-40B4-BE49-F238E27FC236}">
                <a16:creationId xmlns:a16="http://schemas.microsoft.com/office/drawing/2014/main" id="{1AB13C55-E8E5-DD99-159F-054A9985E78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787078" y="2106302"/>
            <a:ext cx="4032000" cy="1008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1200"/>
            </a:lvl1pPr>
            <a:lvl5pPr marL="180000" indent="-180000">
              <a:defRPr sz="120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2" name="コンテンツ プレースホルダー 3">
            <a:extLst>
              <a:ext uri="{FF2B5EF4-FFF2-40B4-BE49-F238E27FC236}">
                <a16:creationId xmlns:a16="http://schemas.microsoft.com/office/drawing/2014/main" id="{03DFB0EE-5CEA-389E-7A0D-DF9DD8346B5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24000" y="863999"/>
            <a:ext cx="8496000" cy="756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EEA57865-6712-5124-EEEC-4323EC8A33D5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183078" y="1729733"/>
            <a:ext cx="3636000" cy="288000"/>
          </a:xfrm>
          <a:prstGeom prst="rect">
            <a:avLst/>
          </a:prstGeom>
        </p:spPr>
        <p:txBody>
          <a:bodyPr lIns="0" rIns="0" anchor="t">
            <a:noAutofit/>
          </a:bodyPr>
          <a:lstStyle>
            <a:lvl1pPr marL="0" indent="0">
              <a:buNone/>
              <a:defRPr sz="1500" b="1">
                <a:solidFill>
                  <a:srgbClr val="001F6B"/>
                </a:solidFill>
                <a:latin typeface="+mj-lt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コラムタイトル</a:t>
            </a: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753CA1A0-6E16-18EE-E916-03ACCBF9D862}"/>
              </a:ext>
            </a:extLst>
          </p:cNvPr>
          <p:cNvCxnSpPr>
            <a:cxnSpLocks/>
          </p:cNvCxnSpPr>
          <p:nvPr userDrawn="1"/>
        </p:nvCxnSpPr>
        <p:spPr>
          <a:xfrm>
            <a:off x="5183078" y="1729733"/>
            <a:ext cx="3636000" cy="0"/>
          </a:xfrm>
          <a:prstGeom prst="line">
            <a:avLst/>
          </a:prstGeom>
          <a:ln w="15875">
            <a:solidFill>
              <a:srgbClr val="001F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プレースホルダー 2">
            <a:extLst>
              <a:ext uri="{FF2B5EF4-FFF2-40B4-BE49-F238E27FC236}">
                <a16:creationId xmlns:a16="http://schemas.microsoft.com/office/drawing/2014/main" id="{41370F1B-A368-BF66-DA4D-C2CA4466E12D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724564" y="3304564"/>
            <a:ext cx="3636000" cy="288000"/>
          </a:xfrm>
          <a:prstGeom prst="rect">
            <a:avLst/>
          </a:prstGeom>
        </p:spPr>
        <p:txBody>
          <a:bodyPr lIns="0" rIns="0" anchor="t">
            <a:noAutofit/>
          </a:bodyPr>
          <a:lstStyle>
            <a:lvl1pPr marL="0" indent="0">
              <a:buNone/>
              <a:defRPr sz="1500" b="1">
                <a:solidFill>
                  <a:srgbClr val="001F6B"/>
                </a:solidFill>
                <a:latin typeface="+mj-lt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コラムタイトル</a:t>
            </a: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E2338ED6-9B35-48B0-9737-46DBD97800AF}"/>
              </a:ext>
            </a:extLst>
          </p:cNvPr>
          <p:cNvCxnSpPr>
            <a:cxnSpLocks/>
          </p:cNvCxnSpPr>
          <p:nvPr userDrawn="1"/>
        </p:nvCxnSpPr>
        <p:spPr>
          <a:xfrm>
            <a:off x="724564" y="3304564"/>
            <a:ext cx="3636000" cy="0"/>
          </a:xfrm>
          <a:prstGeom prst="line">
            <a:avLst/>
          </a:prstGeom>
          <a:ln w="15875">
            <a:solidFill>
              <a:srgbClr val="001F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コンテンツ プレースホルダー 4">
            <a:extLst>
              <a:ext uri="{FF2B5EF4-FFF2-40B4-BE49-F238E27FC236}">
                <a16:creationId xmlns:a16="http://schemas.microsoft.com/office/drawing/2014/main" id="{E0C3873C-47A0-550D-1E95-EB76E6C3C91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28564" y="3681133"/>
            <a:ext cx="4032000" cy="1008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1200"/>
            </a:lvl1pPr>
            <a:lvl5pPr marL="180000" indent="-180000">
              <a:defRPr sz="120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21" name="コンテンツ プレースホルダー 4">
            <a:extLst>
              <a:ext uri="{FF2B5EF4-FFF2-40B4-BE49-F238E27FC236}">
                <a16:creationId xmlns:a16="http://schemas.microsoft.com/office/drawing/2014/main" id="{D6D14370-6F6D-FB31-81F8-CF2340D4BE3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787078" y="3681133"/>
            <a:ext cx="4032000" cy="1008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1200"/>
            </a:lvl1pPr>
            <a:lvl5pPr marL="180000" indent="-180000">
              <a:defRPr sz="120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22" name="テキスト プレースホルダー 2">
            <a:extLst>
              <a:ext uri="{FF2B5EF4-FFF2-40B4-BE49-F238E27FC236}">
                <a16:creationId xmlns:a16="http://schemas.microsoft.com/office/drawing/2014/main" id="{AC93169B-6233-1C1C-35BB-95E27278077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5183078" y="3304564"/>
            <a:ext cx="3636000" cy="288000"/>
          </a:xfrm>
          <a:prstGeom prst="rect">
            <a:avLst/>
          </a:prstGeom>
        </p:spPr>
        <p:txBody>
          <a:bodyPr lIns="0" rIns="0" anchor="t">
            <a:noAutofit/>
          </a:bodyPr>
          <a:lstStyle>
            <a:lvl1pPr marL="0" indent="0">
              <a:buNone/>
              <a:defRPr sz="1500" b="1">
                <a:solidFill>
                  <a:srgbClr val="001F6B"/>
                </a:solidFill>
                <a:latin typeface="+mj-lt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コラムタイトル</a:t>
            </a:r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F0F9798C-115D-9E4E-4C27-C3DC7323CA50}"/>
              </a:ext>
            </a:extLst>
          </p:cNvPr>
          <p:cNvCxnSpPr>
            <a:cxnSpLocks/>
          </p:cNvCxnSpPr>
          <p:nvPr userDrawn="1"/>
        </p:nvCxnSpPr>
        <p:spPr>
          <a:xfrm>
            <a:off x="5183078" y="3304564"/>
            <a:ext cx="3636000" cy="0"/>
          </a:xfrm>
          <a:prstGeom prst="line">
            <a:avLst/>
          </a:prstGeom>
          <a:ln w="15875">
            <a:solidFill>
              <a:srgbClr val="001F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3590E937-F808-7F3E-4AE5-EBB072BE43CB}"/>
              </a:ext>
            </a:extLst>
          </p:cNvPr>
          <p:cNvSpPr/>
          <p:nvPr userDrawn="1"/>
        </p:nvSpPr>
        <p:spPr>
          <a:xfrm>
            <a:off x="328564" y="1729733"/>
            <a:ext cx="288000" cy="288000"/>
          </a:xfrm>
          <a:prstGeom prst="rect">
            <a:avLst/>
          </a:prstGeom>
          <a:solidFill>
            <a:srgbClr val="001F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>
                <a:solidFill>
                  <a:schemeClr val="bg1"/>
                </a:solidFill>
              </a:rPr>
              <a:t>1</a:t>
            </a:r>
            <a:endParaRPr kumimoji="1" lang="ja-JP" altLang="en-US" sz="1200" b="1">
              <a:solidFill>
                <a:schemeClr val="bg1"/>
              </a:solidFill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AD82F712-EC31-F8F0-E4F9-930ED5420E5F}"/>
              </a:ext>
            </a:extLst>
          </p:cNvPr>
          <p:cNvSpPr/>
          <p:nvPr userDrawn="1"/>
        </p:nvSpPr>
        <p:spPr>
          <a:xfrm>
            <a:off x="4787078" y="1729733"/>
            <a:ext cx="288000" cy="288000"/>
          </a:xfrm>
          <a:prstGeom prst="rect">
            <a:avLst/>
          </a:prstGeom>
          <a:solidFill>
            <a:srgbClr val="001F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>
                <a:solidFill>
                  <a:schemeClr val="bg1"/>
                </a:solidFill>
              </a:rPr>
              <a:t>2</a:t>
            </a:r>
            <a:endParaRPr kumimoji="1" lang="ja-JP" altLang="en-US" sz="1200" b="1">
              <a:solidFill>
                <a:schemeClr val="bg1"/>
              </a:solidFill>
            </a:endParaRP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2A1D2BC1-4C6D-2A0A-DF95-F2C85EFC662F}"/>
              </a:ext>
            </a:extLst>
          </p:cNvPr>
          <p:cNvSpPr/>
          <p:nvPr userDrawn="1"/>
        </p:nvSpPr>
        <p:spPr>
          <a:xfrm>
            <a:off x="328564" y="3304564"/>
            <a:ext cx="288000" cy="288000"/>
          </a:xfrm>
          <a:prstGeom prst="rect">
            <a:avLst/>
          </a:prstGeom>
          <a:solidFill>
            <a:srgbClr val="001F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>
                <a:solidFill>
                  <a:schemeClr val="bg1"/>
                </a:solidFill>
              </a:rPr>
              <a:t>3</a:t>
            </a:r>
            <a:endParaRPr kumimoji="1" lang="ja-JP" altLang="en-US" sz="1200" b="1">
              <a:solidFill>
                <a:schemeClr val="bg1"/>
              </a:solidFill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F62F62C7-8368-2063-BE01-3D006EC25243}"/>
              </a:ext>
            </a:extLst>
          </p:cNvPr>
          <p:cNvSpPr/>
          <p:nvPr userDrawn="1"/>
        </p:nvSpPr>
        <p:spPr>
          <a:xfrm>
            <a:off x="4787078" y="3304564"/>
            <a:ext cx="288000" cy="288000"/>
          </a:xfrm>
          <a:prstGeom prst="rect">
            <a:avLst/>
          </a:prstGeom>
          <a:solidFill>
            <a:srgbClr val="001F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>
                <a:solidFill>
                  <a:schemeClr val="bg1"/>
                </a:solidFill>
              </a:rPr>
              <a:t>4</a:t>
            </a:r>
            <a:endParaRPr kumimoji="1" lang="ja-JP" altLang="en-US" sz="12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1034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&amp; Contents - main_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216000" y="164704"/>
            <a:ext cx="7736828" cy="509938"/>
          </a:xfr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r>
              <a:rPr lang="ja-JP" altLang="en-US"/>
              <a:t>ヘッダータイトル</a:t>
            </a:r>
            <a:endParaRPr lang="en-US"/>
          </a:p>
        </p:txBody>
      </p:sp>
      <p:pic>
        <p:nvPicPr>
          <p:cNvPr id="11" name="図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61340" y="165238"/>
            <a:ext cx="1014463" cy="475766"/>
          </a:xfrm>
          <a:prstGeom prst="rect">
            <a:avLst/>
          </a:prstGeom>
        </p:spPr>
      </p:pic>
      <p:sp>
        <p:nvSpPr>
          <p:cNvPr id="15" name="コンテンツ プレースホルダー 10">
            <a:extLst>
              <a:ext uri="{FF2B5EF4-FFF2-40B4-BE49-F238E27FC236}">
                <a16:creationId xmlns:a16="http://schemas.microsoft.com/office/drawing/2014/main" id="{82C7087E-5AF5-304D-7955-3591C9AA4500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300054" y="900000"/>
            <a:ext cx="2520000" cy="3780000"/>
          </a:xfrm>
          <a:prstGeom prst="rect">
            <a:avLst/>
          </a:prstGeom>
          <a:solidFill>
            <a:srgbClr val="E1E1E1"/>
          </a:solidFill>
        </p:spPr>
        <p:txBody>
          <a:bodyPr vert="horz" lIns="180000" tIns="504000" rIns="144000" bIns="0" rtlCol="0">
            <a:normAutofit/>
          </a:bodyPr>
          <a:lstStyle>
            <a:lvl1pPr>
              <a:defRPr sz="1400"/>
            </a:lvl1pPr>
            <a:lvl5pPr>
              <a:lnSpc>
                <a:spcPct val="120000"/>
              </a:lnSpc>
              <a:defRPr lang="ja-JP" altLang="en-US" sz="1400" dirty="0" smtClean="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28" name="テキスト プレースホルダー 2">
            <a:extLst>
              <a:ext uri="{FF2B5EF4-FFF2-40B4-BE49-F238E27FC236}">
                <a16:creationId xmlns:a16="http://schemas.microsoft.com/office/drawing/2014/main" id="{50BEBC8C-F41A-081D-B925-599F0FC9C8C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28564" y="900000"/>
            <a:ext cx="5760000" cy="482311"/>
          </a:xfrm>
          <a:prstGeom prst="rect">
            <a:avLst/>
          </a:prstGeom>
        </p:spPr>
        <p:txBody>
          <a:bodyPr lIns="0" rIns="0" anchor="t">
            <a:noAutofit/>
          </a:bodyPr>
          <a:lstStyle>
            <a:lvl1pPr marL="0" indent="0">
              <a:buNone/>
              <a:defRPr sz="1500" b="1">
                <a:solidFill>
                  <a:srgbClr val="001F6B"/>
                </a:solidFill>
                <a:latin typeface="+mj-lt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コラムタイトル</a:t>
            </a:r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D32BBAC9-2892-BCC5-D60B-8FA06C6049D6}"/>
              </a:ext>
            </a:extLst>
          </p:cNvPr>
          <p:cNvCxnSpPr>
            <a:cxnSpLocks/>
          </p:cNvCxnSpPr>
          <p:nvPr userDrawn="1"/>
        </p:nvCxnSpPr>
        <p:spPr>
          <a:xfrm>
            <a:off x="328564" y="900000"/>
            <a:ext cx="5760000" cy="0"/>
          </a:xfrm>
          <a:prstGeom prst="line">
            <a:avLst/>
          </a:prstGeom>
          <a:ln w="15875">
            <a:solidFill>
              <a:srgbClr val="001F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テキスト プレースホルダー 2">
            <a:extLst>
              <a:ext uri="{FF2B5EF4-FFF2-40B4-BE49-F238E27FC236}">
                <a16:creationId xmlns:a16="http://schemas.microsoft.com/office/drawing/2014/main" id="{838866BF-27CF-E735-EAB7-B5747B63EE0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300054" y="900000"/>
            <a:ext cx="2520000" cy="482311"/>
          </a:xfrm>
          <a:prstGeom prst="rect">
            <a:avLst/>
          </a:prstGeom>
        </p:spPr>
        <p:txBody>
          <a:bodyPr lIns="180000" tIns="144000" rIns="180000" anchor="t">
            <a:noAutofit/>
          </a:bodyPr>
          <a:lstStyle>
            <a:lvl1pPr marL="0" indent="0">
              <a:buNone/>
              <a:defRPr sz="1500" b="1">
                <a:solidFill>
                  <a:srgbClr val="001F6B"/>
                </a:solidFill>
                <a:latin typeface="+mj-lt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コラムタイトル</a:t>
            </a:r>
          </a:p>
        </p:txBody>
      </p:sp>
      <p:sp>
        <p:nvSpPr>
          <p:cNvPr id="31" name="コンテンツ プレースホルダー 4">
            <a:extLst>
              <a:ext uri="{FF2B5EF4-FFF2-40B4-BE49-F238E27FC236}">
                <a16:creationId xmlns:a16="http://schemas.microsoft.com/office/drawing/2014/main" id="{E6A03CD7-704D-58FB-23BA-EC4D06BD2F0C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28564" y="1425845"/>
            <a:ext cx="5760000" cy="32541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1400"/>
            </a:lvl1pPr>
            <a:lvl4pPr>
              <a:lnSpc>
                <a:spcPct val="120000"/>
              </a:lnSpc>
              <a:defRPr/>
            </a:lvl4pPr>
            <a:lvl5pPr>
              <a:defRPr sz="140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292530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&amp; Contents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 bwMode="auto">
          <a:xfrm>
            <a:off x="216000" y="165239"/>
            <a:ext cx="7707043" cy="509403"/>
          </a:xfrm>
        </p:spPr>
        <p:txBody>
          <a:bodyPr anchor="ctr" anchorCtr="0">
            <a:noAutofit/>
          </a:bodyPr>
          <a:lstStyle>
            <a:lvl1pPr algn="l">
              <a:defRPr sz="2400" b="1" i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lang="ja-JP" altLang="en-US"/>
              <a:t>ヘッダータイトル</a:t>
            </a:r>
            <a:endParaRPr lang="en-US"/>
          </a:p>
        </p:txBody>
      </p:sp>
      <p:pic>
        <p:nvPicPr>
          <p:cNvPr id="8" name="図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61340" y="165238"/>
            <a:ext cx="1014463" cy="475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4893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pos="204" userDrawn="1">
          <p15:clr>
            <a:srgbClr val="FBAE40"/>
          </p15:clr>
        </p15:guide>
        <p15:guide id="4" pos="5556" userDrawn="1">
          <p15:clr>
            <a:srgbClr val="FBAE40"/>
          </p15:clr>
        </p15:guide>
        <p15:guide id="5" orient="horz" pos="2958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nd / Contact pag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テキスト ボックス 9"/>
          <p:cNvSpPr txBox="1"/>
          <p:nvPr userDrawn="1"/>
        </p:nvSpPr>
        <p:spPr>
          <a:xfrm>
            <a:off x="376721" y="3554400"/>
            <a:ext cx="965329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700" b="1" i="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" charset="-128"/>
              </a:rPr>
              <a:t>END</a:t>
            </a:r>
            <a:endParaRPr kumimoji="1" lang="ja-JP" altLang="en-US" sz="2700" b="1" i="0" baseline="0">
              <a:solidFill>
                <a:srgbClr val="40404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" charset="-128"/>
            </a:endParaRPr>
          </a:p>
        </p:txBody>
      </p:sp>
      <p:pic>
        <p:nvPicPr>
          <p:cNvPr id="5" name="図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907" y="1022956"/>
            <a:ext cx="2309330" cy="10862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Header &amp;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 userDrawn="1"/>
        </p:nvSpPr>
        <p:spPr>
          <a:xfrm>
            <a:off x="169186" y="127588"/>
            <a:ext cx="8806154" cy="486000"/>
          </a:xfrm>
          <a:prstGeom prst="rect">
            <a:avLst/>
          </a:prstGeom>
          <a:solidFill>
            <a:srgbClr val="001F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47">
              <a:ea typeface="Meiryo UI" panose="020B0604030504040204" pitchFamily="50" charset="-128"/>
            </a:endParaRPr>
          </a:p>
        </p:txBody>
      </p:sp>
      <p:pic>
        <p:nvPicPr>
          <p:cNvPr id="5" name="図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88356" y="225860"/>
            <a:ext cx="1069679" cy="32177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 bwMode="white">
          <a:xfrm>
            <a:off x="219968" y="131449"/>
            <a:ext cx="7433103" cy="509402"/>
          </a:xfrm>
        </p:spPr>
        <p:txBody>
          <a:bodyPr anchor="ctr" anchorCtr="0">
            <a:noAutofit/>
          </a:bodyPr>
          <a:lstStyle>
            <a:lvl1pPr algn="l">
              <a:defRPr sz="1939" b="1" i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lang="ja-JP" altLang="en-US"/>
              <a:t>ヘッダータイトル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5880" y="756397"/>
            <a:ext cx="8640000" cy="4050000"/>
          </a:xfrm>
        </p:spPr>
        <p:txBody>
          <a:bodyPr/>
          <a:lstStyle>
            <a:lvl1pPr>
              <a:defRPr sz="1661" b="0" i="0" baseline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>
              <a:defRPr sz="1385" b="0" i="0" baseline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2pPr>
            <a:lvl3pPr>
              <a:defRPr sz="1247" b="0" i="0" baseline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3pPr>
            <a:lvl4pPr>
              <a:defRPr sz="1108" b="0" i="0" baseline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4pPr>
            <a:lvl5pPr>
              <a:defRPr sz="969" b="0" i="0" baseline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altLang="ja-JP"/>
          </a:p>
        </p:txBody>
      </p:sp>
      <p:cxnSp>
        <p:nvCxnSpPr>
          <p:cNvPr id="10" name="直線コネクタ 9"/>
          <p:cNvCxnSpPr/>
          <p:nvPr userDrawn="1"/>
        </p:nvCxnSpPr>
        <p:spPr>
          <a:xfrm>
            <a:off x="169186" y="4806397"/>
            <a:ext cx="8806154" cy="0"/>
          </a:xfrm>
          <a:prstGeom prst="line">
            <a:avLst/>
          </a:prstGeom>
          <a:ln w="19050">
            <a:solidFill>
              <a:schemeClr val="accent5"/>
            </a:solidFill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7269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1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四角形: 角を丸くする 132">
            <a:extLst>
              <a:ext uri="{FF2B5EF4-FFF2-40B4-BE49-F238E27FC236}">
                <a16:creationId xmlns:a16="http://schemas.microsoft.com/office/drawing/2014/main" id="{CCADD4BC-51A7-2D4C-F212-AE9E26C40B6C}"/>
              </a:ext>
            </a:extLst>
          </p:cNvPr>
          <p:cNvSpPr/>
          <p:nvPr userDrawn="1"/>
        </p:nvSpPr>
        <p:spPr>
          <a:xfrm>
            <a:off x="-1690644" y="790222"/>
            <a:ext cx="1440000" cy="2888477"/>
          </a:xfrm>
          <a:prstGeom prst="roundRect">
            <a:avLst>
              <a:gd name="adj" fmla="val 1393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800">
              <a:solidFill>
                <a:srgbClr val="404040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179041" y="76655"/>
            <a:ext cx="7704707" cy="6723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9989AFA-3F7E-928E-3C8E-099A01713A69}"/>
              </a:ext>
            </a:extLst>
          </p:cNvPr>
          <p:cNvSpPr txBox="1"/>
          <p:nvPr userDrawn="1"/>
        </p:nvSpPr>
        <p:spPr>
          <a:xfrm>
            <a:off x="7341212" y="4930259"/>
            <a:ext cx="1046788" cy="1350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r"/>
            <a:r>
              <a:rPr kumimoji="1" lang="en-US" altLang="ja-JP" sz="750" b="1" i="0">
                <a:solidFill>
                  <a:srgbClr val="324650"/>
                </a:solidFill>
                <a:latin typeface="+mj-lt"/>
                <a:cs typeface="Meiryo" charset="-128"/>
              </a:rPr>
              <a:t>Internal Use Only</a:t>
            </a:r>
            <a:endParaRPr kumimoji="1" lang="ja-JP" altLang="en-US" sz="750" b="1" i="0">
              <a:solidFill>
                <a:srgbClr val="324650"/>
              </a:solidFill>
              <a:latin typeface="+mj-lt"/>
              <a:cs typeface="Meiryo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CCB8317-D69F-3CA8-AB3A-BCCD901B829F}"/>
              </a:ext>
            </a:extLst>
          </p:cNvPr>
          <p:cNvSpPr txBox="1"/>
          <p:nvPr userDrawn="1"/>
        </p:nvSpPr>
        <p:spPr>
          <a:xfrm>
            <a:off x="8398800" y="4935600"/>
            <a:ext cx="522000" cy="176400"/>
          </a:xfrm>
          <a:prstGeom prst="rect">
            <a:avLst/>
          </a:prstGeom>
          <a:noFill/>
        </p:spPr>
        <p:txBody>
          <a:bodyPr wrap="square" lIns="90000" tIns="46800" rIns="90000" bIns="46800" rtlCol="0" anchor="ctr">
            <a:noAutofit/>
          </a:bodyPr>
          <a:lstStyle/>
          <a:p>
            <a:pPr algn="r"/>
            <a:fld id="{E6CCD1F1-ACA8-4022-AD13-BC347897C9F3}" type="slidenum">
              <a:rPr kumimoji="1" lang="ja-JP" altLang="en-US" sz="105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pPr algn="r"/>
              <a:t>‹#›</a:t>
            </a:fld>
            <a:endParaRPr kumimoji="1" lang="ja-JP" altLang="en-US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D400FC2-C642-709C-F7CB-791E544830AD}"/>
              </a:ext>
            </a:extLst>
          </p:cNvPr>
          <p:cNvSpPr txBox="1"/>
          <p:nvPr userDrawn="1"/>
        </p:nvSpPr>
        <p:spPr>
          <a:xfrm>
            <a:off x="4612638" y="4935600"/>
            <a:ext cx="2769212" cy="176400"/>
          </a:xfrm>
          <a:prstGeom prst="rect">
            <a:avLst/>
          </a:prstGeom>
          <a:noFill/>
        </p:spPr>
        <p:txBody>
          <a:bodyPr wrap="square" lIns="90000" tIns="46800" rIns="90000" bIns="46800" rtlCol="0" anchor="ctr">
            <a:no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85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Meiryo UI"/>
                <a:cs typeface="+mn-cs"/>
              </a:rPr>
              <a:t>©AGC Inc.</a:t>
            </a:r>
          </a:p>
        </p:txBody>
      </p:sp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F61414A7-0260-6A7C-51FF-606411967C0C}"/>
              </a:ext>
            </a:extLst>
          </p:cNvPr>
          <p:cNvSpPr/>
          <p:nvPr userDrawn="1"/>
        </p:nvSpPr>
        <p:spPr>
          <a:xfrm>
            <a:off x="-1310852" y="1121801"/>
            <a:ext cx="288000" cy="180000"/>
          </a:xfrm>
          <a:prstGeom prst="rect">
            <a:avLst/>
          </a:prstGeom>
          <a:solidFill>
            <a:srgbClr val="E40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1" lang="ja-JP" altLang="en-US"/>
          </a:p>
        </p:txBody>
      </p:sp>
      <p:sp>
        <p:nvSpPr>
          <p:cNvPr id="71" name="正方形/長方形 70">
            <a:extLst>
              <a:ext uri="{FF2B5EF4-FFF2-40B4-BE49-F238E27FC236}">
                <a16:creationId xmlns:a16="http://schemas.microsoft.com/office/drawing/2014/main" id="{728D7F43-CFFA-4062-B340-5DC404F50D87}"/>
              </a:ext>
            </a:extLst>
          </p:cNvPr>
          <p:cNvSpPr/>
          <p:nvPr userDrawn="1"/>
        </p:nvSpPr>
        <p:spPr>
          <a:xfrm>
            <a:off x="-1612998" y="1121801"/>
            <a:ext cx="288000" cy="180000"/>
          </a:xfrm>
          <a:prstGeom prst="rect">
            <a:avLst/>
          </a:prstGeom>
          <a:solidFill>
            <a:srgbClr val="001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1" lang="ja-JP" altLang="en-US"/>
          </a:p>
        </p:txBody>
      </p: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6DB88898-71B8-6193-745E-09C964288472}"/>
              </a:ext>
            </a:extLst>
          </p:cNvPr>
          <p:cNvSpPr/>
          <p:nvPr userDrawn="1"/>
        </p:nvSpPr>
        <p:spPr>
          <a:xfrm>
            <a:off x="-1689204" y="44139"/>
            <a:ext cx="144000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ja-JP" sz="1000" b="1">
                <a:solidFill>
                  <a:schemeClr val="tx1"/>
                </a:solidFill>
              </a:rPr>
              <a:t>【</a:t>
            </a:r>
            <a:r>
              <a:rPr kumimoji="1" lang="ja-JP" altLang="en-US" sz="1000" b="1">
                <a:solidFill>
                  <a:schemeClr val="tx1"/>
                </a:solidFill>
              </a:rPr>
              <a:t>色の設定について</a:t>
            </a:r>
            <a:r>
              <a:rPr kumimoji="1" lang="en-US" altLang="ja-JP" sz="1000" b="1">
                <a:solidFill>
                  <a:schemeClr val="tx1"/>
                </a:solidFill>
              </a:rPr>
              <a:t>】</a:t>
            </a:r>
          </a:p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kumimoji="1" lang="ja-JP" altLang="en-US" sz="800">
                <a:solidFill>
                  <a:schemeClr val="tx1"/>
                </a:solidFill>
              </a:rPr>
              <a:t>下の色からスポイトで拾ってください。</a:t>
            </a:r>
          </a:p>
        </p:txBody>
      </p:sp>
      <p:grpSp>
        <p:nvGrpSpPr>
          <p:cNvPr id="73" name="グループ化 72">
            <a:extLst>
              <a:ext uri="{FF2B5EF4-FFF2-40B4-BE49-F238E27FC236}">
                <a16:creationId xmlns:a16="http://schemas.microsoft.com/office/drawing/2014/main" id="{93A5027B-06E8-79AB-4846-C97E09E9F53B}"/>
              </a:ext>
            </a:extLst>
          </p:cNvPr>
          <p:cNvGrpSpPr/>
          <p:nvPr userDrawn="1"/>
        </p:nvGrpSpPr>
        <p:grpSpPr>
          <a:xfrm>
            <a:off x="-1612998" y="877718"/>
            <a:ext cx="1080000" cy="226591"/>
            <a:chOff x="-1722675" y="933970"/>
            <a:chExt cx="1332000" cy="226591"/>
          </a:xfrm>
        </p:grpSpPr>
        <p:sp>
          <p:nvSpPr>
            <p:cNvPr id="74" name="テキスト ボックス 73">
              <a:extLst>
                <a:ext uri="{FF2B5EF4-FFF2-40B4-BE49-F238E27FC236}">
                  <a16:creationId xmlns:a16="http://schemas.microsoft.com/office/drawing/2014/main" id="{D7413A31-0E15-6669-8B84-35088974098B}"/>
                </a:ext>
              </a:extLst>
            </p:cNvPr>
            <p:cNvSpPr txBox="1"/>
            <p:nvPr userDrawn="1"/>
          </p:nvSpPr>
          <p:spPr>
            <a:xfrm>
              <a:off x="-1722675" y="933970"/>
              <a:ext cx="870391" cy="226591"/>
            </a:xfrm>
            <a:prstGeom prst="rect">
              <a:avLst/>
            </a:prstGeom>
            <a:noFill/>
          </p:spPr>
          <p:txBody>
            <a:bodyPr wrap="none" lIns="0" tIns="36000" rIns="0" bIns="36000" anchor="ctr" anchorCtr="0">
              <a:spAutoFit/>
            </a:bodyPr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000" b="1" i="0" strike="noStrike" kern="1200" cap="none" spc="0" normalizeH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Segoe UI" panose="020B0502040204020203" pitchFamily="34" charset="0"/>
                  <a:ea typeface="Meiryo UI" panose="020B0604030504040204" pitchFamily="50" charset="-128"/>
                  <a:cs typeface="+mn-cs"/>
                </a:rPr>
                <a:t>プライマリーカラー</a:t>
              </a:r>
            </a:p>
          </p:txBody>
        </p:sp>
        <p:cxnSp>
          <p:nvCxnSpPr>
            <p:cNvPr id="75" name="直線コネクタ 74">
              <a:extLst>
                <a:ext uri="{FF2B5EF4-FFF2-40B4-BE49-F238E27FC236}">
                  <a16:creationId xmlns:a16="http://schemas.microsoft.com/office/drawing/2014/main" id="{EB215904-AFE1-D976-57EB-15BEC11FF70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722675" y="949358"/>
              <a:ext cx="1332000" cy="0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グループ化 75">
            <a:extLst>
              <a:ext uri="{FF2B5EF4-FFF2-40B4-BE49-F238E27FC236}">
                <a16:creationId xmlns:a16="http://schemas.microsoft.com/office/drawing/2014/main" id="{5E0279E2-DE77-B507-0EEA-208F7E125879}"/>
              </a:ext>
            </a:extLst>
          </p:cNvPr>
          <p:cNvGrpSpPr/>
          <p:nvPr userDrawn="1"/>
        </p:nvGrpSpPr>
        <p:grpSpPr>
          <a:xfrm>
            <a:off x="-1612998" y="1461170"/>
            <a:ext cx="1080000" cy="226591"/>
            <a:chOff x="-1722675" y="933970"/>
            <a:chExt cx="1332000" cy="226591"/>
          </a:xfrm>
        </p:grpSpPr>
        <p:sp>
          <p:nvSpPr>
            <p:cNvPr id="77" name="テキスト ボックス 76">
              <a:extLst>
                <a:ext uri="{FF2B5EF4-FFF2-40B4-BE49-F238E27FC236}">
                  <a16:creationId xmlns:a16="http://schemas.microsoft.com/office/drawing/2014/main" id="{62230046-749D-553F-0CA6-A3014F68FC28}"/>
                </a:ext>
              </a:extLst>
            </p:cNvPr>
            <p:cNvSpPr txBox="1"/>
            <p:nvPr userDrawn="1"/>
          </p:nvSpPr>
          <p:spPr>
            <a:xfrm>
              <a:off x="-1722675" y="933970"/>
              <a:ext cx="864460" cy="226591"/>
            </a:xfrm>
            <a:prstGeom prst="rect">
              <a:avLst/>
            </a:prstGeom>
            <a:noFill/>
          </p:spPr>
          <p:txBody>
            <a:bodyPr wrap="none" lIns="0" tIns="36000" rIns="0" bIns="36000" anchor="ctr" anchorCtr="0">
              <a:spAutoFit/>
            </a:bodyPr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000" b="1" i="0" strike="noStrike" kern="1200" cap="none" spc="0" normalizeH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Segoe UI" panose="020B0502040204020203" pitchFamily="34" charset="0"/>
                  <a:ea typeface="Meiryo UI" panose="020B0604030504040204" pitchFamily="50" charset="-128"/>
                  <a:cs typeface="+mn-cs"/>
                </a:rPr>
                <a:t>セカンダリーカラー</a:t>
              </a:r>
            </a:p>
          </p:txBody>
        </p:sp>
        <p:cxnSp>
          <p:nvCxnSpPr>
            <p:cNvPr id="78" name="直線コネクタ 77">
              <a:extLst>
                <a:ext uri="{FF2B5EF4-FFF2-40B4-BE49-F238E27FC236}">
                  <a16:creationId xmlns:a16="http://schemas.microsoft.com/office/drawing/2014/main" id="{E56E43EB-C81E-6437-7495-1BC7F5E8F21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722675" y="949358"/>
              <a:ext cx="1332000" cy="0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正方形/長方形 78">
            <a:extLst>
              <a:ext uri="{FF2B5EF4-FFF2-40B4-BE49-F238E27FC236}">
                <a16:creationId xmlns:a16="http://schemas.microsoft.com/office/drawing/2014/main" id="{4EAF8179-3D1E-F81D-E368-70D059ABE7D8}"/>
              </a:ext>
            </a:extLst>
          </p:cNvPr>
          <p:cNvSpPr/>
          <p:nvPr userDrawn="1"/>
        </p:nvSpPr>
        <p:spPr>
          <a:xfrm>
            <a:off x="-1612998" y="1705034"/>
            <a:ext cx="1080000" cy="10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kumimoji="1" lang="en-US" altLang="ja-JP" sz="800">
                <a:solidFill>
                  <a:schemeClr val="tx1">
                    <a:lumMod val="75000"/>
                    <a:lumOff val="25000"/>
                  </a:schemeClr>
                </a:solidFill>
              </a:rPr>
              <a:t>【</a:t>
            </a:r>
            <a:r>
              <a:rPr kumimoji="1" lang="ja-JP" altLang="en-US" sz="800">
                <a:solidFill>
                  <a:schemeClr val="tx1">
                    <a:lumMod val="75000"/>
                    <a:lumOff val="25000"/>
                  </a:schemeClr>
                </a:solidFill>
              </a:rPr>
              <a:t>汎用</a:t>
            </a:r>
            <a:r>
              <a:rPr kumimoji="1" lang="en-US" altLang="ja-JP" sz="800">
                <a:solidFill>
                  <a:schemeClr val="tx1">
                    <a:lumMod val="75000"/>
                    <a:lumOff val="25000"/>
                  </a:schemeClr>
                </a:solidFill>
              </a:rPr>
              <a:t>】</a:t>
            </a:r>
            <a:endParaRPr kumimoji="1" lang="ja-JP" altLang="en-US" sz="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0" name="正方形/長方形 79">
            <a:extLst>
              <a:ext uri="{FF2B5EF4-FFF2-40B4-BE49-F238E27FC236}">
                <a16:creationId xmlns:a16="http://schemas.microsoft.com/office/drawing/2014/main" id="{953B6BDB-15D3-BBCC-DCDC-804848C26D10}"/>
              </a:ext>
            </a:extLst>
          </p:cNvPr>
          <p:cNvSpPr/>
          <p:nvPr userDrawn="1"/>
        </p:nvSpPr>
        <p:spPr>
          <a:xfrm>
            <a:off x="-1612998" y="2367563"/>
            <a:ext cx="1080000" cy="10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kumimoji="1" lang="en-US" altLang="ja-JP" sz="800">
                <a:solidFill>
                  <a:schemeClr val="tx1">
                    <a:lumMod val="75000"/>
                    <a:lumOff val="25000"/>
                  </a:schemeClr>
                </a:solidFill>
              </a:rPr>
              <a:t>【</a:t>
            </a:r>
            <a:r>
              <a:rPr kumimoji="1" lang="ja-JP" altLang="en-US" sz="800">
                <a:solidFill>
                  <a:schemeClr val="tx1">
                    <a:lumMod val="75000"/>
                    <a:lumOff val="25000"/>
                  </a:schemeClr>
                </a:solidFill>
              </a:rPr>
              <a:t>アクセント</a:t>
            </a:r>
            <a:r>
              <a:rPr kumimoji="1" lang="en-US" altLang="ja-JP" sz="800">
                <a:solidFill>
                  <a:schemeClr val="tx1">
                    <a:lumMod val="75000"/>
                    <a:lumOff val="25000"/>
                  </a:schemeClr>
                </a:solidFill>
              </a:rPr>
              <a:t>】</a:t>
            </a:r>
            <a:endParaRPr kumimoji="1" lang="ja-JP" altLang="en-US" sz="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75" name="グループ化 174">
            <a:extLst>
              <a:ext uri="{FF2B5EF4-FFF2-40B4-BE49-F238E27FC236}">
                <a16:creationId xmlns:a16="http://schemas.microsoft.com/office/drawing/2014/main" id="{2A728A4C-7485-B776-6310-E9D78AEEBD10}"/>
              </a:ext>
            </a:extLst>
          </p:cNvPr>
          <p:cNvGrpSpPr/>
          <p:nvPr userDrawn="1"/>
        </p:nvGrpSpPr>
        <p:grpSpPr>
          <a:xfrm>
            <a:off x="-1689204" y="3807084"/>
            <a:ext cx="1440000" cy="226591"/>
            <a:chOff x="-1722675" y="933970"/>
            <a:chExt cx="1332000" cy="226591"/>
          </a:xfrm>
        </p:grpSpPr>
        <p:sp>
          <p:nvSpPr>
            <p:cNvPr id="176" name="テキスト ボックス 175">
              <a:extLst>
                <a:ext uri="{FF2B5EF4-FFF2-40B4-BE49-F238E27FC236}">
                  <a16:creationId xmlns:a16="http://schemas.microsoft.com/office/drawing/2014/main" id="{FC2B4EFE-2F3D-81DF-BB89-29CB1A59F355}"/>
                </a:ext>
              </a:extLst>
            </p:cNvPr>
            <p:cNvSpPr txBox="1"/>
            <p:nvPr userDrawn="1"/>
          </p:nvSpPr>
          <p:spPr>
            <a:xfrm>
              <a:off x="-1722675" y="933970"/>
              <a:ext cx="474489" cy="226591"/>
            </a:xfrm>
            <a:prstGeom prst="rect">
              <a:avLst/>
            </a:prstGeom>
            <a:noFill/>
          </p:spPr>
          <p:txBody>
            <a:bodyPr wrap="none" lIns="0" tIns="36000" rIns="0" bIns="36000" anchor="ctr" anchorCtr="0">
              <a:spAutoFit/>
            </a:bodyPr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000" b="1" i="0" strike="noStrike" kern="1200" cap="none" spc="0" normalizeH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Segoe UI" panose="020B0502040204020203" pitchFamily="34" charset="0"/>
                  <a:ea typeface="Meiryo UI" panose="020B0604030504040204" pitchFamily="50" charset="-128"/>
                  <a:cs typeface="+mn-cs"/>
                </a:rPr>
                <a:t>セグメント</a:t>
              </a:r>
            </a:p>
          </p:txBody>
        </p:sp>
        <p:cxnSp>
          <p:nvCxnSpPr>
            <p:cNvPr id="177" name="直線コネクタ 176">
              <a:extLst>
                <a:ext uri="{FF2B5EF4-FFF2-40B4-BE49-F238E27FC236}">
                  <a16:creationId xmlns:a16="http://schemas.microsoft.com/office/drawing/2014/main" id="{F98788C2-B4F5-BE8E-BB66-437266DFAF6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722675" y="949358"/>
              <a:ext cx="1332000" cy="0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8" name="正方形/長方形 177">
            <a:extLst>
              <a:ext uri="{FF2B5EF4-FFF2-40B4-BE49-F238E27FC236}">
                <a16:creationId xmlns:a16="http://schemas.microsoft.com/office/drawing/2014/main" id="{B47CEB34-B8C5-5F7D-394A-C23AFFC8219E}"/>
              </a:ext>
            </a:extLst>
          </p:cNvPr>
          <p:cNvSpPr/>
          <p:nvPr userDrawn="1"/>
        </p:nvSpPr>
        <p:spPr>
          <a:xfrm>
            <a:off x="-1203204" y="4051450"/>
            <a:ext cx="468000" cy="180000"/>
          </a:xfrm>
          <a:prstGeom prst="rect">
            <a:avLst/>
          </a:prstGeom>
          <a:solidFill>
            <a:srgbClr val="00558A"/>
          </a:solidFill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ja-JP" altLang="en-US" sz="460" b="0">
                <a:solidFill>
                  <a:schemeClr val="bg1"/>
                </a:solidFill>
                <a:latin typeface="Segoe UI" panose="020B0502040204020203" pitchFamily="34" charset="0"/>
                <a:ea typeface="Meiryo UI" panose="020B0604030504040204" pitchFamily="50" charset="-128"/>
              </a:rPr>
              <a:t>オートモーティブ</a:t>
            </a:r>
          </a:p>
        </p:txBody>
      </p:sp>
      <p:sp>
        <p:nvSpPr>
          <p:cNvPr id="179" name="正方形/長方形 178">
            <a:extLst>
              <a:ext uri="{FF2B5EF4-FFF2-40B4-BE49-F238E27FC236}">
                <a16:creationId xmlns:a16="http://schemas.microsoft.com/office/drawing/2014/main" id="{0A1C7E42-D46C-C860-EA82-847880450BE9}"/>
              </a:ext>
            </a:extLst>
          </p:cNvPr>
          <p:cNvSpPr/>
          <p:nvPr userDrawn="1"/>
        </p:nvSpPr>
        <p:spPr>
          <a:xfrm>
            <a:off x="-1203204" y="4250340"/>
            <a:ext cx="468000" cy="180000"/>
          </a:xfrm>
          <a:prstGeom prst="rect">
            <a:avLst/>
          </a:prstGeom>
          <a:solidFill>
            <a:srgbClr val="007660"/>
          </a:solidFill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ja-JP" altLang="en-US" sz="460" b="0">
                <a:solidFill>
                  <a:schemeClr val="bg1"/>
                </a:solidFill>
                <a:latin typeface="Segoe UI" panose="020B0502040204020203" pitchFamily="34" charset="0"/>
                <a:ea typeface="Meiryo UI" panose="020B0604030504040204" pitchFamily="50" charset="-128"/>
              </a:rPr>
              <a:t>ライフサイエンス</a:t>
            </a:r>
          </a:p>
        </p:txBody>
      </p:sp>
      <p:sp>
        <p:nvSpPr>
          <p:cNvPr id="180" name="正方形/長方形 179">
            <a:extLst>
              <a:ext uri="{FF2B5EF4-FFF2-40B4-BE49-F238E27FC236}">
                <a16:creationId xmlns:a16="http://schemas.microsoft.com/office/drawing/2014/main" id="{DDB4D442-CEE1-2E50-3E73-70EA5A9581C4}"/>
              </a:ext>
            </a:extLst>
          </p:cNvPr>
          <p:cNvSpPr/>
          <p:nvPr userDrawn="1"/>
        </p:nvSpPr>
        <p:spPr>
          <a:xfrm>
            <a:off x="-717204" y="4051450"/>
            <a:ext cx="468000" cy="180000"/>
          </a:xfrm>
          <a:prstGeom prst="rect">
            <a:avLst/>
          </a:prstGeom>
          <a:solidFill>
            <a:srgbClr val="E8682C"/>
          </a:solidFill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ja-JP" altLang="en-US" sz="460" b="0">
                <a:solidFill>
                  <a:schemeClr val="bg1"/>
                </a:solidFill>
                <a:latin typeface="Segoe UI" panose="020B0502040204020203" pitchFamily="34" charset="0"/>
                <a:ea typeface="Meiryo UI" panose="020B0604030504040204" pitchFamily="50" charset="-128"/>
              </a:rPr>
              <a:t>電子</a:t>
            </a:r>
          </a:p>
        </p:txBody>
      </p:sp>
      <p:sp>
        <p:nvSpPr>
          <p:cNvPr id="181" name="正方形/長方形 180">
            <a:extLst>
              <a:ext uri="{FF2B5EF4-FFF2-40B4-BE49-F238E27FC236}">
                <a16:creationId xmlns:a16="http://schemas.microsoft.com/office/drawing/2014/main" id="{EF1585CC-E67A-9882-6D3D-E349E37DBC25}"/>
              </a:ext>
            </a:extLst>
          </p:cNvPr>
          <p:cNvSpPr/>
          <p:nvPr userDrawn="1"/>
        </p:nvSpPr>
        <p:spPr>
          <a:xfrm>
            <a:off x="-1689204" y="4250340"/>
            <a:ext cx="468000" cy="180000"/>
          </a:xfrm>
          <a:prstGeom prst="rect">
            <a:avLst/>
          </a:prstGeom>
          <a:solidFill>
            <a:srgbClr val="00A58C"/>
          </a:solidFill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460" b="0" i="0" u="none" strike="noStrike" kern="1200" cap="none" spc="0" normalizeH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ea typeface="Meiryo UI" panose="020B0604030504040204" pitchFamily="50" charset="-128"/>
                <a:cs typeface="+mn-cs"/>
              </a:rPr>
              <a:t>化学品</a:t>
            </a:r>
          </a:p>
        </p:txBody>
      </p:sp>
      <p:sp>
        <p:nvSpPr>
          <p:cNvPr id="182" name="正方形/長方形 181">
            <a:extLst>
              <a:ext uri="{FF2B5EF4-FFF2-40B4-BE49-F238E27FC236}">
                <a16:creationId xmlns:a16="http://schemas.microsoft.com/office/drawing/2014/main" id="{CF33C333-F688-D282-9A86-2704E233661C}"/>
              </a:ext>
            </a:extLst>
          </p:cNvPr>
          <p:cNvSpPr/>
          <p:nvPr userDrawn="1"/>
        </p:nvSpPr>
        <p:spPr>
          <a:xfrm>
            <a:off x="-1689204" y="4051450"/>
            <a:ext cx="468000" cy="180000"/>
          </a:xfrm>
          <a:prstGeom prst="rect">
            <a:avLst/>
          </a:prstGeom>
          <a:solidFill>
            <a:srgbClr val="007DCD"/>
          </a:solidFill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460" b="0" i="0" u="none" strike="noStrike" kern="1200" cap="none" spc="0" normalizeH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ea typeface="Meiryo UI" panose="020B0604030504040204" pitchFamily="50" charset="-128"/>
                <a:cs typeface="+mn-cs"/>
              </a:rPr>
              <a:t>建築ガラス</a:t>
            </a:r>
          </a:p>
        </p:txBody>
      </p:sp>
      <p:sp>
        <p:nvSpPr>
          <p:cNvPr id="183" name="正方形/長方形 182">
            <a:extLst>
              <a:ext uri="{FF2B5EF4-FFF2-40B4-BE49-F238E27FC236}">
                <a16:creationId xmlns:a16="http://schemas.microsoft.com/office/drawing/2014/main" id="{0645B520-4D1A-00CD-E355-5B42596E1E07}"/>
              </a:ext>
            </a:extLst>
          </p:cNvPr>
          <p:cNvSpPr/>
          <p:nvPr userDrawn="1"/>
        </p:nvSpPr>
        <p:spPr>
          <a:xfrm>
            <a:off x="-717204" y="4250340"/>
            <a:ext cx="468000" cy="180000"/>
          </a:xfrm>
          <a:prstGeom prst="rect">
            <a:avLst/>
          </a:prstGeom>
          <a:solidFill>
            <a:srgbClr val="BAC1D0"/>
          </a:solidFill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ja-JP" altLang="en-US" sz="460" b="0">
                <a:solidFill>
                  <a:srgbClr val="001F6B"/>
                </a:solidFill>
                <a:latin typeface="Segoe UI" panose="020B0502040204020203" pitchFamily="34" charset="0"/>
                <a:ea typeface="Meiryo UI" panose="020B0604030504040204" pitchFamily="50" charset="-128"/>
              </a:rPr>
              <a:t>セラミックス・その他</a:t>
            </a:r>
          </a:p>
        </p:txBody>
      </p:sp>
      <p:grpSp>
        <p:nvGrpSpPr>
          <p:cNvPr id="184" name="グループ化 183">
            <a:extLst>
              <a:ext uri="{FF2B5EF4-FFF2-40B4-BE49-F238E27FC236}">
                <a16:creationId xmlns:a16="http://schemas.microsoft.com/office/drawing/2014/main" id="{4E1120A5-F392-F49C-7B72-AA2F646CE98C}"/>
              </a:ext>
            </a:extLst>
          </p:cNvPr>
          <p:cNvGrpSpPr/>
          <p:nvPr userDrawn="1"/>
        </p:nvGrpSpPr>
        <p:grpSpPr>
          <a:xfrm>
            <a:off x="-1689204" y="4610833"/>
            <a:ext cx="1440000" cy="226591"/>
            <a:chOff x="-1722675" y="933970"/>
            <a:chExt cx="1332000" cy="226591"/>
          </a:xfrm>
        </p:grpSpPr>
        <p:sp>
          <p:nvSpPr>
            <p:cNvPr id="185" name="テキスト ボックス 184">
              <a:extLst>
                <a:ext uri="{FF2B5EF4-FFF2-40B4-BE49-F238E27FC236}">
                  <a16:creationId xmlns:a16="http://schemas.microsoft.com/office/drawing/2014/main" id="{CC591DF5-DA13-DA64-B5CA-8CF1F7F93C3F}"/>
                </a:ext>
              </a:extLst>
            </p:cNvPr>
            <p:cNvSpPr txBox="1"/>
            <p:nvPr userDrawn="1"/>
          </p:nvSpPr>
          <p:spPr>
            <a:xfrm>
              <a:off x="-1722675" y="933970"/>
              <a:ext cx="474489" cy="226591"/>
            </a:xfrm>
            <a:prstGeom prst="rect">
              <a:avLst/>
            </a:prstGeom>
            <a:noFill/>
          </p:spPr>
          <p:txBody>
            <a:bodyPr wrap="none" lIns="0" tIns="36000" rIns="0" bIns="36000" anchor="ctr" anchorCtr="0">
              <a:spAutoFit/>
            </a:bodyPr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000" b="1" i="0" strike="noStrike" kern="1200" cap="none" spc="0" normalizeH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Segoe UI" panose="020B0502040204020203" pitchFamily="34" charset="0"/>
                  <a:ea typeface="Meiryo UI" panose="020B0604030504040204" pitchFamily="50" charset="-128"/>
                  <a:cs typeface="+mn-cs"/>
                </a:rPr>
                <a:t>戦略事業</a:t>
              </a:r>
            </a:p>
          </p:txBody>
        </p:sp>
        <p:cxnSp>
          <p:nvCxnSpPr>
            <p:cNvPr id="186" name="直線コネクタ 185">
              <a:extLst>
                <a:ext uri="{FF2B5EF4-FFF2-40B4-BE49-F238E27FC236}">
                  <a16:creationId xmlns:a16="http://schemas.microsoft.com/office/drawing/2014/main" id="{70934B96-0715-8F0A-191B-7E2DF0F3B99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722675" y="949358"/>
              <a:ext cx="1332000" cy="0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7" name="正方形/長方形 186">
            <a:extLst>
              <a:ext uri="{FF2B5EF4-FFF2-40B4-BE49-F238E27FC236}">
                <a16:creationId xmlns:a16="http://schemas.microsoft.com/office/drawing/2014/main" id="{9808D524-F400-B531-F988-8673B012C989}"/>
              </a:ext>
            </a:extLst>
          </p:cNvPr>
          <p:cNvSpPr/>
          <p:nvPr userDrawn="1"/>
        </p:nvSpPr>
        <p:spPr>
          <a:xfrm>
            <a:off x="-1324404" y="4855199"/>
            <a:ext cx="345600" cy="180000"/>
          </a:xfrm>
          <a:prstGeom prst="rect">
            <a:avLst/>
          </a:prstGeom>
          <a:solidFill>
            <a:srgbClr val="D9255D"/>
          </a:solidFill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ja-JP" altLang="en-US" sz="460" b="0">
                <a:solidFill>
                  <a:schemeClr val="bg1"/>
                </a:solidFill>
                <a:latin typeface="Segoe UI" panose="020B0502040204020203" pitchFamily="34" charset="0"/>
                <a:ea typeface="Meiryo UI" panose="020B0604030504040204" pitchFamily="50" charset="-128"/>
              </a:rPr>
              <a:t>エレクトロ</a:t>
            </a:r>
            <a:br>
              <a:rPr lang="en-US" altLang="ja-JP" sz="460" b="0">
                <a:solidFill>
                  <a:schemeClr val="bg1"/>
                </a:solidFill>
                <a:latin typeface="Segoe UI" panose="020B0502040204020203" pitchFamily="34" charset="0"/>
                <a:ea typeface="Meiryo UI" panose="020B0604030504040204" pitchFamily="50" charset="-128"/>
              </a:rPr>
            </a:br>
            <a:r>
              <a:rPr lang="ja-JP" altLang="en-US" sz="460" b="0">
                <a:solidFill>
                  <a:schemeClr val="bg1"/>
                </a:solidFill>
                <a:latin typeface="Segoe UI" panose="020B0502040204020203" pitchFamily="34" charset="0"/>
                <a:ea typeface="Meiryo UI" panose="020B0604030504040204" pitchFamily="50" charset="-128"/>
              </a:rPr>
              <a:t>ニクス</a:t>
            </a:r>
          </a:p>
        </p:txBody>
      </p:sp>
      <p:sp>
        <p:nvSpPr>
          <p:cNvPr id="188" name="正方形/長方形 187">
            <a:extLst>
              <a:ext uri="{FF2B5EF4-FFF2-40B4-BE49-F238E27FC236}">
                <a16:creationId xmlns:a16="http://schemas.microsoft.com/office/drawing/2014/main" id="{D4F9FD54-3FDC-7BA3-EA32-BB530AA4145D}"/>
              </a:ext>
            </a:extLst>
          </p:cNvPr>
          <p:cNvSpPr/>
          <p:nvPr userDrawn="1"/>
        </p:nvSpPr>
        <p:spPr>
          <a:xfrm>
            <a:off x="-959604" y="4855199"/>
            <a:ext cx="345600" cy="180000"/>
          </a:xfrm>
          <a:prstGeom prst="rect">
            <a:avLst/>
          </a:prstGeom>
          <a:solidFill>
            <a:srgbClr val="007660"/>
          </a:solidFill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ja-JP" altLang="en-US" sz="460" b="0">
                <a:solidFill>
                  <a:schemeClr val="bg1"/>
                </a:solidFill>
                <a:latin typeface="Segoe UI" panose="020B0502040204020203" pitchFamily="34" charset="0"/>
                <a:ea typeface="Meiryo UI" panose="020B0604030504040204" pitchFamily="50" charset="-128"/>
              </a:rPr>
              <a:t>ライフ</a:t>
            </a:r>
            <a:br>
              <a:rPr lang="en-US" altLang="ja-JP" sz="460" b="0">
                <a:solidFill>
                  <a:schemeClr val="bg1"/>
                </a:solidFill>
                <a:latin typeface="Segoe UI" panose="020B0502040204020203" pitchFamily="34" charset="0"/>
                <a:ea typeface="Meiryo UI" panose="020B0604030504040204" pitchFamily="50" charset="-128"/>
              </a:rPr>
            </a:br>
            <a:r>
              <a:rPr lang="ja-JP" altLang="en-US" sz="460" b="0">
                <a:solidFill>
                  <a:schemeClr val="bg1"/>
                </a:solidFill>
                <a:latin typeface="Segoe UI" panose="020B0502040204020203" pitchFamily="34" charset="0"/>
                <a:ea typeface="Meiryo UI" panose="020B0604030504040204" pitchFamily="50" charset="-128"/>
              </a:rPr>
              <a:t>サイエンス</a:t>
            </a:r>
          </a:p>
        </p:txBody>
      </p:sp>
      <p:sp>
        <p:nvSpPr>
          <p:cNvPr id="189" name="正方形/長方形 188">
            <a:extLst>
              <a:ext uri="{FF2B5EF4-FFF2-40B4-BE49-F238E27FC236}">
                <a16:creationId xmlns:a16="http://schemas.microsoft.com/office/drawing/2014/main" id="{9C965129-D78A-91DE-6002-2437E743AA3C}"/>
              </a:ext>
            </a:extLst>
          </p:cNvPr>
          <p:cNvSpPr/>
          <p:nvPr userDrawn="1"/>
        </p:nvSpPr>
        <p:spPr>
          <a:xfrm>
            <a:off x="-594804" y="4855199"/>
            <a:ext cx="345600" cy="180000"/>
          </a:xfrm>
          <a:prstGeom prst="rect">
            <a:avLst/>
          </a:prstGeom>
          <a:solidFill>
            <a:srgbClr val="108794"/>
          </a:solidFill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460" b="0" i="0" u="none" strike="noStrike" kern="1200" cap="none" spc="0" normalizeH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ea typeface="Meiryo UI" panose="020B0604030504040204" pitchFamily="50" charset="-128"/>
                <a:cs typeface="+mn-cs"/>
              </a:rPr>
              <a:t>パフォーマンス</a:t>
            </a:r>
            <a:br>
              <a:rPr kumimoji="1" lang="ja-JP" altLang="en-US" sz="460" b="0" i="0" u="none" strike="noStrike" kern="1200" cap="none" spc="0" normalizeH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ea typeface="Meiryo UI" panose="020B0604030504040204" pitchFamily="50" charset="-128"/>
                <a:cs typeface="+mn-cs"/>
              </a:rPr>
            </a:br>
            <a:r>
              <a:rPr kumimoji="1" lang="ja-JP" altLang="en-US" sz="460" b="0" i="0" u="none" strike="noStrike" kern="1200" cap="none" spc="0" normalizeH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ea typeface="Meiryo UI" panose="020B0604030504040204" pitchFamily="50" charset="-128"/>
                <a:cs typeface="+mn-cs"/>
              </a:rPr>
              <a:t>ケミカルズ</a:t>
            </a:r>
          </a:p>
        </p:txBody>
      </p:sp>
      <p:sp>
        <p:nvSpPr>
          <p:cNvPr id="190" name="正方形/長方形 189">
            <a:extLst>
              <a:ext uri="{FF2B5EF4-FFF2-40B4-BE49-F238E27FC236}">
                <a16:creationId xmlns:a16="http://schemas.microsoft.com/office/drawing/2014/main" id="{E9F18A05-76B7-8A5C-8677-F68BCD4343ED}"/>
              </a:ext>
            </a:extLst>
          </p:cNvPr>
          <p:cNvSpPr/>
          <p:nvPr userDrawn="1"/>
        </p:nvSpPr>
        <p:spPr>
          <a:xfrm>
            <a:off x="-1689204" y="4855199"/>
            <a:ext cx="345600" cy="180000"/>
          </a:xfrm>
          <a:prstGeom prst="rect">
            <a:avLst/>
          </a:prstGeom>
          <a:solidFill>
            <a:srgbClr val="5A3EA0"/>
          </a:solidFill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460" b="0" i="0" u="none" strike="noStrike" kern="1200" cap="none" spc="0" normalizeH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ea typeface="Meiryo UI" panose="020B0604030504040204" pitchFamily="50" charset="-128"/>
                <a:cs typeface="+mn-cs"/>
              </a:rPr>
              <a:t>モビリティ</a:t>
            </a:r>
          </a:p>
        </p:txBody>
      </p:sp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71DE16C0-2649-4905-609B-C7F886440BE9}"/>
              </a:ext>
            </a:extLst>
          </p:cNvPr>
          <p:cNvSpPr/>
          <p:nvPr userDrawn="1"/>
        </p:nvSpPr>
        <p:spPr>
          <a:xfrm>
            <a:off x="-1389687" y="1857816"/>
            <a:ext cx="198000" cy="19800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1" lang="ja-JP" altLang="en-US"/>
          </a:p>
        </p:txBody>
      </p:sp>
      <p:sp>
        <p:nvSpPr>
          <p:cNvPr id="82" name="正方形/長方形 81">
            <a:extLst>
              <a:ext uri="{FF2B5EF4-FFF2-40B4-BE49-F238E27FC236}">
                <a16:creationId xmlns:a16="http://schemas.microsoft.com/office/drawing/2014/main" id="{0A643F9E-877F-F9D2-6791-65592E40E023}"/>
              </a:ext>
            </a:extLst>
          </p:cNvPr>
          <p:cNvSpPr/>
          <p:nvPr userDrawn="1"/>
        </p:nvSpPr>
        <p:spPr>
          <a:xfrm>
            <a:off x="-1612998" y="1857816"/>
            <a:ext cx="198000" cy="198000"/>
          </a:xfrm>
          <a:prstGeom prst="rect">
            <a:avLst/>
          </a:prstGeom>
          <a:solidFill>
            <a:srgbClr val="646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1" lang="ja-JP" altLang="en-US"/>
          </a:p>
        </p:txBody>
      </p:sp>
      <p:sp>
        <p:nvSpPr>
          <p:cNvPr id="83" name="正方形/長方形 82">
            <a:extLst>
              <a:ext uri="{FF2B5EF4-FFF2-40B4-BE49-F238E27FC236}">
                <a16:creationId xmlns:a16="http://schemas.microsoft.com/office/drawing/2014/main" id="{00E79F4C-C767-B0D6-4EBD-B28490CC4CBD}"/>
              </a:ext>
            </a:extLst>
          </p:cNvPr>
          <p:cNvSpPr/>
          <p:nvPr userDrawn="1"/>
        </p:nvSpPr>
        <p:spPr>
          <a:xfrm>
            <a:off x="-1166376" y="1857816"/>
            <a:ext cx="198000" cy="198000"/>
          </a:xfrm>
          <a:prstGeom prst="rect">
            <a:avLst/>
          </a:prstGeom>
          <a:solidFill>
            <a:srgbClr val="B4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1" lang="ja-JP" altLang="en-US"/>
          </a:p>
        </p:txBody>
      </p: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41AD7B98-0BA6-9EAE-AFE3-85A95789F853}"/>
              </a:ext>
            </a:extLst>
          </p:cNvPr>
          <p:cNvSpPr/>
          <p:nvPr userDrawn="1"/>
        </p:nvSpPr>
        <p:spPr>
          <a:xfrm>
            <a:off x="-943065" y="1857816"/>
            <a:ext cx="198000" cy="198000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1" lang="ja-JP" altLang="en-US"/>
          </a:p>
        </p:txBody>
      </p: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6EAB9028-12CE-0954-2102-9E380E0B8735}"/>
              </a:ext>
            </a:extLst>
          </p:cNvPr>
          <p:cNvSpPr/>
          <p:nvPr userDrawn="1"/>
        </p:nvSpPr>
        <p:spPr>
          <a:xfrm>
            <a:off x="-719754" y="1857816"/>
            <a:ext cx="198000" cy="198000"/>
          </a:xfrm>
          <a:prstGeom prst="rect">
            <a:avLst/>
          </a:prstGeom>
          <a:solidFill>
            <a:srgbClr val="F5F2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1" lang="ja-JP" altLang="en-US"/>
          </a:p>
        </p:txBody>
      </p:sp>
      <p:sp>
        <p:nvSpPr>
          <p:cNvPr id="86" name="正方形/長方形 85">
            <a:extLst>
              <a:ext uri="{FF2B5EF4-FFF2-40B4-BE49-F238E27FC236}">
                <a16:creationId xmlns:a16="http://schemas.microsoft.com/office/drawing/2014/main" id="{799D4B99-6421-A88B-A7CF-15C4E531C559}"/>
              </a:ext>
            </a:extLst>
          </p:cNvPr>
          <p:cNvSpPr/>
          <p:nvPr userDrawn="1"/>
        </p:nvSpPr>
        <p:spPr>
          <a:xfrm>
            <a:off x="-1389687" y="2085199"/>
            <a:ext cx="198000" cy="198000"/>
          </a:xfrm>
          <a:prstGeom prst="rect">
            <a:avLst/>
          </a:prstGeom>
          <a:solidFill>
            <a:srgbClr val="1E8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1" lang="ja-JP" altLang="en-US"/>
          </a:p>
        </p:txBody>
      </p:sp>
      <p:sp>
        <p:nvSpPr>
          <p:cNvPr id="87" name="正方形/長方形 86">
            <a:extLst>
              <a:ext uri="{FF2B5EF4-FFF2-40B4-BE49-F238E27FC236}">
                <a16:creationId xmlns:a16="http://schemas.microsoft.com/office/drawing/2014/main" id="{EE75020D-7F11-E7FD-73EE-0885FA0C50CA}"/>
              </a:ext>
            </a:extLst>
          </p:cNvPr>
          <p:cNvSpPr/>
          <p:nvPr userDrawn="1"/>
        </p:nvSpPr>
        <p:spPr>
          <a:xfrm>
            <a:off x="-1612998" y="2085199"/>
            <a:ext cx="198000" cy="198000"/>
          </a:xfrm>
          <a:prstGeom prst="rect">
            <a:avLst/>
          </a:prstGeom>
          <a:solidFill>
            <a:srgbClr val="005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1" lang="ja-JP" altLang="en-US"/>
          </a:p>
        </p:txBody>
      </p:sp>
      <p:sp>
        <p:nvSpPr>
          <p:cNvPr id="88" name="正方形/長方形 87">
            <a:extLst>
              <a:ext uri="{FF2B5EF4-FFF2-40B4-BE49-F238E27FC236}">
                <a16:creationId xmlns:a16="http://schemas.microsoft.com/office/drawing/2014/main" id="{6F2FE109-2C8D-1F9E-FF6D-DF0B7C7C4B85}"/>
              </a:ext>
            </a:extLst>
          </p:cNvPr>
          <p:cNvSpPr/>
          <p:nvPr userDrawn="1"/>
        </p:nvSpPr>
        <p:spPr>
          <a:xfrm>
            <a:off x="-1166376" y="2085199"/>
            <a:ext cx="198000" cy="198000"/>
          </a:xfrm>
          <a:prstGeom prst="rect">
            <a:avLst/>
          </a:prstGeom>
          <a:solidFill>
            <a:srgbClr val="51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1" lang="ja-JP" altLang="en-US"/>
          </a:p>
        </p:txBody>
      </p:sp>
      <p:sp>
        <p:nvSpPr>
          <p:cNvPr id="89" name="正方形/長方形 88">
            <a:extLst>
              <a:ext uri="{FF2B5EF4-FFF2-40B4-BE49-F238E27FC236}">
                <a16:creationId xmlns:a16="http://schemas.microsoft.com/office/drawing/2014/main" id="{832A7623-3D81-5DDB-F0AD-CFDB62553444}"/>
              </a:ext>
            </a:extLst>
          </p:cNvPr>
          <p:cNvSpPr/>
          <p:nvPr userDrawn="1"/>
        </p:nvSpPr>
        <p:spPr>
          <a:xfrm>
            <a:off x="-943065" y="2085199"/>
            <a:ext cx="198000" cy="198000"/>
          </a:xfrm>
          <a:prstGeom prst="rect">
            <a:avLst/>
          </a:prstGeom>
          <a:solidFill>
            <a:srgbClr val="96C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1" lang="ja-JP" altLang="en-US"/>
          </a:p>
        </p:txBody>
      </p:sp>
      <p:sp>
        <p:nvSpPr>
          <p:cNvPr id="90" name="正方形/長方形 89">
            <a:extLst>
              <a:ext uri="{FF2B5EF4-FFF2-40B4-BE49-F238E27FC236}">
                <a16:creationId xmlns:a16="http://schemas.microsoft.com/office/drawing/2014/main" id="{E884D20F-AEF7-D864-76FF-B29B7C6FC444}"/>
              </a:ext>
            </a:extLst>
          </p:cNvPr>
          <p:cNvSpPr/>
          <p:nvPr userDrawn="1"/>
        </p:nvSpPr>
        <p:spPr>
          <a:xfrm>
            <a:off x="-719754" y="2085199"/>
            <a:ext cx="198000" cy="198000"/>
          </a:xfrm>
          <a:prstGeom prst="rect">
            <a:avLst/>
          </a:prstGeom>
          <a:solidFill>
            <a:srgbClr val="C8E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1" lang="ja-JP" altLang="en-US"/>
          </a:p>
        </p:txBody>
      </p:sp>
      <p:sp>
        <p:nvSpPr>
          <p:cNvPr id="91" name="正方形/長方形 90">
            <a:extLst>
              <a:ext uri="{FF2B5EF4-FFF2-40B4-BE49-F238E27FC236}">
                <a16:creationId xmlns:a16="http://schemas.microsoft.com/office/drawing/2014/main" id="{6DD7596C-0911-E295-4C3B-52A843D152C0}"/>
              </a:ext>
            </a:extLst>
          </p:cNvPr>
          <p:cNvSpPr/>
          <p:nvPr userDrawn="1"/>
        </p:nvSpPr>
        <p:spPr>
          <a:xfrm>
            <a:off x="-1389687" y="2521548"/>
            <a:ext cx="198000" cy="162000"/>
          </a:xfrm>
          <a:prstGeom prst="rect">
            <a:avLst/>
          </a:prstGeom>
          <a:solidFill>
            <a:srgbClr val="5569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1" lang="ja-JP" altLang="en-US"/>
          </a:p>
        </p:txBody>
      </p:sp>
      <p:sp>
        <p:nvSpPr>
          <p:cNvPr id="92" name="正方形/長方形 91">
            <a:extLst>
              <a:ext uri="{FF2B5EF4-FFF2-40B4-BE49-F238E27FC236}">
                <a16:creationId xmlns:a16="http://schemas.microsoft.com/office/drawing/2014/main" id="{407E5933-4030-DE89-332E-20A5668B2D66}"/>
              </a:ext>
            </a:extLst>
          </p:cNvPr>
          <p:cNvSpPr/>
          <p:nvPr userDrawn="1"/>
        </p:nvSpPr>
        <p:spPr>
          <a:xfrm>
            <a:off x="-1612998" y="2521548"/>
            <a:ext cx="198000" cy="162000"/>
          </a:xfrm>
          <a:prstGeom prst="rect">
            <a:avLst/>
          </a:prstGeom>
          <a:solidFill>
            <a:srgbClr val="324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1" lang="ja-JP" altLang="en-US"/>
          </a:p>
        </p:txBody>
      </p:sp>
      <p:sp>
        <p:nvSpPr>
          <p:cNvPr id="93" name="正方形/長方形 92">
            <a:extLst>
              <a:ext uri="{FF2B5EF4-FFF2-40B4-BE49-F238E27FC236}">
                <a16:creationId xmlns:a16="http://schemas.microsoft.com/office/drawing/2014/main" id="{A66749F6-4CB4-A750-13B3-3E22CC8F94A4}"/>
              </a:ext>
            </a:extLst>
          </p:cNvPr>
          <p:cNvSpPr/>
          <p:nvPr userDrawn="1"/>
        </p:nvSpPr>
        <p:spPr>
          <a:xfrm>
            <a:off x="-1166376" y="2521548"/>
            <a:ext cx="198000" cy="162000"/>
          </a:xfrm>
          <a:prstGeom prst="rect">
            <a:avLst/>
          </a:prstGeom>
          <a:solidFill>
            <a:srgbClr val="85A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1" lang="ja-JP" altLang="en-US"/>
          </a:p>
        </p:txBody>
      </p:sp>
      <p:sp>
        <p:nvSpPr>
          <p:cNvPr id="95" name="正方形/長方形 94">
            <a:extLst>
              <a:ext uri="{FF2B5EF4-FFF2-40B4-BE49-F238E27FC236}">
                <a16:creationId xmlns:a16="http://schemas.microsoft.com/office/drawing/2014/main" id="{E05AF0C9-780E-B9F0-C13C-E7AC19558AED}"/>
              </a:ext>
            </a:extLst>
          </p:cNvPr>
          <p:cNvSpPr/>
          <p:nvPr userDrawn="1"/>
        </p:nvSpPr>
        <p:spPr>
          <a:xfrm>
            <a:off x="-943065" y="2521548"/>
            <a:ext cx="198000" cy="162000"/>
          </a:xfrm>
          <a:prstGeom prst="rect">
            <a:avLst/>
          </a:prstGeom>
          <a:solidFill>
            <a:srgbClr val="D2D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1" lang="ja-JP" altLang="en-US"/>
          </a:p>
        </p:txBody>
      </p:sp>
      <p:sp>
        <p:nvSpPr>
          <p:cNvPr id="159" name="正方形/長方形 158">
            <a:extLst>
              <a:ext uri="{FF2B5EF4-FFF2-40B4-BE49-F238E27FC236}">
                <a16:creationId xmlns:a16="http://schemas.microsoft.com/office/drawing/2014/main" id="{187FEB02-D337-2454-B445-0F62484E7C76}"/>
              </a:ext>
            </a:extLst>
          </p:cNvPr>
          <p:cNvSpPr/>
          <p:nvPr userDrawn="1"/>
        </p:nvSpPr>
        <p:spPr>
          <a:xfrm>
            <a:off x="-1389687" y="3262504"/>
            <a:ext cx="198000" cy="162000"/>
          </a:xfrm>
          <a:prstGeom prst="rect">
            <a:avLst/>
          </a:prstGeom>
          <a:solidFill>
            <a:srgbClr val="8858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1" lang="ja-JP" altLang="en-US"/>
          </a:p>
        </p:txBody>
      </p:sp>
      <p:sp>
        <p:nvSpPr>
          <p:cNvPr id="160" name="正方形/長方形 159">
            <a:extLst>
              <a:ext uri="{FF2B5EF4-FFF2-40B4-BE49-F238E27FC236}">
                <a16:creationId xmlns:a16="http://schemas.microsoft.com/office/drawing/2014/main" id="{C1D6AC34-C751-1487-4F6F-5D144C6917B4}"/>
              </a:ext>
            </a:extLst>
          </p:cNvPr>
          <p:cNvSpPr/>
          <p:nvPr userDrawn="1"/>
        </p:nvSpPr>
        <p:spPr>
          <a:xfrm>
            <a:off x="-1612998" y="3262504"/>
            <a:ext cx="198000" cy="162000"/>
          </a:xfrm>
          <a:prstGeom prst="rect">
            <a:avLst/>
          </a:prstGeom>
          <a:solidFill>
            <a:srgbClr val="663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1" lang="ja-JP" altLang="en-US"/>
          </a:p>
        </p:txBody>
      </p:sp>
      <p:sp>
        <p:nvSpPr>
          <p:cNvPr id="161" name="正方形/長方形 160">
            <a:extLst>
              <a:ext uri="{FF2B5EF4-FFF2-40B4-BE49-F238E27FC236}">
                <a16:creationId xmlns:a16="http://schemas.microsoft.com/office/drawing/2014/main" id="{61F114CC-B4F2-0E53-1BA8-C723DA499303}"/>
              </a:ext>
            </a:extLst>
          </p:cNvPr>
          <p:cNvSpPr/>
          <p:nvPr userDrawn="1"/>
        </p:nvSpPr>
        <p:spPr>
          <a:xfrm>
            <a:off x="-1166376" y="3262504"/>
            <a:ext cx="198000" cy="162000"/>
          </a:xfrm>
          <a:prstGeom prst="rect">
            <a:avLst/>
          </a:prstGeom>
          <a:solidFill>
            <a:srgbClr val="BCA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1" lang="ja-JP" altLang="en-US"/>
          </a:p>
        </p:txBody>
      </p:sp>
      <p:sp>
        <p:nvSpPr>
          <p:cNvPr id="162" name="正方形/長方形 161">
            <a:extLst>
              <a:ext uri="{FF2B5EF4-FFF2-40B4-BE49-F238E27FC236}">
                <a16:creationId xmlns:a16="http://schemas.microsoft.com/office/drawing/2014/main" id="{DA391151-F4E2-F31D-F58B-E054710E8B8E}"/>
              </a:ext>
            </a:extLst>
          </p:cNvPr>
          <p:cNvSpPr/>
          <p:nvPr userDrawn="1"/>
        </p:nvSpPr>
        <p:spPr>
          <a:xfrm>
            <a:off x="-943065" y="3262504"/>
            <a:ext cx="198000" cy="162000"/>
          </a:xfrm>
          <a:prstGeom prst="rect">
            <a:avLst/>
          </a:prstGeom>
          <a:solidFill>
            <a:srgbClr val="DFD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1" lang="ja-JP" altLang="en-US"/>
          </a:p>
        </p:txBody>
      </p:sp>
      <p:sp>
        <p:nvSpPr>
          <p:cNvPr id="163" name="正方形/長方形 162">
            <a:extLst>
              <a:ext uri="{FF2B5EF4-FFF2-40B4-BE49-F238E27FC236}">
                <a16:creationId xmlns:a16="http://schemas.microsoft.com/office/drawing/2014/main" id="{5E4854BC-343F-0C3C-C27C-778EAD4FEAF4}"/>
              </a:ext>
            </a:extLst>
          </p:cNvPr>
          <p:cNvSpPr/>
          <p:nvPr userDrawn="1"/>
        </p:nvSpPr>
        <p:spPr>
          <a:xfrm>
            <a:off x="-1389687" y="2706787"/>
            <a:ext cx="198000" cy="162000"/>
          </a:xfrm>
          <a:prstGeom prst="rect">
            <a:avLst/>
          </a:prstGeom>
          <a:solidFill>
            <a:srgbClr val="227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1" lang="ja-JP" altLang="en-US"/>
          </a:p>
        </p:txBody>
      </p:sp>
      <p:sp>
        <p:nvSpPr>
          <p:cNvPr id="164" name="正方形/長方形 163">
            <a:extLst>
              <a:ext uri="{FF2B5EF4-FFF2-40B4-BE49-F238E27FC236}">
                <a16:creationId xmlns:a16="http://schemas.microsoft.com/office/drawing/2014/main" id="{88435330-8549-6441-6354-CF674780E6DB}"/>
              </a:ext>
            </a:extLst>
          </p:cNvPr>
          <p:cNvSpPr/>
          <p:nvPr userDrawn="1"/>
        </p:nvSpPr>
        <p:spPr>
          <a:xfrm>
            <a:off x="-1612998" y="2706787"/>
            <a:ext cx="198000" cy="162000"/>
          </a:xfrm>
          <a:prstGeom prst="rect">
            <a:avLst/>
          </a:prstGeom>
          <a:solidFill>
            <a:srgbClr val="135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1" lang="ja-JP" altLang="en-US"/>
          </a:p>
        </p:txBody>
      </p:sp>
      <p:sp>
        <p:nvSpPr>
          <p:cNvPr id="165" name="正方形/長方形 164">
            <a:extLst>
              <a:ext uri="{FF2B5EF4-FFF2-40B4-BE49-F238E27FC236}">
                <a16:creationId xmlns:a16="http://schemas.microsoft.com/office/drawing/2014/main" id="{6EEA056B-CCF1-A142-07EA-13727BC1E2D3}"/>
              </a:ext>
            </a:extLst>
          </p:cNvPr>
          <p:cNvSpPr/>
          <p:nvPr userDrawn="1"/>
        </p:nvSpPr>
        <p:spPr>
          <a:xfrm>
            <a:off x="-1166376" y="2706787"/>
            <a:ext cx="198000" cy="162000"/>
          </a:xfrm>
          <a:prstGeom prst="rect">
            <a:avLst/>
          </a:prstGeom>
          <a:solidFill>
            <a:srgbClr val="54A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1" lang="ja-JP" altLang="en-US"/>
          </a:p>
        </p:txBody>
      </p:sp>
      <p:sp>
        <p:nvSpPr>
          <p:cNvPr id="166" name="正方形/長方形 165">
            <a:extLst>
              <a:ext uri="{FF2B5EF4-FFF2-40B4-BE49-F238E27FC236}">
                <a16:creationId xmlns:a16="http://schemas.microsoft.com/office/drawing/2014/main" id="{8F6FAAFA-F024-D227-8810-BD22453ECDE3}"/>
              </a:ext>
            </a:extLst>
          </p:cNvPr>
          <p:cNvSpPr/>
          <p:nvPr userDrawn="1"/>
        </p:nvSpPr>
        <p:spPr>
          <a:xfrm>
            <a:off x="-943065" y="2706787"/>
            <a:ext cx="198000" cy="162000"/>
          </a:xfrm>
          <a:prstGeom prst="rect">
            <a:avLst/>
          </a:prstGeom>
          <a:solidFill>
            <a:srgbClr val="BBD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1" lang="ja-JP" altLang="en-US"/>
          </a:p>
        </p:txBody>
      </p:sp>
      <p:sp>
        <p:nvSpPr>
          <p:cNvPr id="167" name="正方形/長方形 166">
            <a:extLst>
              <a:ext uri="{FF2B5EF4-FFF2-40B4-BE49-F238E27FC236}">
                <a16:creationId xmlns:a16="http://schemas.microsoft.com/office/drawing/2014/main" id="{DAE07DD3-C62B-5240-59DF-DA8481BE8856}"/>
              </a:ext>
            </a:extLst>
          </p:cNvPr>
          <p:cNvSpPr/>
          <p:nvPr userDrawn="1"/>
        </p:nvSpPr>
        <p:spPr>
          <a:xfrm>
            <a:off x="-1389687" y="3447745"/>
            <a:ext cx="198000" cy="162000"/>
          </a:xfrm>
          <a:prstGeom prst="rect">
            <a:avLst/>
          </a:prstGeom>
          <a:solidFill>
            <a:srgbClr val="EB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1" lang="ja-JP" altLang="en-US"/>
          </a:p>
        </p:txBody>
      </p:sp>
      <p:sp>
        <p:nvSpPr>
          <p:cNvPr id="168" name="正方形/長方形 167">
            <a:extLst>
              <a:ext uri="{FF2B5EF4-FFF2-40B4-BE49-F238E27FC236}">
                <a16:creationId xmlns:a16="http://schemas.microsoft.com/office/drawing/2014/main" id="{740E44E4-F01B-8AED-BD80-108664702172}"/>
              </a:ext>
            </a:extLst>
          </p:cNvPr>
          <p:cNvSpPr/>
          <p:nvPr userDrawn="1"/>
        </p:nvSpPr>
        <p:spPr>
          <a:xfrm>
            <a:off x="-1612998" y="3447745"/>
            <a:ext cx="198000" cy="162000"/>
          </a:xfrm>
          <a:prstGeom prst="rect">
            <a:avLst/>
          </a:prstGeom>
          <a:solidFill>
            <a:srgbClr val="C8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1" lang="ja-JP" altLang="en-US"/>
          </a:p>
        </p:txBody>
      </p:sp>
      <p:sp>
        <p:nvSpPr>
          <p:cNvPr id="169" name="正方形/長方形 168">
            <a:extLst>
              <a:ext uri="{FF2B5EF4-FFF2-40B4-BE49-F238E27FC236}">
                <a16:creationId xmlns:a16="http://schemas.microsoft.com/office/drawing/2014/main" id="{F7AD830B-2236-C550-7699-10D9888A61AF}"/>
              </a:ext>
            </a:extLst>
          </p:cNvPr>
          <p:cNvSpPr/>
          <p:nvPr userDrawn="1"/>
        </p:nvSpPr>
        <p:spPr>
          <a:xfrm>
            <a:off x="-1166376" y="3447745"/>
            <a:ext cx="198000" cy="162000"/>
          </a:xfrm>
          <a:prstGeom prst="rect">
            <a:avLst/>
          </a:prstGeom>
          <a:solidFill>
            <a:srgbClr val="F5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1" lang="ja-JP" altLang="en-US"/>
          </a:p>
        </p:txBody>
      </p:sp>
      <p:sp>
        <p:nvSpPr>
          <p:cNvPr id="170" name="正方形/長方形 169">
            <a:extLst>
              <a:ext uri="{FF2B5EF4-FFF2-40B4-BE49-F238E27FC236}">
                <a16:creationId xmlns:a16="http://schemas.microsoft.com/office/drawing/2014/main" id="{875F3694-8AEC-0B4A-69FD-9D7B7550B461}"/>
              </a:ext>
            </a:extLst>
          </p:cNvPr>
          <p:cNvSpPr/>
          <p:nvPr userDrawn="1"/>
        </p:nvSpPr>
        <p:spPr>
          <a:xfrm>
            <a:off x="-943065" y="3447745"/>
            <a:ext cx="198000" cy="162000"/>
          </a:xfrm>
          <a:prstGeom prst="rect">
            <a:avLst/>
          </a:prstGeom>
          <a:solidFill>
            <a:srgbClr val="FAD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1" lang="ja-JP" altLang="en-US"/>
          </a:p>
        </p:txBody>
      </p:sp>
      <p:sp>
        <p:nvSpPr>
          <p:cNvPr id="171" name="正方形/長方形 170">
            <a:extLst>
              <a:ext uri="{FF2B5EF4-FFF2-40B4-BE49-F238E27FC236}">
                <a16:creationId xmlns:a16="http://schemas.microsoft.com/office/drawing/2014/main" id="{E1DC57FC-AE65-8757-3D0A-70D61683F420}"/>
              </a:ext>
            </a:extLst>
          </p:cNvPr>
          <p:cNvSpPr/>
          <p:nvPr userDrawn="1"/>
        </p:nvSpPr>
        <p:spPr>
          <a:xfrm>
            <a:off x="-1389687" y="3077265"/>
            <a:ext cx="198000" cy="162000"/>
          </a:xfrm>
          <a:prstGeom prst="rect">
            <a:avLst/>
          </a:prstGeom>
          <a:solidFill>
            <a:srgbClr val="E63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1" lang="ja-JP" altLang="en-US"/>
          </a:p>
        </p:txBody>
      </p:sp>
      <p:sp>
        <p:nvSpPr>
          <p:cNvPr id="172" name="正方形/長方形 171">
            <a:extLst>
              <a:ext uri="{FF2B5EF4-FFF2-40B4-BE49-F238E27FC236}">
                <a16:creationId xmlns:a16="http://schemas.microsoft.com/office/drawing/2014/main" id="{50FB385B-741B-25E8-6920-4CDBFBD312F7}"/>
              </a:ext>
            </a:extLst>
          </p:cNvPr>
          <p:cNvSpPr/>
          <p:nvPr userDrawn="1"/>
        </p:nvSpPr>
        <p:spPr>
          <a:xfrm>
            <a:off x="-1612998" y="3077265"/>
            <a:ext cx="198000" cy="162000"/>
          </a:xfrm>
          <a:prstGeom prst="rect">
            <a:avLst/>
          </a:prstGeom>
          <a:solidFill>
            <a:srgbClr val="C80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1" lang="ja-JP" altLang="en-US"/>
          </a:p>
        </p:txBody>
      </p:sp>
      <p:sp>
        <p:nvSpPr>
          <p:cNvPr id="173" name="正方形/長方形 172">
            <a:extLst>
              <a:ext uri="{FF2B5EF4-FFF2-40B4-BE49-F238E27FC236}">
                <a16:creationId xmlns:a16="http://schemas.microsoft.com/office/drawing/2014/main" id="{0D00305C-35F5-C823-7822-30018A7D1D9D}"/>
              </a:ext>
            </a:extLst>
          </p:cNvPr>
          <p:cNvSpPr/>
          <p:nvPr userDrawn="1"/>
        </p:nvSpPr>
        <p:spPr>
          <a:xfrm>
            <a:off x="-1166376" y="3077265"/>
            <a:ext cx="198000" cy="162000"/>
          </a:xfrm>
          <a:prstGeom prst="rect">
            <a:avLst/>
          </a:prstGeom>
          <a:solidFill>
            <a:srgbClr val="F09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1" lang="ja-JP" altLang="en-US"/>
          </a:p>
        </p:txBody>
      </p:sp>
      <p:sp>
        <p:nvSpPr>
          <p:cNvPr id="174" name="正方形/長方形 173">
            <a:extLst>
              <a:ext uri="{FF2B5EF4-FFF2-40B4-BE49-F238E27FC236}">
                <a16:creationId xmlns:a16="http://schemas.microsoft.com/office/drawing/2014/main" id="{D94F09F3-87AC-CC41-D5B0-8BA99F17B516}"/>
              </a:ext>
            </a:extLst>
          </p:cNvPr>
          <p:cNvSpPr/>
          <p:nvPr userDrawn="1"/>
        </p:nvSpPr>
        <p:spPr>
          <a:xfrm>
            <a:off x="-943065" y="3077265"/>
            <a:ext cx="198000" cy="162000"/>
          </a:xfrm>
          <a:prstGeom prst="rect">
            <a:avLst/>
          </a:prstGeom>
          <a:solidFill>
            <a:srgbClr val="F8C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B58001A-DDD9-5D6F-129A-D8870FD37017}"/>
              </a:ext>
            </a:extLst>
          </p:cNvPr>
          <p:cNvSpPr/>
          <p:nvPr userDrawn="1"/>
        </p:nvSpPr>
        <p:spPr>
          <a:xfrm>
            <a:off x="-1689204" y="4441314"/>
            <a:ext cx="1440000" cy="108000"/>
          </a:xfrm>
          <a:prstGeom prst="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r"/>
            <a:r>
              <a:rPr lang="en-US" altLang="ja-JP" sz="460" b="0">
                <a:solidFill>
                  <a:srgbClr val="404040"/>
                </a:solidFill>
                <a:latin typeface="Segoe UI" panose="020B0502040204020203" pitchFamily="34" charset="0"/>
                <a:ea typeface="Meiryo UI" panose="020B0604030504040204" pitchFamily="50" charset="-128"/>
              </a:rPr>
              <a:t>※</a:t>
            </a:r>
            <a:r>
              <a:rPr lang="ja-JP" altLang="en-US" sz="460" b="0">
                <a:solidFill>
                  <a:srgbClr val="404040"/>
                </a:solidFill>
                <a:latin typeface="Segoe UI" panose="020B0502040204020203" pitchFamily="34" charset="0"/>
                <a:ea typeface="Meiryo UI" panose="020B0604030504040204" pitchFamily="50" charset="-128"/>
              </a:rPr>
              <a:t>セラミックス・その他の文字色はプライマリーカラーの紺色</a:t>
            </a:r>
          </a:p>
        </p:txBody>
      </p:sp>
      <p:grpSp>
        <p:nvGrpSpPr>
          <p:cNvPr id="64" name="グループ化 63">
            <a:extLst>
              <a:ext uri="{FF2B5EF4-FFF2-40B4-BE49-F238E27FC236}">
                <a16:creationId xmlns:a16="http://schemas.microsoft.com/office/drawing/2014/main" id="{4CCA42B7-8B35-E8DB-2D35-F715BD7D82E2}"/>
              </a:ext>
            </a:extLst>
          </p:cNvPr>
          <p:cNvGrpSpPr/>
          <p:nvPr userDrawn="1"/>
        </p:nvGrpSpPr>
        <p:grpSpPr>
          <a:xfrm>
            <a:off x="-1689204" y="465239"/>
            <a:ext cx="1152000" cy="252000"/>
            <a:chOff x="-1689204" y="2189483"/>
            <a:chExt cx="1152000" cy="252000"/>
          </a:xfrm>
        </p:grpSpPr>
        <p:sp>
          <p:nvSpPr>
            <p:cNvPr id="191" name="正方形/長方形 190">
              <a:extLst>
                <a:ext uri="{FF2B5EF4-FFF2-40B4-BE49-F238E27FC236}">
                  <a16:creationId xmlns:a16="http://schemas.microsoft.com/office/drawing/2014/main" id="{4C02416C-2369-41C3-7212-05CC12BB5678}"/>
                </a:ext>
              </a:extLst>
            </p:cNvPr>
            <p:cNvSpPr/>
            <p:nvPr userDrawn="1"/>
          </p:nvSpPr>
          <p:spPr>
            <a:xfrm>
              <a:off x="-1665394" y="2207483"/>
              <a:ext cx="201600" cy="216000"/>
            </a:xfrm>
            <a:prstGeom prst="rect">
              <a:avLst/>
            </a:prstGeom>
            <a:solidFill>
              <a:srgbClr val="4040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1" lang="ja-JP" altLang="en-US" sz="800">
                <a:solidFill>
                  <a:schemeClr val="bg1"/>
                </a:solidFill>
              </a:endParaRPr>
            </a:p>
          </p:txBody>
        </p:sp>
        <p:sp>
          <p:nvSpPr>
            <p:cNvPr id="192" name="正方形/長方形 191">
              <a:extLst>
                <a:ext uri="{FF2B5EF4-FFF2-40B4-BE49-F238E27FC236}">
                  <a16:creationId xmlns:a16="http://schemas.microsoft.com/office/drawing/2014/main" id="{4459F11D-4EA7-F1A9-D85B-7CA9A042198F}"/>
                </a:ext>
              </a:extLst>
            </p:cNvPr>
            <p:cNvSpPr/>
            <p:nvPr userDrawn="1"/>
          </p:nvSpPr>
          <p:spPr>
            <a:xfrm>
              <a:off x="-1459062" y="2207483"/>
              <a:ext cx="459636" cy="216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bIns="0" rtlCol="0" anchor="ctr"/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1" lang="ja-JP" altLang="en-US" sz="600">
                  <a:solidFill>
                    <a:srgbClr val="404040"/>
                  </a:solidFill>
                </a:rPr>
                <a:t>←白地・薄い地色の場合の</a:t>
              </a:r>
              <a:br>
                <a:rPr kumimoji="1" lang="en-US" altLang="ja-JP" sz="600">
                  <a:solidFill>
                    <a:srgbClr val="404040"/>
                  </a:solidFill>
                </a:rPr>
              </a:br>
              <a:r>
                <a:rPr kumimoji="1" lang="en-US" altLang="ja-JP" sz="600">
                  <a:solidFill>
                    <a:srgbClr val="404040"/>
                  </a:solidFill>
                </a:rPr>
                <a:t>   </a:t>
              </a:r>
              <a:r>
                <a:rPr kumimoji="1" lang="ja-JP" altLang="en-US" sz="600">
                  <a:solidFill>
                    <a:srgbClr val="404040"/>
                  </a:solidFill>
                </a:rPr>
                <a:t>文字の色</a:t>
              </a:r>
            </a:p>
          </p:txBody>
        </p:sp>
        <p:sp>
          <p:nvSpPr>
            <p:cNvPr id="30" name="四角形: 角を丸くする 29">
              <a:extLst>
                <a:ext uri="{FF2B5EF4-FFF2-40B4-BE49-F238E27FC236}">
                  <a16:creationId xmlns:a16="http://schemas.microsoft.com/office/drawing/2014/main" id="{5E883732-9633-6458-70D8-27AF8303CA55}"/>
                </a:ext>
              </a:extLst>
            </p:cNvPr>
            <p:cNvSpPr/>
            <p:nvPr userDrawn="1"/>
          </p:nvSpPr>
          <p:spPr>
            <a:xfrm>
              <a:off x="-1689204" y="2189483"/>
              <a:ext cx="1152000" cy="252000"/>
            </a:xfrm>
            <a:prstGeom prst="roundRect">
              <a:avLst>
                <a:gd name="adj" fmla="val 6273"/>
              </a:avLst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800">
                <a:solidFill>
                  <a:srgbClr val="404040"/>
                </a:solidFill>
              </a:endParaRPr>
            </a:p>
          </p:txBody>
        </p:sp>
      </p:grpSp>
      <p:sp>
        <p:nvSpPr>
          <p:cNvPr id="139" name="正方形/長方形 138">
            <a:extLst>
              <a:ext uri="{FF2B5EF4-FFF2-40B4-BE49-F238E27FC236}">
                <a16:creationId xmlns:a16="http://schemas.microsoft.com/office/drawing/2014/main" id="{50B62EB8-DC78-57FF-72E4-CDD0A5D78F9C}"/>
              </a:ext>
            </a:extLst>
          </p:cNvPr>
          <p:cNvSpPr/>
          <p:nvPr userDrawn="1"/>
        </p:nvSpPr>
        <p:spPr>
          <a:xfrm>
            <a:off x="-1389687" y="2892026"/>
            <a:ext cx="198000" cy="162000"/>
          </a:xfrm>
          <a:prstGeom prst="rect">
            <a:avLst/>
          </a:prstGeom>
          <a:solidFill>
            <a:srgbClr val="1C72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1" lang="ja-JP" altLang="en-US"/>
          </a:p>
        </p:txBody>
      </p:sp>
      <p:sp>
        <p:nvSpPr>
          <p:cNvPr id="140" name="正方形/長方形 139">
            <a:extLst>
              <a:ext uri="{FF2B5EF4-FFF2-40B4-BE49-F238E27FC236}">
                <a16:creationId xmlns:a16="http://schemas.microsoft.com/office/drawing/2014/main" id="{3479C861-AB5C-05C0-DCC9-5E471D0298C4}"/>
              </a:ext>
            </a:extLst>
          </p:cNvPr>
          <p:cNvSpPr/>
          <p:nvPr userDrawn="1"/>
        </p:nvSpPr>
        <p:spPr>
          <a:xfrm>
            <a:off x="-1612998" y="2892026"/>
            <a:ext cx="198000" cy="162000"/>
          </a:xfrm>
          <a:prstGeom prst="rect">
            <a:avLst/>
          </a:prstGeom>
          <a:solidFill>
            <a:srgbClr val="145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1" lang="ja-JP" altLang="en-US"/>
          </a:p>
        </p:txBody>
      </p:sp>
      <p:sp>
        <p:nvSpPr>
          <p:cNvPr id="141" name="正方形/長方形 140">
            <a:extLst>
              <a:ext uri="{FF2B5EF4-FFF2-40B4-BE49-F238E27FC236}">
                <a16:creationId xmlns:a16="http://schemas.microsoft.com/office/drawing/2014/main" id="{B082B600-2AB5-43E5-2095-C79B46D6BA3E}"/>
              </a:ext>
            </a:extLst>
          </p:cNvPr>
          <p:cNvSpPr/>
          <p:nvPr userDrawn="1"/>
        </p:nvSpPr>
        <p:spPr>
          <a:xfrm>
            <a:off x="-1166376" y="2892026"/>
            <a:ext cx="198000" cy="162000"/>
          </a:xfrm>
          <a:prstGeom prst="rect">
            <a:avLst/>
          </a:prstGeom>
          <a:solidFill>
            <a:srgbClr val="5AB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1" lang="ja-JP" altLang="en-US"/>
          </a:p>
        </p:txBody>
      </p:sp>
      <p:sp>
        <p:nvSpPr>
          <p:cNvPr id="142" name="正方形/長方形 141">
            <a:extLst>
              <a:ext uri="{FF2B5EF4-FFF2-40B4-BE49-F238E27FC236}">
                <a16:creationId xmlns:a16="http://schemas.microsoft.com/office/drawing/2014/main" id="{73D10DB9-AF54-FA74-1455-1CE7CC252155}"/>
              </a:ext>
            </a:extLst>
          </p:cNvPr>
          <p:cNvSpPr/>
          <p:nvPr userDrawn="1"/>
        </p:nvSpPr>
        <p:spPr>
          <a:xfrm>
            <a:off x="-943065" y="2892026"/>
            <a:ext cx="198000" cy="162000"/>
          </a:xfrm>
          <a:prstGeom prst="rect">
            <a:avLst/>
          </a:prstGeom>
          <a:solidFill>
            <a:srgbClr val="BEE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1" lang="ja-JP" altLang="en-US"/>
          </a:p>
        </p:txBody>
      </p:sp>
      <p:grpSp>
        <p:nvGrpSpPr>
          <p:cNvPr id="152" name="グループ化 151">
            <a:extLst>
              <a:ext uri="{FF2B5EF4-FFF2-40B4-BE49-F238E27FC236}">
                <a16:creationId xmlns:a16="http://schemas.microsoft.com/office/drawing/2014/main" id="{C794006F-B3DF-11E8-DAB7-C849181B2565}"/>
              </a:ext>
            </a:extLst>
          </p:cNvPr>
          <p:cNvGrpSpPr/>
          <p:nvPr userDrawn="1"/>
        </p:nvGrpSpPr>
        <p:grpSpPr>
          <a:xfrm>
            <a:off x="-434272" y="877718"/>
            <a:ext cx="135328" cy="2732027"/>
            <a:chOff x="-434272" y="877718"/>
            <a:chExt cx="135328" cy="2732027"/>
          </a:xfrm>
        </p:grpSpPr>
        <p:sp>
          <p:nvSpPr>
            <p:cNvPr id="129" name="矢印: 上下 128">
              <a:extLst>
                <a:ext uri="{FF2B5EF4-FFF2-40B4-BE49-F238E27FC236}">
                  <a16:creationId xmlns:a16="http://schemas.microsoft.com/office/drawing/2014/main" id="{2A881591-9352-2987-4B46-AC12C6063779}"/>
                </a:ext>
              </a:extLst>
            </p:cNvPr>
            <p:cNvSpPr/>
            <p:nvPr userDrawn="1"/>
          </p:nvSpPr>
          <p:spPr>
            <a:xfrm>
              <a:off x="-409918" y="1022808"/>
              <a:ext cx="86620" cy="2438592"/>
            </a:xfrm>
            <a:prstGeom prst="upDownArrow">
              <a:avLst>
                <a:gd name="adj1" fmla="val 48377"/>
                <a:gd name="adj2" fmla="val 89688"/>
              </a:avLst>
            </a:prstGeom>
            <a:solidFill>
              <a:srgbClr val="8C8C8C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endParaRPr kumimoji="1" lang="ja-JP" altLang="en-US" sz="800">
                <a:solidFill>
                  <a:schemeClr val="bg1"/>
                </a:solidFill>
              </a:endParaRPr>
            </a:p>
          </p:txBody>
        </p:sp>
        <p:sp>
          <p:nvSpPr>
            <p:cNvPr id="131" name="楕円 130">
              <a:extLst>
                <a:ext uri="{FF2B5EF4-FFF2-40B4-BE49-F238E27FC236}">
                  <a16:creationId xmlns:a16="http://schemas.microsoft.com/office/drawing/2014/main" id="{5D7A0540-2F0B-C769-A9E9-67B717CBC870}"/>
                </a:ext>
              </a:extLst>
            </p:cNvPr>
            <p:cNvSpPr/>
            <p:nvPr userDrawn="1"/>
          </p:nvSpPr>
          <p:spPr>
            <a:xfrm>
              <a:off x="-434272" y="877718"/>
              <a:ext cx="135328" cy="135328"/>
            </a:xfrm>
            <a:prstGeom prst="ellipse">
              <a:avLst/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600" b="1">
                  <a:solidFill>
                    <a:schemeClr val="bg1"/>
                  </a:solidFill>
                </a:rPr>
                <a:t>高</a:t>
              </a:r>
            </a:p>
          </p:txBody>
        </p:sp>
        <p:sp>
          <p:nvSpPr>
            <p:cNvPr id="132" name="楕円 131">
              <a:extLst>
                <a:ext uri="{FF2B5EF4-FFF2-40B4-BE49-F238E27FC236}">
                  <a16:creationId xmlns:a16="http://schemas.microsoft.com/office/drawing/2014/main" id="{B53EE11E-B176-B192-9758-D87A24CBCD47}"/>
                </a:ext>
              </a:extLst>
            </p:cNvPr>
            <p:cNvSpPr/>
            <p:nvPr userDrawn="1"/>
          </p:nvSpPr>
          <p:spPr>
            <a:xfrm>
              <a:off x="-434272" y="3474417"/>
              <a:ext cx="135328" cy="135328"/>
            </a:xfrm>
            <a:prstGeom prst="ellipse">
              <a:avLst/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600" b="1">
                  <a:solidFill>
                    <a:schemeClr val="bg1"/>
                  </a:solidFill>
                </a:rPr>
                <a:t>低</a:t>
              </a:r>
            </a:p>
          </p:txBody>
        </p:sp>
        <p:sp>
          <p:nvSpPr>
            <p:cNvPr id="151" name="正方形/長方形 150">
              <a:extLst>
                <a:ext uri="{FF2B5EF4-FFF2-40B4-BE49-F238E27FC236}">
                  <a16:creationId xmlns:a16="http://schemas.microsoft.com/office/drawing/2014/main" id="{0A490C39-31CB-73C1-0DCB-B76D891E7E2E}"/>
                </a:ext>
              </a:extLst>
            </p:cNvPr>
            <p:cNvSpPr/>
            <p:nvPr userDrawn="1"/>
          </p:nvSpPr>
          <p:spPr>
            <a:xfrm>
              <a:off x="-420608" y="1911297"/>
              <a:ext cx="108000" cy="661615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lIns="0" tIns="0" rIns="0" bIns="0" rtlCol="0" anchor="ctr"/>
            <a:lstStyle/>
            <a:p>
              <a:pPr algn="ctr"/>
              <a:r>
                <a:rPr kumimoji="1" lang="ja-JP" altLang="en-US" sz="700" b="1">
                  <a:solidFill>
                    <a:srgbClr val="404040"/>
                  </a:solidFill>
                </a:rPr>
                <a:t>選択の優先順位</a:t>
              </a:r>
            </a:p>
          </p:txBody>
        </p:sp>
      </p:grp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075C1CF-6B6F-6394-019F-355FAC1055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52000" lvl="0" indent="-252000" algn="l" defTabSz="457200" rtl="0" eaLnBrk="1" latinLnBrk="0" hangingPunct="1">
              <a:spcBef>
                <a:spcPts val="450"/>
              </a:spcBef>
              <a:buClr>
                <a:srgbClr val="001F6B"/>
              </a:buClr>
              <a:buSzPct val="80000"/>
              <a:buFont typeface="Wingdings" panose="05000000000000000000" pitchFamily="2" charset="2"/>
              <a:buChar char="n"/>
            </a:pPr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6A672FD7-BC89-5BE1-028F-8FB98D1A4ECD}"/>
              </a:ext>
            </a:extLst>
          </p:cNvPr>
          <p:cNvGrpSpPr/>
          <p:nvPr userDrawn="1"/>
        </p:nvGrpSpPr>
        <p:grpSpPr>
          <a:xfrm>
            <a:off x="131614" y="4891525"/>
            <a:ext cx="2091600" cy="248400"/>
            <a:chOff x="207659" y="6360799"/>
            <a:chExt cx="4109149" cy="490108"/>
          </a:xfrm>
        </p:grpSpPr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37870CC-2845-F624-A959-3D612FE5476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5"/>
            <a:srcRect l="7804" t="3868" r="5953" b="30229"/>
            <a:stretch/>
          </p:blipFill>
          <p:spPr>
            <a:xfrm>
              <a:off x="207659" y="6360799"/>
              <a:ext cx="1340793" cy="472979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288631D7-7D3C-0038-C66C-62F8B8260E6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6"/>
            <a:srcRect b="28353"/>
            <a:stretch/>
          </p:blipFill>
          <p:spPr>
            <a:xfrm>
              <a:off x="1454545" y="6406632"/>
              <a:ext cx="2862263" cy="444275"/>
            </a:xfrm>
            <a:prstGeom prst="rect">
              <a:avLst/>
            </a:prstGeom>
          </p:spPr>
        </p:pic>
      </p:grpSp>
      <p:sp>
        <p:nvSpPr>
          <p:cNvPr id="8" name="文字方塊 7">
            <a:extLst>
              <a:ext uri="{FF2B5EF4-FFF2-40B4-BE49-F238E27FC236}">
                <a16:creationId xmlns:a16="http://schemas.microsoft.com/office/drawing/2014/main" id="{5141B1C8-0149-D797-9AD7-2CA86D4001B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3810762" y="4927600"/>
            <a:ext cx="15795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AGC Group Internal Use Only </a:t>
            </a:r>
          </a:p>
        </p:txBody>
      </p:sp>
    </p:spTree>
    <p:extLst>
      <p:ext uri="{BB962C8B-B14F-4D97-AF65-F5344CB8AC3E}">
        <p14:creationId xmlns:p14="http://schemas.microsoft.com/office/powerpoint/2010/main" val="416400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61" r:id="rId2"/>
    <p:sldLayoutId id="2147483671" r:id="rId3"/>
    <p:sldLayoutId id="2147483681" r:id="rId4"/>
    <p:sldLayoutId id="2147483675" r:id="rId5"/>
    <p:sldLayoutId id="2147483682" r:id="rId6"/>
    <p:sldLayoutId id="2147483676" r:id="rId7"/>
    <p:sldLayoutId id="2147483677" r:id="rId8"/>
    <p:sldLayoutId id="2147483678" r:id="rId9"/>
    <p:sldLayoutId id="2147483679" r:id="rId10"/>
    <p:sldLayoutId id="2147483683" r:id="rId11"/>
    <p:sldLayoutId id="2147483674" r:id="rId12"/>
    <p:sldLayoutId id="2147483685" r:id="rId13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2400" b="1" i="0" kern="1200">
          <a:solidFill>
            <a:srgbClr val="404040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1pPr>
    </p:titleStyle>
    <p:bodyStyle>
      <a:lvl1pPr marL="252000" indent="-252000" algn="l" defTabSz="685800" rtl="0" eaLnBrk="1" latinLnBrk="0" hangingPunct="1">
        <a:lnSpc>
          <a:spcPct val="100000"/>
        </a:lnSpc>
        <a:spcBef>
          <a:spcPts val="450"/>
        </a:spcBef>
        <a:buClr>
          <a:srgbClr val="001F6B"/>
        </a:buClr>
        <a:buSzPct val="80000"/>
        <a:buFont typeface="Wingdings" panose="05000000000000000000" pitchFamily="2" charset="2"/>
        <a:buChar char="n"/>
        <a:defRPr kumimoji="1" lang="ja-JP" altLang="en-US" sz="2000" b="0" i="0" kern="1200" baseline="0" dirty="0" smtClean="0">
          <a:solidFill>
            <a:srgbClr val="404040"/>
          </a:solidFill>
          <a:latin typeface="+mj-lt"/>
          <a:ea typeface="Meiryo UI" panose="020B0604030504040204" pitchFamily="50" charset="-128"/>
          <a:cs typeface="Meiryo UI" panose="020B0604030504040204" pitchFamily="50" charset="-128"/>
        </a:defRPr>
      </a:lvl1pPr>
      <a:lvl2pPr marL="612000" indent="-252000" algn="l" defTabSz="685800" rtl="0" eaLnBrk="1" latinLnBrk="0" hangingPunct="1">
        <a:lnSpc>
          <a:spcPct val="100000"/>
        </a:lnSpc>
        <a:spcBef>
          <a:spcPts val="450"/>
        </a:spcBef>
        <a:buClr>
          <a:srgbClr val="C8003C"/>
        </a:buClr>
        <a:buSzPct val="80000"/>
        <a:buFont typeface="Wingdings" panose="05000000000000000000" pitchFamily="2" charset="2"/>
        <a:buChar char="l"/>
        <a:defRPr kumimoji="1" sz="1600" b="0" i="0" kern="1200">
          <a:solidFill>
            <a:srgbClr val="404040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972000" indent="-252000" algn="l" defTabSz="685800" rtl="0" eaLnBrk="1" latinLnBrk="0" hangingPunct="1">
        <a:lnSpc>
          <a:spcPct val="100000"/>
        </a:lnSpc>
        <a:spcBef>
          <a:spcPts val="450"/>
        </a:spcBef>
        <a:buClr>
          <a:srgbClr val="001F6B"/>
        </a:buClr>
        <a:buSzPct val="80000"/>
        <a:buFont typeface="Meiryo UI" panose="020B0604030504040204" pitchFamily="50" charset="-128"/>
        <a:buChar char="━"/>
        <a:defRPr kumimoji="1" sz="1400" b="0" i="0" kern="1200">
          <a:solidFill>
            <a:srgbClr val="404040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332000" indent="-252000" algn="l" defTabSz="685800" rtl="0" eaLnBrk="1" latinLnBrk="0" hangingPunct="1">
        <a:lnSpc>
          <a:spcPct val="100000"/>
        </a:lnSpc>
        <a:spcBef>
          <a:spcPts val="450"/>
        </a:spcBef>
        <a:buClr>
          <a:srgbClr val="001F6B"/>
        </a:buClr>
        <a:buSzPct val="80000"/>
        <a:buFont typeface="Wingdings" panose="05000000000000000000" pitchFamily="2" charset="2"/>
        <a:buChar char="u"/>
        <a:defRPr kumimoji="1" sz="1200" b="0" i="0" kern="1200">
          <a:solidFill>
            <a:srgbClr val="404040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1548000" indent="-144000" algn="l" defTabSz="685800" rtl="0" eaLnBrk="1" latinLnBrk="0" hangingPunct="1">
        <a:lnSpc>
          <a:spcPct val="100000"/>
        </a:lnSpc>
        <a:spcBef>
          <a:spcPts val="450"/>
        </a:spcBef>
        <a:buClr>
          <a:srgbClr val="001F6B"/>
        </a:buClr>
        <a:buSzPct val="80000"/>
        <a:buFont typeface="Arial" panose="020B0604020202020204" pitchFamily="34" charset="0"/>
        <a:buChar char="•"/>
        <a:defRPr kumimoji="1" sz="1200" b="0" i="0" kern="1200">
          <a:solidFill>
            <a:srgbClr val="404040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5D8C8-F076-3A40-0F4B-C39206D5A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EBE9E0-0BD0-88E4-5D86-24076B0190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860" y="1449146"/>
            <a:ext cx="8830673" cy="701731"/>
          </a:xfrm>
        </p:spPr>
        <p:txBody>
          <a:bodyPr wrap="none">
            <a:spAutoFit/>
          </a:bodyPr>
          <a:lstStyle/>
          <a:p>
            <a:pPr algn="ctr"/>
            <a:r>
              <a:rPr lang="en-US" altLang="ja-JP" sz="4400" dirty="0">
                <a:solidFill>
                  <a:schemeClr val="bg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2026</a:t>
            </a:r>
            <a:r>
              <a:rPr lang="ja-JP" altLang="en-US" sz="4400" dirty="0">
                <a:solidFill>
                  <a:schemeClr val="bg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年拠点コミュニケーション </a:t>
            </a:r>
            <a:r>
              <a:rPr lang="en-US" altLang="ja-JP" sz="4400" dirty="0">
                <a:solidFill>
                  <a:schemeClr val="bg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ADT</a:t>
            </a:r>
            <a:endParaRPr lang="zh-TW" altLang="en-US" sz="4400" dirty="0">
              <a:solidFill>
                <a:schemeClr val="bg1"/>
              </a:solidFill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E58B156-5163-CA1E-66C0-A3B3C9BFD0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4891" y="2795604"/>
            <a:ext cx="4288353" cy="461665"/>
          </a:xfrm>
        </p:spPr>
        <p:txBody>
          <a:bodyPr wrap="none">
            <a:spAutoFit/>
          </a:bodyPr>
          <a:lstStyle/>
          <a:p>
            <a:r>
              <a:rPr kumimoji="0" lang="zh-TW" altLang="en-US" b="1" dirty="0">
                <a:latin typeface="+mn-ea"/>
              </a:rPr>
              <a:t>報告</a:t>
            </a:r>
            <a:r>
              <a:rPr kumimoji="0" lang="ja-JP" altLang="en-US" b="1" dirty="0">
                <a:latin typeface="+mn-ea"/>
              </a:rPr>
              <a:t>部門</a:t>
            </a:r>
            <a:r>
              <a:rPr kumimoji="0" lang="zh-TW" altLang="en-US" b="1" dirty="0">
                <a:latin typeface="+mn-ea"/>
              </a:rPr>
              <a:t>：製一部 生產推進課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53340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070BE19-2F34-9D9B-3EDA-2E32EBB6D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2026 ADT</a:t>
            </a:r>
            <a:r>
              <a:rPr lang="ja-JP" altLang="en-US" dirty="0"/>
              <a:t>の体制</a:t>
            </a:r>
            <a:endParaRPr kumimoji="1" lang="ja-JP" altLang="en-US" dirty="0"/>
          </a:p>
        </p:txBody>
      </p:sp>
      <p:graphicFrame>
        <p:nvGraphicFramePr>
          <p:cNvPr id="6" name="コンテンツ プレースホルダー 4">
            <a:extLst>
              <a:ext uri="{FF2B5EF4-FFF2-40B4-BE49-F238E27FC236}">
                <a16:creationId xmlns:a16="http://schemas.microsoft.com/office/drawing/2014/main" id="{E0F80C99-5D84-C2A0-503B-31207AEF76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3426446"/>
              </p:ext>
            </p:extLst>
          </p:nvPr>
        </p:nvGraphicFramePr>
        <p:xfrm>
          <a:off x="306888" y="866523"/>
          <a:ext cx="8638672" cy="34104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3123">
                  <a:extLst>
                    <a:ext uri="{9D8B030D-6E8A-4147-A177-3AD203B41FA5}">
                      <a16:colId xmlns:a16="http://schemas.microsoft.com/office/drawing/2014/main" val="235937746"/>
                    </a:ext>
                  </a:extLst>
                </a:gridCol>
                <a:gridCol w="908137">
                  <a:extLst>
                    <a:ext uri="{9D8B030D-6E8A-4147-A177-3AD203B41FA5}">
                      <a16:colId xmlns:a16="http://schemas.microsoft.com/office/drawing/2014/main" val="4269421482"/>
                    </a:ext>
                  </a:extLst>
                </a:gridCol>
                <a:gridCol w="1396652">
                  <a:extLst>
                    <a:ext uri="{9D8B030D-6E8A-4147-A177-3AD203B41FA5}">
                      <a16:colId xmlns:a16="http://schemas.microsoft.com/office/drawing/2014/main" val="3655193157"/>
                    </a:ext>
                  </a:extLst>
                </a:gridCol>
                <a:gridCol w="2267271">
                  <a:extLst>
                    <a:ext uri="{9D8B030D-6E8A-4147-A177-3AD203B41FA5}">
                      <a16:colId xmlns:a16="http://schemas.microsoft.com/office/drawing/2014/main" val="1911881278"/>
                    </a:ext>
                  </a:extLst>
                </a:gridCol>
                <a:gridCol w="2563489">
                  <a:extLst>
                    <a:ext uri="{9D8B030D-6E8A-4147-A177-3AD203B41FA5}">
                      <a16:colId xmlns:a16="http://schemas.microsoft.com/office/drawing/2014/main" val="2125110171"/>
                    </a:ext>
                  </a:extLst>
                </a:gridCol>
              </a:tblGrid>
              <a:tr h="280143">
                <a:tc>
                  <a:txBody>
                    <a:bodyPr/>
                    <a:lstStyle/>
                    <a:p>
                      <a:endParaRPr kumimoji="1" lang="ja-JP" altLang="en-US" sz="12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派遣員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/>
                        <a:t>台籍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目的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状況、対応案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663595"/>
                  </a:ext>
                </a:extLst>
              </a:tr>
              <a:tr h="1027191">
                <a:tc>
                  <a:txBody>
                    <a:bodyPr/>
                    <a:lstStyle/>
                    <a:p>
                      <a:r>
                        <a:rPr kumimoji="1" lang="ja-JP" altLang="en-US" sz="1000" dirty="0"/>
                        <a:t>設備トラブルの対策方針</a:t>
                      </a:r>
                      <a:endParaRPr kumimoji="1" lang="en-US" altLang="ja-JP" sz="1000" dirty="0"/>
                    </a:p>
                    <a:p>
                      <a:endParaRPr kumimoji="1" lang="en-US" altLang="ja-JP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dirty="0"/>
                        <a:t>主：文、</a:t>
                      </a:r>
                      <a:endParaRPr kumimoji="1" lang="en-US" altLang="ja-JP" sz="1000" dirty="0"/>
                    </a:p>
                    <a:p>
                      <a:r>
                        <a:rPr kumimoji="1" lang="ja-JP" altLang="en-US" sz="1000" dirty="0"/>
                        <a:t>副：大内</a:t>
                      </a:r>
                      <a:endParaRPr kumimoji="1" lang="en-US" altLang="ja-JP" sz="1000" dirty="0"/>
                    </a:p>
                    <a:p>
                      <a:r>
                        <a:rPr kumimoji="1" lang="ja-JP" altLang="en-US" sz="1000" dirty="0"/>
                        <a:t>↓</a:t>
                      </a:r>
                      <a:endParaRPr kumimoji="1" lang="en-US" altLang="ja-JP" sz="1000" dirty="0"/>
                    </a:p>
                    <a:p>
                      <a:r>
                        <a:rPr kumimoji="1" lang="en-US" altLang="ja-JP" sz="1000" dirty="0"/>
                        <a:t>2026</a:t>
                      </a:r>
                      <a:r>
                        <a:rPr kumimoji="1" lang="ja-JP" altLang="en-US" sz="1000" dirty="0"/>
                        <a:t>年：</a:t>
                      </a:r>
                      <a:endParaRPr kumimoji="1" lang="en-US" altLang="ja-JP" sz="1000" dirty="0"/>
                    </a:p>
                    <a:p>
                      <a:r>
                        <a:rPr kumimoji="1" lang="ja-JP" altLang="en-US" sz="1000" dirty="0"/>
                        <a:t>大内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0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主</a:t>
                      </a:r>
                      <a:r>
                        <a:rPr kumimoji="1" lang="en-US" altLang="zh-TW" sz="10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:</a:t>
                      </a:r>
                      <a:r>
                        <a:rPr kumimoji="1" lang="zh-TW" altLang="en-US" sz="10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黃乙原 副</a:t>
                      </a:r>
                      <a:r>
                        <a:rPr kumimoji="1" lang="en-US" altLang="zh-TW" sz="10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:</a:t>
                      </a:r>
                      <a:r>
                        <a:rPr kumimoji="1" lang="zh-TW" altLang="en-US" sz="10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張富羿</a:t>
                      </a:r>
                      <a:endParaRPr kumimoji="1" lang="en-US" altLang="zh-TW" sz="1000" b="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440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eiryo UI" panose="020B0604030504040204" pitchFamily="34" charset="-128"/>
                        </a:rPr>
                        <a:t>（蔡明建、</a:t>
                      </a:r>
                      <a:r>
                        <a:rPr kumimoji="1" lang="zh-TW" altLang="en-US" sz="10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+mn-ea"/>
                          <a:ea typeface="+mn-ea"/>
                          <a:cs typeface="Meiryo UI" panose="020B0604030504040204" pitchFamily="34" charset="-128"/>
                        </a:rPr>
                        <a:t>王柏欽</a:t>
                      </a:r>
                      <a:r>
                        <a:rPr kumimoji="1" lang="ja-JP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eiryo UI" panose="020B0604030504040204" pitchFamily="34" charset="-128"/>
                        </a:rPr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dirty="0">
                          <a:solidFill>
                            <a:schemeClr val="tx1"/>
                          </a:solidFill>
                        </a:rPr>
                        <a:t>①</a:t>
                      </a:r>
                      <a:r>
                        <a:rPr kumimoji="1" lang="en-US" altLang="ja-JP" sz="1000" dirty="0">
                          <a:solidFill>
                            <a:schemeClr val="tx1"/>
                          </a:solidFill>
                        </a:rPr>
                        <a:t>ADT</a:t>
                      </a:r>
                      <a:r>
                        <a:rPr kumimoji="1" lang="ja-JP" altLang="en-US" sz="1000" dirty="0">
                          <a:solidFill>
                            <a:schemeClr val="tx1"/>
                          </a:solidFill>
                        </a:rPr>
                        <a:t>内トラブル、他拠点トラブルの</a:t>
                      </a:r>
                      <a:endParaRPr kumimoji="1" lang="en-US" altLang="ja-JP" sz="10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kumimoji="1" lang="ja-JP" altLang="en-US" sz="1000" dirty="0">
                          <a:solidFill>
                            <a:schemeClr val="tx1"/>
                          </a:solidFill>
                        </a:rPr>
                        <a:t>確認項目、横展開内容を派遣員視点から整理する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900" b="1" dirty="0">
                          <a:solidFill>
                            <a:srgbClr val="FF0000"/>
                          </a:solidFill>
                        </a:rPr>
                        <a:t>設備異常報告書についての作成</a:t>
                      </a:r>
                      <a:r>
                        <a:rPr kumimoji="1" lang="en-US" altLang="ja-JP" sz="900" b="1" dirty="0">
                          <a:solidFill>
                            <a:srgbClr val="FF0000"/>
                          </a:solidFill>
                        </a:rPr>
                        <a:t>Rule</a:t>
                      </a:r>
                      <a:r>
                        <a:rPr kumimoji="1" lang="ja-JP" altLang="en-US" sz="900" b="1" dirty="0">
                          <a:solidFill>
                            <a:srgbClr val="FF0000"/>
                          </a:solidFill>
                        </a:rPr>
                        <a:t>決めと</a:t>
                      </a:r>
                      <a:endParaRPr kumimoji="1" lang="en-US" altLang="ja-JP" sz="900" b="1" dirty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kumimoji="1" lang="ja-JP" altLang="en-US" sz="900" b="1" dirty="0">
                          <a:solidFill>
                            <a:srgbClr val="FF0000"/>
                          </a:solidFill>
                        </a:rPr>
                        <a:t>今後の運営方針の議論を行う</a:t>
                      </a:r>
                      <a:endParaRPr kumimoji="1" lang="en-US" altLang="ja-JP" sz="900" b="1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800" b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⇒台籍担当は張富羿（明建さんフォロー）体制継続</a:t>
                      </a:r>
                      <a:endParaRPr kumimoji="1" lang="en-US" altLang="ja-JP" sz="800" b="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800" b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設備異常報告書発行基準</a:t>
                      </a:r>
                      <a:endParaRPr kumimoji="1" lang="en-US" altLang="ja-JP" sz="800" b="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800" b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トラブル時間　</a:t>
                      </a:r>
                      <a:r>
                        <a:rPr kumimoji="1" lang="en-US" altLang="ja-JP" sz="800" b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ON</a:t>
                      </a:r>
                      <a:r>
                        <a:rPr kumimoji="1" lang="ja-JP" altLang="en-US" sz="800" b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ライン</a:t>
                      </a:r>
                      <a:r>
                        <a:rPr kumimoji="1" lang="en-US" altLang="ja-JP" sz="800" b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10</a:t>
                      </a:r>
                      <a:r>
                        <a:rPr kumimoji="1" lang="ja-JP" altLang="en-US" sz="800" b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分、</a:t>
                      </a:r>
                      <a:r>
                        <a:rPr kumimoji="1" lang="en-US" altLang="ja-JP" sz="800" b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TASOFF30</a:t>
                      </a:r>
                      <a:r>
                        <a:rPr kumimoji="1" lang="ja-JP" altLang="en-US" sz="800" b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分</a:t>
                      </a:r>
                      <a:endParaRPr kumimoji="1" lang="en-US" altLang="ja-JP" sz="800" b="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  <a:p>
                      <a:endParaRPr kumimoji="1" lang="en-US" altLang="ja-JP" sz="9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7881889"/>
                  </a:ext>
                </a:extLst>
              </a:tr>
              <a:tr h="933810">
                <a:tc>
                  <a:txBody>
                    <a:bodyPr/>
                    <a:lstStyle/>
                    <a:p>
                      <a:r>
                        <a:rPr kumimoji="1" lang="ja-JP" altLang="en-US" sz="1000"/>
                        <a:t>安全関係の方針決め</a:t>
                      </a:r>
                      <a:endParaRPr kumimoji="1" lang="en-US" altLang="ja-JP" sz="1000"/>
                    </a:p>
                    <a:p>
                      <a:r>
                        <a:rPr kumimoji="1" lang="ja-JP" altLang="en-US" sz="1000"/>
                        <a:t>（拠点活動の展開）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dirty="0"/>
                        <a:t>主：大内、副：文</a:t>
                      </a:r>
                      <a:endParaRPr kumimoji="1" lang="en-US" altLang="ja-JP" sz="1000" dirty="0"/>
                    </a:p>
                    <a:p>
                      <a:r>
                        <a:rPr kumimoji="1" lang="ja-JP" altLang="en-US" sz="1000" dirty="0"/>
                        <a:t>↓</a:t>
                      </a:r>
                      <a:endParaRPr kumimoji="1" lang="en-US" altLang="ja-JP" sz="1000" dirty="0"/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dirty="0"/>
                        <a:t>2026</a:t>
                      </a:r>
                      <a:r>
                        <a:rPr kumimoji="1" lang="ja-JP" altLang="en-US" sz="1000" dirty="0"/>
                        <a:t>年：</a:t>
                      </a:r>
                      <a:endParaRPr kumimoji="1" lang="en-US" altLang="ja-JP" sz="1000" dirty="0"/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dirty="0"/>
                        <a:t>大内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dirty="0">
                          <a:solidFill>
                            <a:schemeClr val="tx1"/>
                          </a:solidFill>
                        </a:rPr>
                        <a:t>張益維</a:t>
                      </a:r>
                      <a:endParaRPr kumimoji="1" lang="en-US" altLang="ja-JP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8440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eiryo UI" panose="020B0604030504040204" pitchFamily="34" charset="-128"/>
                        </a:rPr>
                        <a:t>（蔡明建、</a:t>
                      </a:r>
                      <a:r>
                        <a:rPr kumimoji="1" lang="zh-TW" altLang="en-US" sz="10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+mn-ea"/>
                          <a:ea typeface="+mn-ea"/>
                          <a:cs typeface="Meiryo UI" panose="020B0604030504040204" pitchFamily="34" charset="-128"/>
                        </a:rPr>
                        <a:t>王柏欽</a:t>
                      </a:r>
                      <a:r>
                        <a:rPr kumimoji="1" lang="ja-JP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eiryo UI" panose="020B0604030504040204" pitchFamily="34" charset="-128"/>
                        </a:rPr>
                        <a:t>）</a:t>
                      </a:r>
                    </a:p>
                    <a:p>
                      <a:endParaRPr kumimoji="1" lang="ja-JP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>
                          <a:solidFill>
                            <a:schemeClr val="tx1"/>
                          </a:solidFill>
                        </a:rPr>
                        <a:t>①相模原の死亡事故のリスク低減活動の進捗確認、加設依頼事項の内容確認</a:t>
                      </a:r>
                      <a:endParaRPr kumimoji="1" lang="en-US" altLang="ja-JP" sz="100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kumimoji="1" lang="ja-JP" altLang="en-US" sz="1000">
                          <a:solidFill>
                            <a:schemeClr val="tx1"/>
                          </a:solidFill>
                        </a:rPr>
                        <a:t>②他拠点内容の横展開整理</a:t>
                      </a:r>
                      <a:endParaRPr kumimoji="1" lang="en-US" altLang="ja-JP" sz="100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kumimoji="1" lang="ja-JP" altLang="en-US" sz="1000">
                          <a:solidFill>
                            <a:schemeClr val="tx1"/>
                          </a:solidFill>
                        </a:rPr>
                        <a:t>③自拠点安全項目のパトロール</a:t>
                      </a:r>
                      <a:endParaRPr kumimoji="1" lang="en-US" altLang="ja-JP" sz="100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kumimoji="1" lang="ja-JP" altLang="en-US" sz="1000">
                          <a:solidFill>
                            <a:schemeClr val="tx1"/>
                          </a:solidFill>
                        </a:rPr>
                        <a:t>④安全パトロール（派遣員）</a:t>
                      </a:r>
                      <a:endParaRPr kumimoji="1" lang="en-US" altLang="ja-JP" sz="10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900" b="1" dirty="0">
                          <a:solidFill>
                            <a:srgbClr val="FF0000"/>
                          </a:solidFill>
                        </a:rPr>
                        <a:t>C</a:t>
                      </a:r>
                      <a:r>
                        <a:rPr kumimoji="1" lang="ja-JP" altLang="en-US" sz="900" b="1" dirty="0">
                          <a:solidFill>
                            <a:srgbClr val="FF0000"/>
                          </a:solidFill>
                        </a:rPr>
                        <a:t>階層＋</a:t>
                      </a:r>
                      <a:r>
                        <a:rPr kumimoji="1" lang="en-US" altLang="ja-JP" sz="900" b="1" dirty="0">
                          <a:solidFill>
                            <a:srgbClr val="FF0000"/>
                          </a:solidFill>
                        </a:rPr>
                        <a:t>D</a:t>
                      </a:r>
                      <a:r>
                        <a:rPr kumimoji="1" lang="ja-JP" altLang="en-US" sz="900" b="1" dirty="0">
                          <a:solidFill>
                            <a:srgbClr val="FF0000"/>
                          </a:solidFill>
                        </a:rPr>
                        <a:t>階層＋</a:t>
                      </a:r>
                      <a:r>
                        <a:rPr kumimoji="1" lang="en-US" altLang="ja-JP" sz="900" b="1" dirty="0">
                          <a:solidFill>
                            <a:srgbClr val="FF0000"/>
                          </a:solidFill>
                        </a:rPr>
                        <a:t>E</a:t>
                      </a:r>
                      <a:r>
                        <a:rPr kumimoji="1" lang="ja-JP" altLang="en-US" sz="900" b="1" dirty="0">
                          <a:solidFill>
                            <a:srgbClr val="FF0000"/>
                          </a:solidFill>
                        </a:rPr>
                        <a:t>階層＋派遣員</a:t>
                      </a:r>
                      <a:endParaRPr kumimoji="1" lang="en-US" altLang="ja-JP" sz="900" b="1" dirty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kumimoji="1" lang="ja-JP" altLang="en-US" sz="900" b="1" dirty="0">
                          <a:solidFill>
                            <a:srgbClr val="FF0000"/>
                          </a:solidFill>
                        </a:rPr>
                        <a:t>全体進捗会議</a:t>
                      </a:r>
                      <a:endParaRPr kumimoji="1" lang="en-US" altLang="ja-JP" sz="900" b="1" dirty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kumimoji="1" lang="ja-JP" altLang="en-US" sz="900" b="1" dirty="0">
                          <a:solidFill>
                            <a:srgbClr val="FF0000"/>
                          </a:solidFill>
                        </a:rPr>
                        <a:t>↓</a:t>
                      </a:r>
                      <a:endParaRPr kumimoji="1" lang="en-US" altLang="ja-JP" sz="900" b="1" dirty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kumimoji="1" lang="ja-JP" altLang="en-US" sz="900" b="1" dirty="0">
                          <a:solidFill>
                            <a:srgbClr val="FF0000"/>
                          </a:solidFill>
                        </a:rPr>
                        <a:t>①</a:t>
                      </a:r>
                      <a:r>
                        <a:rPr kumimoji="1" lang="en-US" altLang="ja-JP" sz="900" b="1" dirty="0">
                          <a:solidFill>
                            <a:srgbClr val="FF0000"/>
                          </a:solidFill>
                        </a:rPr>
                        <a:t>D</a:t>
                      </a:r>
                      <a:r>
                        <a:rPr kumimoji="1" lang="ja-JP" altLang="en-US" sz="900" b="1" dirty="0">
                          <a:solidFill>
                            <a:srgbClr val="FF0000"/>
                          </a:solidFill>
                        </a:rPr>
                        <a:t>階層＋</a:t>
                      </a:r>
                      <a:r>
                        <a:rPr kumimoji="1" lang="en-US" altLang="ja-JP" sz="900" b="1" dirty="0">
                          <a:solidFill>
                            <a:srgbClr val="FF0000"/>
                          </a:solidFill>
                        </a:rPr>
                        <a:t>E</a:t>
                      </a:r>
                      <a:r>
                        <a:rPr kumimoji="1" lang="ja-JP" altLang="en-US" sz="900" b="1" dirty="0">
                          <a:solidFill>
                            <a:srgbClr val="FF0000"/>
                          </a:solidFill>
                        </a:rPr>
                        <a:t>階層＋派遣員での方針決め</a:t>
                      </a:r>
                    </a:p>
                    <a:p>
                      <a:r>
                        <a:rPr kumimoji="1" lang="ja-JP" altLang="en-US" sz="900" b="1" dirty="0">
                          <a:solidFill>
                            <a:srgbClr val="FF0000"/>
                          </a:solidFill>
                        </a:rPr>
                        <a:t>②台籍主体で進捗会議</a:t>
                      </a:r>
                      <a:endParaRPr kumimoji="1" lang="en-US" altLang="ja-JP" sz="900" b="1" dirty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kumimoji="1" lang="ja-JP" altLang="en-US" sz="900" b="1" dirty="0">
                          <a:solidFill>
                            <a:srgbClr val="FF0000"/>
                          </a:solidFill>
                        </a:rPr>
                        <a:t>③</a:t>
                      </a:r>
                      <a:r>
                        <a:rPr kumimoji="1" lang="en-US" altLang="ja-JP" sz="900" b="1" dirty="0">
                          <a:solidFill>
                            <a:srgbClr val="FF0000"/>
                          </a:solidFill>
                        </a:rPr>
                        <a:t>D</a:t>
                      </a:r>
                      <a:r>
                        <a:rPr kumimoji="1" lang="ja-JP" altLang="en-US" sz="900" b="1" dirty="0">
                          <a:solidFill>
                            <a:srgbClr val="FF0000"/>
                          </a:solidFill>
                        </a:rPr>
                        <a:t>階層＋</a:t>
                      </a:r>
                      <a:r>
                        <a:rPr kumimoji="1" lang="en-US" altLang="ja-JP" sz="900" b="1" dirty="0">
                          <a:solidFill>
                            <a:srgbClr val="FF0000"/>
                          </a:solidFill>
                        </a:rPr>
                        <a:t>E</a:t>
                      </a:r>
                      <a:r>
                        <a:rPr kumimoji="1" lang="ja-JP" altLang="en-US" sz="900" b="1" dirty="0">
                          <a:solidFill>
                            <a:srgbClr val="FF0000"/>
                          </a:solidFill>
                        </a:rPr>
                        <a:t>階層＋派遣員で進捗</a:t>
                      </a:r>
                      <a:r>
                        <a:rPr kumimoji="1" lang="en-US" altLang="ja-JP" sz="900" b="1" dirty="0">
                          <a:solidFill>
                            <a:srgbClr val="FF0000"/>
                          </a:solidFill>
                        </a:rPr>
                        <a:t>FB</a:t>
                      </a:r>
                      <a:r>
                        <a:rPr kumimoji="1" lang="ja-JP" altLang="en-US" sz="900" b="1" dirty="0">
                          <a:solidFill>
                            <a:srgbClr val="FF0000"/>
                          </a:solidFill>
                        </a:rPr>
                        <a:t>会議運営</a:t>
                      </a:r>
                      <a:endParaRPr kumimoji="1" lang="en-US" altLang="ja-JP" sz="900" b="1" dirty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kumimoji="1" lang="ja-JP" altLang="en-US" sz="900" b="1" dirty="0">
                          <a:solidFill>
                            <a:srgbClr val="FF0000"/>
                          </a:solidFill>
                        </a:rPr>
                        <a:t>　とする（直接のやり取りからは抜ける）</a:t>
                      </a:r>
                      <a:endParaRPr kumimoji="1" lang="en-US" altLang="ja-JP" sz="900" b="1" dirty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kumimoji="1" lang="ja-JP" altLang="en-US" sz="900" b="1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④維持管理のパトロール（管理者</a:t>
                      </a:r>
                      <a:r>
                        <a:rPr kumimoji="1" lang="en-US" altLang="ja-JP" sz="900" b="1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LOTO</a:t>
                      </a:r>
                      <a:r>
                        <a:rPr kumimoji="1" lang="ja-JP" altLang="en-US" sz="900" b="1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、</a:t>
                      </a:r>
                      <a:endParaRPr kumimoji="1" lang="en-US" altLang="ja-JP" sz="900" b="1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  <a:p>
                      <a:r>
                        <a:rPr kumimoji="1" lang="ja-JP" altLang="en-US" sz="900" b="1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特殊ボルト、</a:t>
                      </a:r>
                      <a:r>
                        <a:rPr kumimoji="1" lang="en-US" altLang="ja-JP" sz="900" b="1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HO</a:t>
                      </a:r>
                      <a:r>
                        <a:rPr kumimoji="1" lang="ja-JP" altLang="en-US" sz="900" b="1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のストッパー、</a:t>
                      </a:r>
                      <a:r>
                        <a:rPr kumimoji="1" lang="en-US" altLang="ja-JP" sz="900" b="1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B</a:t>
                      </a:r>
                      <a:r>
                        <a:rPr kumimoji="1" lang="ja-JP" altLang="en-US" sz="900" b="1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ランクリスク対策状況）</a:t>
                      </a:r>
                      <a:endParaRPr kumimoji="1" lang="en-US" altLang="ja-JP" sz="900" b="1" dirty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1322736"/>
                  </a:ext>
                </a:extLst>
              </a:tr>
              <a:tr h="560286">
                <a:tc>
                  <a:txBody>
                    <a:bodyPr/>
                    <a:lstStyle/>
                    <a:p>
                      <a:r>
                        <a:rPr kumimoji="1" lang="ja-JP" altLang="en-US" sz="1000"/>
                        <a:t>品質異常の横展開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dirty="0"/>
                        <a:t>戸田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zh-TW" altLang="en-US" sz="1000" dirty="0">
                          <a:solidFill>
                            <a:schemeClr val="tx1"/>
                          </a:solidFill>
                        </a:rPr>
                        <a:t>吉勝</a:t>
                      </a:r>
                      <a:r>
                        <a:rPr kumimoji="1" lang="ja-JP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eiryo UI" panose="020B0604030504040204" pitchFamily="34" charset="-128"/>
                        </a:rPr>
                        <a:t>、</a:t>
                      </a:r>
                      <a:r>
                        <a:rPr kumimoji="1" lang="zh-TW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eiryo UI" panose="020B0604030504040204" pitchFamily="34" charset="-128"/>
                        </a:rPr>
                        <a:t>各</a:t>
                      </a:r>
                      <a:r>
                        <a:rPr kumimoji="1" lang="ja-JP" altLang="en-US" sz="1000" dirty="0">
                          <a:solidFill>
                            <a:schemeClr val="tx1"/>
                          </a:solidFill>
                        </a:rPr>
                        <a:t>副理</a:t>
                      </a:r>
                      <a:endParaRPr kumimoji="1" lang="en-US" altLang="ja-JP" sz="1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000" dirty="0">
                          <a:solidFill>
                            <a:schemeClr val="tx1"/>
                          </a:solidFill>
                        </a:rPr>
                        <a:t>①対策内容の深堀りフォロー</a:t>
                      </a:r>
                      <a:endParaRPr kumimoji="1" lang="en-US" altLang="ja-JP" sz="10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kumimoji="1" lang="ja-JP" altLang="en-US" sz="1000" dirty="0">
                          <a:solidFill>
                            <a:schemeClr val="tx1"/>
                          </a:solidFill>
                        </a:rPr>
                        <a:t>②横展開項目の進捗確認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900" b="1" dirty="0">
                          <a:solidFill>
                            <a:srgbClr val="FF0000"/>
                          </a:solidFill>
                        </a:rPr>
                        <a:t>・新規案件含めた月度の</a:t>
                      </a:r>
                      <a:r>
                        <a:rPr kumimoji="1" lang="en-US" altLang="ja-JP" sz="900" b="1" dirty="0">
                          <a:solidFill>
                            <a:srgbClr val="FF0000"/>
                          </a:solidFill>
                        </a:rPr>
                        <a:t>F/U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900" b="1" dirty="0">
                          <a:solidFill>
                            <a:srgbClr val="FF0000"/>
                          </a:solidFill>
                        </a:rPr>
                        <a:t>・</a:t>
                      </a:r>
                      <a:r>
                        <a:rPr kumimoji="1" lang="en-US" altLang="ja-JP" sz="900" b="1" dirty="0">
                          <a:solidFill>
                            <a:srgbClr val="FF0000"/>
                          </a:solidFill>
                        </a:rPr>
                        <a:t>QMS</a:t>
                      </a:r>
                      <a:r>
                        <a:rPr kumimoji="1" lang="ja-JP" altLang="en-US" sz="900" b="1" dirty="0">
                          <a:solidFill>
                            <a:srgbClr val="FF0000"/>
                          </a:solidFill>
                        </a:rPr>
                        <a:t>パトロールへの参加</a:t>
                      </a:r>
                      <a:endParaRPr kumimoji="1" lang="en-US" altLang="ja-JP" sz="900" b="1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900" b="1" dirty="0">
                          <a:solidFill>
                            <a:srgbClr val="FF0000"/>
                          </a:solidFill>
                        </a:rPr>
                        <a:t>・対</a:t>
                      </a:r>
                      <a:r>
                        <a:rPr kumimoji="1" lang="en-US" altLang="ja-JP" sz="900" b="1" dirty="0">
                          <a:solidFill>
                            <a:srgbClr val="FF0000"/>
                          </a:solidFill>
                        </a:rPr>
                        <a:t>QA</a:t>
                      </a:r>
                      <a:r>
                        <a:rPr kumimoji="1" lang="ja-JP" altLang="en-US" sz="900" b="1" dirty="0">
                          <a:solidFill>
                            <a:srgbClr val="FF0000"/>
                          </a:solidFill>
                        </a:rPr>
                        <a:t>交渉含む</a:t>
                      </a:r>
                      <a:endParaRPr kumimoji="1" lang="en-US" altLang="ja-JP" sz="900" b="1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900" b="1" dirty="0">
                          <a:solidFill>
                            <a:srgbClr val="FF0000"/>
                          </a:solidFill>
                        </a:rPr>
                        <a:t>⇒都度対応とする</a:t>
                      </a:r>
                      <a:endParaRPr kumimoji="1" lang="en-US" altLang="ja-JP" sz="9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656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3160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1B8A8-954C-E350-3B14-A1AB564F9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A242E4-876D-D11C-04F0-7DE439D31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設備異常の再発防止取り組み</a:t>
            </a:r>
            <a:endParaRPr kumimoji="1" lang="ja-JP" altLang="en-US" dirty="0"/>
          </a:p>
        </p:txBody>
      </p:sp>
      <p:grpSp>
        <p:nvGrpSpPr>
          <p:cNvPr id="5" name="グループ化 64">
            <a:extLst>
              <a:ext uri="{FF2B5EF4-FFF2-40B4-BE49-F238E27FC236}">
                <a16:creationId xmlns:a16="http://schemas.microsoft.com/office/drawing/2014/main" id="{C8080A53-89F8-49CA-AAB4-A1DBFB56990A}"/>
              </a:ext>
            </a:extLst>
          </p:cNvPr>
          <p:cNvGrpSpPr>
            <a:grpSpLocks/>
          </p:cNvGrpSpPr>
          <p:nvPr/>
        </p:nvGrpSpPr>
        <p:grpSpPr bwMode="auto">
          <a:xfrm>
            <a:off x="171987" y="742279"/>
            <a:ext cx="4898393" cy="3853225"/>
            <a:chOff x="90122" y="-13398"/>
            <a:chExt cx="5790125" cy="4210327"/>
          </a:xfrm>
        </p:grpSpPr>
        <p:grpSp>
          <p:nvGrpSpPr>
            <p:cNvPr id="7" name="グループ化 37">
              <a:extLst>
                <a:ext uri="{FF2B5EF4-FFF2-40B4-BE49-F238E27FC236}">
                  <a16:creationId xmlns:a16="http://schemas.microsoft.com/office/drawing/2014/main" id="{255D3F2A-55E6-A01F-4E6D-BB6CD2CF6C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9550" y="809025"/>
              <a:ext cx="5608088" cy="3362925"/>
              <a:chOff x="209550" y="809025"/>
              <a:chExt cx="5608088" cy="3362925"/>
            </a:xfrm>
          </p:grpSpPr>
          <p:sp>
            <p:nvSpPr>
              <p:cNvPr id="10" name="正方形/長方形 69">
                <a:extLst>
                  <a:ext uri="{FF2B5EF4-FFF2-40B4-BE49-F238E27FC236}">
                    <a16:creationId xmlns:a16="http://schemas.microsoft.com/office/drawing/2014/main" id="{D1E1D8E4-DE63-00F1-EA34-F02CF2F6F9C6}"/>
                  </a:ext>
                </a:extLst>
              </p:cNvPr>
              <p:cNvSpPr/>
              <p:nvPr/>
            </p:nvSpPr>
            <p:spPr>
              <a:xfrm>
                <a:off x="209550" y="3495675"/>
                <a:ext cx="1495425" cy="67627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kumimoji="1" lang="en-US" altLang="ja-JP" sz="1400" b="1" dirty="0">
                    <a:solidFill>
                      <a:sysClr val="windowText" lastClr="000000"/>
                    </a:solidFill>
                    <a:latin typeface="+mj-lt"/>
                  </a:rPr>
                  <a:t>ADT</a:t>
                </a:r>
                <a:r>
                  <a:rPr kumimoji="1" lang="ja-JP" altLang="en-US" sz="1400" b="1" dirty="0">
                    <a:solidFill>
                      <a:sysClr val="windowText" lastClr="000000"/>
                    </a:solidFill>
                    <a:latin typeface="+mj-lt"/>
                  </a:rPr>
                  <a:t>設技</a:t>
                </a:r>
                <a:endParaRPr kumimoji="1" lang="en-US" altLang="ja-JP" sz="1400" b="1" dirty="0">
                  <a:solidFill>
                    <a:sysClr val="windowText" lastClr="000000"/>
                  </a:solidFill>
                  <a:latin typeface="+mj-lt"/>
                </a:endParaRPr>
              </a:p>
              <a:p>
                <a:pPr algn="ctr"/>
                <a:r>
                  <a:rPr kumimoji="1" lang="ja-JP" altLang="en-US" sz="1400" b="1" dirty="0">
                    <a:solidFill>
                      <a:sysClr val="windowText" lastClr="000000"/>
                    </a:solidFill>
                    <a:latin typeface="+mj-lt"/>
                  </a:rPr>
                  <a:t>（機械・電気）</a:t>
                </a:r>
              </a:p>
            </p:txBody>
          </p:sp>
          <p:sp>
            <p:nvSpPr>
              <p:cNvPr id="11" name="正方形/長方形 70">
                <a:extLst>
                  <a:ext uri="{FF2B5EF4-FFF2-40B4-BE49-F238E27FC236}">
                    <a16:creationId xmlns:a16="http://schemas.microsoft.com/office/drawing/2014/main" id="{8FBC0534-BEFC-6241-0B34-914840379FD7}"/>
                  </a:ext>
                </a:extLst>
              </p:cNvPr>
              <p:cNvSpPr/>
              <p:nvPr/>
            </p:nvSpPr>
            <p:spPr>
              <a:xfrm>
                <a:off x="4407936" y="3486151"/>
                <a:ext cx="1409702" cy="67627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kumimoji="1" lang="en-US" altLang="ja-JP" sz="1400" b="1">
                    <a:solidFill>
                      <a:sysClr val="windowText" lastClr="000000"/>
                    </a:solidFill>
                    <a:latin typeface="+mj-lt"/>
                  </a:rPr>
                  <a:t>ADT</a:t>
                </a:r>
                <a:r>
                  <a:rPr kumimoji="1" lang="ja-JP" altLang="en-US" sz="1400" b="1">
                    <a:solidFill>
                      <a:sysClr val="windowText" lastClr="000000"/>
                    </a:solidFill>
                    <a:latin typeface="+mj-lt"/>
                  </a:rPr>
                  <a:t>各</a:t>
                </a:r>
                <a:r>
                  <a:rPr kumimoji="1" lang="en-US" altLang="zh-TW" sz="1400" b="1">
                    <a:solidFill>
                      <a:sysClr val="windowText" lastClr="000000"/>
                    </a:solidFill>
                    <a:latin typeface="+mj-lt"/>
                  </a:rPr>
                  <a:t>LINE</a:t>
                </a:r>
                <a:endParaRPr kumimoji="1" lang="ja-JP" altLang="en-US" sz="1400" b="1">
                  <a:solidFill>
                    <a:sysClr val="windowText" lastClr="000000"/>
                  </a:solidFill>
                  <a:latin typeface="+mj-lt"/>
                </a:endParaRPr>
              </a:p>
            </p:txBody>
          </p:sp>
          <p:cxnSp>
            <p:nvCxnSpPr>
              <p:cNvPr id="12" name="直線矢印コネクタ 71">
                <a:extLst>
                  <a:ext uri="{FF2B5EF4-FFF2-40B4-BE49-F238E27FC236}">
                    <a16:creationId xmlns:a16="http://schemas.microsoft.com/office/drawing/2014/main" id="{67275C22-D9C1-B6A5-CE59-6DE6E3679E5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02605" y="980108"/>
                <a:ext cx="1495425" cy="2426069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stealth" w="lg" len="lg"/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テキスト ボックス 72">
                <a:extLst>
                  <a:ext uri="{FF2B5EF4-FFF2-40B4-BE49-F238E27FC236}">
                    <a16:creationId xmlns:a16="http://schemas.microsoft.com/office/drawing/2014/main" id="{6AA0CAF4-034E-6725-B8D1-877C55FFFC34}"/>
                  </a:ext>
                </a:extLst>
              </p:cNvPr>
              <p:cNvSpPr txBox="1"/>
              <p:nvPr/>
            </p:nvSpPr>
            <p:spPr>
              <a:xfrm rot="17992781">
                <a:off x="90122" y="1837170"/>
                <a:ext cx="2487675" cy="462216"/>
              </a:xfrm>
              <a:prstGeom prst="rect">
                <a:avLst/>
              </a:prstGeom>
              <a:solidFill>
                <a:schemeClr val="bg1"/>
              </a:solidFill>
              <a:ln w="9525" cmpd="sng">
                <a:solidFill>
                  <a:schemeClr val="tx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none" rtlCol="0" anchor="ctr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kumimoji="1" lang="ja-JP" altLang="en-US" dirty="0">
                    <a:latin typeface="+mj-lt"/>
                  </a:rPr>
                  <a:t>・原因・対策・横展開必要有無</a:t>
                </a:r>
                <a:r>
                  <a:rPr kumimoji="1" lang="zh-TW" altLang="en-US" dirty="0">
                    <a:latin typeface="+mj-lt"/>
                  </a:rPr>
                  <a:t>的</a:t>
                </a:r>
                <a:r>
                  <a:rPr kumimoji="1" lang="ja-JP" altLang="en-US" dirty="0">
                    <a:latin typeface="+mj-lt"/>
                  </a:rPr>
                  <a:t>確認</a:t>
                </a:r>
              </a:p>
            </p:txBody>
          </p:sp>
          <p:sp>
            <p:nvSpPr>
              <p:cNvPr id="14" name="テキスト ボックス 73">
                <a:extLst>
                  <a:ext uri="{FF2B5EF4-FFF2-40B4-BE49-F238E27FC236}">
                    <a16:creationId xmlns:a16="http://schemas.microsoft.com/office/drawing/2014/main" id="{84F7730A-2280-125A-48F0-7BBEC02F411A}"/>
                  </a:ext>
                </a:extLst>
              </p:cNvPr>
              <p:cNvSpPr txBox="1"/>
              <p:nvPr/>
            </p:nvSpPr>
            <p:spPr>
              <a:xfrm rot="17992781">
                <a:off x="707635" y="1932965"/>
                <a:ext cx="2676523" cy="428644"/>
              </a:xfrm>
              <a:prstGeom prst="rect">
                <a:avLst/>
              </a:prstGeom>
              <a:solidFill>
                <a:srgbClr val="FFFF00">
                  <a:alpha val="30000"/>
                </a:srgbClr>
              </a:solidFill>
              <a:ln w="9525" cmpd="sng">
                <a:solidFill>
                  <a:srgbClr val="FF0000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none" rtlCol="0" anchor="ctr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kumimoji="1" lang="ja-JP" altLang="en-US" dirty="0">
                    <a:latin typeface="+mj-lt"/>
                  </a:rPr>
                  <a:t>・</a:t>
                </a:r>
                <a:r>
                  <a:rPr kumimoji="1" lang="zh-TW" altLang="en-US" dirty="0">
                    <a:latin typeface="+mj-lt"/>
                  </a:rPr>
                  <a:t>要求將橫展開內容發送至</a:t>
                </a:r>
                <a:r>
                  <a:rPr kumimoji="1" lang="ja-JP" altLang="en-US" dirty="0">
                    <a:latin typeface="+mj-lt"/>
                  </a:rPr>
                  <a:t>各</a:t>
                </a:r>
                <a:r>
                  <a:rPr kumimoji="1" lang="en-US" altLang="zh-TW" dirty="0">
                    <a:latin typeface="+mj-lt"/>
                  </a:rPr>
                  <a:t>LINE</a:t>
                </a:r>
              </a:p>
            </p:txBody>
          </p:sp>
          <p:cxnSp>
            <p:nvCxnSpPr>
              <p:cNvPr id="15" name="直線矢印コネクタ 74">
                <a:extLst>
                  <a:ext uri="{FF2B5EF4-FFF2-40B4-BE49-F238E27FC236}">
                    <a16:creationId xmlns:a16="http://schemas.microsoft.com/office/drawing/2014/main" id="{975384C6-1462-A81B-030F-D382CC2A917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614071" y="984979"/>
                <a:ext cx="1495425" cy="2438400"/>
              </a:xfrm>
              <a:prstGeom prst="straightConnector1">
                <a:avLst/>
              </a:prstGeom>
              <a:ln w="25400">
                <a:solidFill>
                  <a:srgbClr val="FF0000"/>
                </a:solidFill>
                <a:headEnd type="none" w="lg" len="lg"/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線矢印コネクタ 75">
                <a:extLst>
                  <a:ext uri="{FF2B5EF4-FFF2-40B4-BE49-F238E27FC236}">
                    <a16:creationId xmlns:a16="http://schemas.microsoft.com/office/drawing/2014/main" id="{6E488E9D-4B4D-95AB-FC08-FC6F3A408279}"/>
                  </a:ext>
                </a:extLst>
              </p:cNvPr>
              <p:cNvCxnSpPr/>
              <p:nvPr/>
            </p:nvCxnSpPr>
            <p:spPr>
              <a:xfrm flipH="1">
                <a:off x="1807355" y="3514725"/>
                <a:ext cx="2553218" cy="0"/>
              </a:xfrm>
              <a:prstGeom prst="straightConnector1">
                <a:avLst/>
              </a:prstGeom>
              <a:ln w="25400">
                <a:solidFill>
                  <a:srgbClr val="00B0F0"/>
                </a:solidFill>
                <a:headEnd type="stealth"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テキスト ボックス 76">
                <a:extLst>
                  <a:ext uri="{FF2B5EF4-FFF2-40B4-BE49-F238E27FC236}">
                    <a16:creationId xmlns:a16="http://schemas.microsoft.com/office/drawing/2014/main" id="{D18C5B2D-9FDA-8951-ADC0-761F01BC3882}"/>
                  </a:ext>
                </a:extLst>
              </p:cNvPr>
              <p:cNvSpPr txBox="1"/>
              <p:nvPr/>
            </p:nvSpPr>
            <p:spPr>
              <a:xfrm>
                <a:off x="2002022" y="3619502"/>
                <a:ext cx="2108867" cy="469561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60000"/>
                </a:schemeClr>
              </a:solidFill>
              <a:ln w="9525" cmpd="sng">
                <a:solidFill>
                  <a:srgbClr val="00B0F0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none" rtlCol="0" anchor="ctr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kumimoji="1" lang="ja-JP" altLang="en-US" sz="1050" dirty="0">
                    <a:latin typeface="+mj-lt"/>
                  </a:rPr>
                  <a:t>・</a:t>
                </a:r>
                <a:r>
                  <a:rPr kumimoji="1" lang="zh-TW" altLang="en-US" sz="1050" dirty="0">
                    <a:latin typeface="+mj-lt"/>
                  </a:rPr>
                  <a:t>將橫展開內容發送至</a:t>
                </a:r>
                <a:r>
                  <a:rPr kumimoji="1" lang="ja-JP" altLang="en-US" sz="1050" dirty="0">
                    <a:latin typeface="+mj-lt"/>
                  </a:rPr>
                  <a:t>各</a:t>
                </a:r>
                <a:r>
                  <a:rPr kumimoji="1" lang="en-US" altLang="zh-TW" sz="1050" dirty="0">
                    <a:latin typeface="+mj-lt"/>
                  </a:rPr>
                  <a:t>LINE</a:t>
                </a:r>
                <a:endParaRPr kumimoji="1" lang="ja-JP" altLang="en-US" sz="1050" dirty="0">
                  <a:latin typeface="+mj-lt"/>
                </a:endParaRPr>
              </a:p>
            </p:txBody>
          </p:sp>
          <p:sp>
            <p:nvSpPr>
              <p:cNvPr id="18" name="テキスト ボックス 77">
                <a:extLst>
                  <a:ext uri="{FF2B5EF4-FFF2-40B4-BE49-F238E27FC236}">
                    <a16:creationId xmlns:a16="http://schemas.microsoft.com/office/drawing/2014/main" id="{9F1FBF5E-D534-C2B1-6846-42C2F205C638}"/>
                  </a:ext>
                </a:extLst>
              </p:cNvPr>
              <p:cNvSpPr txBox="1"/>
              <p:nvPr/>
            </p:nvSpPr>
            <p:spPr>
              <a:xfrm rot="3729666">
                <a:off x="3488729" y="1777457"/>
                <a:ext cx="2007891" cy="694621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30000"/>
                </a:schemeClr>
              </a:solidFill>
              <a:ln w="9525" cmpd="sng">
                <a:solidFill>
                  <a:srgbClr val="00B050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vert="horz" wrap="none" rtlCol="0" anchor="ctr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ts val="1300"/>
                  </a:lnSpc>
                </a:pPr>
                <a:r>
                  <a:rPr kumimoji="1" lang="ja-JP" altLang="en-US" sz="1200" dirty="0">
                    <a:latin typeface="+mj-lt"/>
                  </a:rPr>
                  <a:t>・</a:t>
                </a:r>
                <a:r>
                  <a:rPr kumimoji="1" lang="zh-TW" altLang="en-US" sz="1200" dirty="0">
                    <a:latin typeface="+mj-lt"/>
                  </a:rPr>
                  <a:t>發送</a:t>
                </a:r>
                <a:r>
                  <a:rPr kumimoji="1" lang="ja-JP" altLang="en-US" sz="1200" dirty="0">
                    <a:latin typeface="+mj-lt"/>
                  </a:rPr>
                  <a:t>横展開</a:t>
                </a:r>
                <a:r>
                  <a:rPr kumimoji="1" lang="zh-TW" altLang="en-US" sz="1200" dirty="0">
                    <a:latin typeface="+mj-lt"/>
                  </a:rPr>
                  <a:t>的情報</a:t>
                </a:r>
                <a:endParaRPr kumimoji="1" lang="en-US" altLang="ja-JP" sz="1200" dirty="0">
                  <a:latin typeface="+mj-lt"/>
                </a:endParaRPr>
              </a:p>
              <a:p>
                <a:pPr algn="l">
                  <a:lnSpc>
                    <a:spcPts val="1200"/>
                  </a:lnSpc>
                </a:pPr>
                <a:r>
                  <a:rPr kumimoji="1" lang="ja-JP" altLang="en-US" sz="1200" dirty="0">
                    <a:latin typeface="+mj-lt"/>
                  </a:rPr>
                  <a:t>・横展開</a:t>
                </a:r>
                <a:r>
                  <a:rPr kumimoji="1" lang="zh-TW" altLang="en-US" sz="1200" dirty="0">
                    <a:latin typeface="+mj-lt"/>
                  </a:rPr>
                  <a:t>進度的</a:t>
                </a:r>
                <a:r>
                  <a:rPr kumimoji="1" lang="ja-JP" altLang="en-US" sz="1200" dirty="0">
                    <a:latin typeface="+mj-lt"/>
                  </a:rPr>
                  <a:t>連絡・確認</a:t>
                </a:r>
              </a:p>
            </p:txBody>
          </p:sp>
          <p:cxnSp>
            <p:nvCxnSpPr>
              <p:cNvPr id="19" name="直線矢印コネクタ 78">
                <a:extLst>
                  <a:ext uri="{FF2B5EF4-FFF2-40B4-BE49-F238E27FC236}">
                    <a16:creationId xmlns:a16="http://schemas.microsoft.com/office/drawing/2014/main" id="{C06D785C-18FA-B105-5FC8-5015B82F6CB7}"/>
                  </a:ext>
                </a:extLst>
              </p:cNvPr>
              <p:cNvCxnSpPr/>
              <p:nvPr/>
            </p:nvCxnSpPr>
            <p:spPr>
              <a:xfrm>
                <a:off x="3339806" y="985394"/>
                <a:ext cx="1409702" cy="2438400"/>
              </a:xfrm>
              <a:prstGeom prst="straightConnector1">
                <a:avLst/>
              </a:prstGeom>
              <a:ln w="25400">
                <a:solidFill>
                  <a:srgbClr val="00B050"/>
                </a:solidFill>
                <a:headEnd type="stealth" w="lg" len="lg"/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正方形/長方形 66">
              <a:extLst>
                <a:ext uri="{FF2B5EF4-FFF2-40B4-BE49-F238E27FC236}">
                  <a16:creationId xmlns:a16="http://schemas.microsoft.com/office/drawing/2014/main" id="{A65F892F-2C30-145E-19E9-94E73B330C71}"/>
                </a:ext>
              </a:extLst>
            </p:cNvPr>
            <p:cNvSpPr/>
            <p:nvPr/>
          </p:nvSpPr>
          <p:spPr>
            <a:xfrm>
              <a:off x="157041" y="24980"/>
              <a:ext cx="5723206" cy="4171949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TW" altLang="en-US" dirty="0">
                <a:latin typeface="+mj-lt"/>
              </a:endParaRPr>
            </a:p>
          </p:txBody>
        </p:sp>
        <p:sp>
          <p:nvSpPr>
            <p:cNvPr id="9" name="テキスト ボックス 67">
              <a:extLst>
                <a:ext uri="{FF2B5EF4-FFF2-40B4-BE49-F238E27FC236}">
                  <a16:creationId xmlns:a16="http://schemas.microsoft.com/office/drawing/2014/main" id="{484F9571-DD62-C9B4-AEBF-8145E21C9B67}"/>
                </a:ext>
              </a:extLst>
            </p:cNvPr>
            <p:cNvSpPr txBox="1"/>
            <p:nvPr/>
          </p:nvSpPr>
          <p:spPr>
            <a:xfrm>
              <a:off x="90122" y="-13398"/>
              <a:ext cx="1305912" cy="285855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none" rtlCol="0" anchor="ctr">
              <a:spAutoFit/>
            </a:bodyPr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kumimoji="1" lang="ja-JP" altLang="en-US" b="1" dirty="0">
                  <a:solidFill>
                    <a:sysClr val="windowText" lastClr="000000"/>
                  </a:solidFill>
                  <a:latin typeface="+mj-lt"/>
                </a:rPr>
                <a:t>機械系・電気系</a:t>
              </a:r>
            </a:p>
          </p:txBody>
        </p:sp>
      </p:grpSp>
      <p:grpSp>
        <p:nvGrpSpPr>
          <p:cNvPr id="31" name="群組 30">
            <a:extLst>
              <a:ext uri="{FF2B5EF4-FFF2-40B4-BE49-F238E27FC236}">
                <a16:creationId xmlns:a16="http://schemas.microsoft.com/office/drawing/2014/main" id="{36C7AF07-998F-3B96-4472-B810AE624860}"/>
              </a:ext>
            </a:extLst>
          </p:cNvPr>
          <p:cNvGrpSpPr/>
          <p:nvPr/>
        </p:nvGrpSpPr>
        <p:grpSpPr>
          <a:xfrm>
            <a:off x="1120310" y="974512"/>
            <a:ext cx="3132000" cy="576248"/>
            <a:chOff x="1182531" y="974512"/>
            <a:chExt cx="3132000" cy="576248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2F254FD7-680C-B282-E677-B404A4BD1659}"/>
                </a:ext>
              </a:extLst>
            </p:cNvPr>
            <p:cNvSpPr/>
            <p:nvPr/>
          </p:nvSpPr>
          <p:spPr>
            <a:xfrm>
              <a:off x="1182531" y="1021322"/>
              <a:ext cx="3132000" cy="497369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800" dirty="0">
                <a:solidFill>
                  <a:srgbClr val="404040"/>
                </a:solidFill>
              </a:endParaRPr>
            </a:p>
          </p:txBody>
        </p:sp>
        <p:cxnSp>
          <p:nvCxnSpPr>
            <p:cNvPr id="22" name="直線接點 21">
              <a:extLst>
                <a:ext uri="{FF2B5EF4-FFF2-40B4-BE49-F238E27FC236}">
                  <a16:creationId xmlns:a16="http://schemas.microsoft.com/office/drawing/2014/main" id="{A97BCD77-09C5-6CC9-0A72-B1B7AE2F6CC7}"/>
                </a:ext>
              </a:extLst>
            </p:cNvPr>
            <p:cNvCxnSpPr>
              <a:cxnSpLocks/>
            </p:cNvCxnSpPr>
            <p:nvPr/>
          </p:nvCxnSpPr>
          <p:spPr>
            <a:xfrm>
              <a:off x="1182531" y="1180077"/>
              <a:ext cx="3132000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接點 22">
              <a:extLst>
                <a:ext uri="{FF2B5EF4-FFF2-40B4-BE49-F238E27FC236}">
                  <a16:creationId xmlns:a16="http://schemas.microsoft.com/office/drawing/2014/main" id="{2B09E883-E894-55AB-B4C1-DFAC28853450}"/>
                </a:ext>
              </a:extLst>
            </p:cNvPr>
            <p:cNvCxnSpPr>
              <a:cxnSpLocks/>
            </p:cNvCxnSpPr>
            <p:nvPr/>
          </p:nvCxnSpPr>
          <p:spPr>
            <a:xfrm>
              <a:off x="1182531" y="1348354"/>
              <a:ext cx="3132000" cy="0"/>
            </a:xfrm>
            <a:prstGeom prst="line">
              <a:avLst/>
            </a:prstGeom>
            <a:ln w="635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正方形/長方形 2">
              <a:extLst>
                <a:ext uri="{FF2B5EF4-FFF2-40B4-BE49-F238E27FC236}">
                  <a16:creationId xmlns:a16="http://schemas.microsoft.com/office/drawing/2014/main" id="{E5FEBBD3-80C8-02A3-A51B-BF5E90BB37CA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2574570" y="974512"/>
              <a:ext cx="917239" cy="576248"/>
            </a:xfrm>
            <a:prstGeom prst="rect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vert="horz" wrap="none" lIns="91440" tIns="45720" rIns="91440" bIns="45720" rtlCol="0" anchor="ctr">
              <a:spAutoFit/>
            </a:bodyPr>
            <a:lstStyle>
              <a:lvl1pPr marL="0" indent="0" algn="l" defTabSz="685800" rtl="0" eaLnBrk="1" latinLnBrk="0" hangingPunct="1">
                <a:lnSpc>
                  <a:spcPct val="100000"/>
                </a:lnSpc>
                <a:spcBef>
                  <a:spcPts val="450"/>
                </a:spcBef>
                <a:buClr>
                  <a:srgbClr val="001F6B"/>
                </a:buClr>
                <a:buSzPct val="80000"/>
                <a:buFont typeface="Wingdings" panose="05000000000000000000" pitchFamily="2" charset="2"/>
                <a:buChar char="n"/>
                <a:defRPr kumimoji="1" lang="ja-JP" altLang="en-US" sz="1100" b="0" i="0" kern="1200" baseline="0">
                  <a:solidFill>
                    <a:srgbClr val="404040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685800" rtl="0" eaLnBrk="1" latinLnBrk="0" hangingPunct="1">
                <a:lnSpc>
                  <a:spcPct val="100000"/>
                </a:lnSpc>
                <a:spcBef>
                  <a:spcPts val="450"/>
                </a:spcBef>
                <a:buClr>
                  <a:srgbClr val="C8003C"/>
                </a:buClr>
                <a:buSzPct val="80000"/>
                <a:buFont typeface="Wingdings" panose="05000000000000000000" pitchFamily="2" charset="2"/>
                <a:buChar char="l"/>
                <a:defRPr kumimoji="1" sz="1100" b="0" i="0" kern="1200" baseline="0">
                  <a:solidFill>
                    <a:srgbClr val="404040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685800" rtl="0" eaLnBrk="1" latinLnBrk="0" hangingPunct="1">
                <a:lnSpc>
                  <a:spcPct val="100000"/>
                </a:lnSpc>
                <a:spcBef>
                  <a:spcPts val="450"/>
                </a:spcBef>
                <a:buClr>
                  <a:srgbClr val="001F6B"/>
                </a:buClr>
                <a:buSzPct val="80000"/>
                <a:buFont typeface="Meiryo UI" panose="020B0604030504040204" pitchFamily="50" charset="-128"/>
                <a:buChar char="━"/>
                <a:defRPr kumimoji="1" sz="1100" b="0" i="0" kern="1200" baseline="0">
                  <a:solidFill>
                    <a:srgbClr val="404040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685800" rtl="0" eaLnBrk="1" latinLnBrk="0" hangingPunct="1">
                <a:lnSpc>
                  <a:spcPct val="100000"/>
                </a:lnSpc>
                <a:spcBef>
                  <a:spcPts val="450"/>
                </a:spcBef>
                <a:buClr>
                  <a:srgbClr val="001F6B"/>
                </a:buClr>
                <a:buSzPct val="80000"/>
                <a:buFont typeface="Wingdings" panose="05000000000000000000" pitchFamily="2" charset="2"/>
                <a:buChar char="u"/>
                <a:defRPr kumimoji="1" sz="1100" b="0" i="0" kern="1200" baseline="0">
                  <a:solidFill>
                    <a:srgbClr val="404040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685800" rtl="0" eaLnBrk="1" latinLnBrk="0" hangingPunct="1">
                <a:lnSpc>
                  <a:spcPct val="100000"/>
                </a:lnSpc>
                <a:spcBef>
                  <a:spcPts val="450"/>
                </a:spcBef>
                <a:buClr>
                  <a:srgbClr val="001F6B"/>
                </a:buClr>
                <a:buSzPct val="80000"/>
                <a:buFont typeface="Arial" panose="020B0604020202020204" pitchFamily="34" charset="0"/>
                <a:buChar char="•"/>
                <a:defRPr kumimoji="1" sz="1100" b="0" i="0" kern="1200" baseline="0">
                  <a:solidFill>
                    <a:srgbClr val="404040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4400">
                <a:lnSpc>
                  <a:spcPts val="1300"/>
                </a:lnSpc>
                <a:spcBef>
                  <a:spcPts val="0"/>
                </a:spcBef>
                <a:buClrTx/>
                <a:buSzTx/>
                <a:buNone/>
                <a:defRPr/>
              </a:pPr>
              <a:r>
                <a:rPr lang="zh-TW" altLang="en-US" sz="1000" b="1" kern="0" dirty="0">
                  <a:solidFill>
                    <a:srgbClr val="FF0000"/>
                  </a:solidFill>
                  <a:latin typeface="+mj-lt"/>
                  <a:ea typeface="Meiryo UI" panose="020B0604030504040204" pitchFamily="34" charset="-128"/>
                </a:rPr>
                <a:t>主</a:t>
              </a:r>
              <a:r>
                <a:rPr lang="en-US" altLang="zh-TW" sz="1000" b="1" kern="0" dirty="0">
                  <a:solidFill>
                    <a:srgbClr val="FF0000"/>
                  </a:solidFill>
                  <a:latin typeface="+mj-lt"/>
                  <a:ea typeface="Meiryo UI" panose="020B0604030504040204" pitchFamily="34" charset="-128"/>
                </a:rPr>
                <a:t>:</a:t>
              </a:r>
              <a:r>
                <a:rPr lang="zh-TW" altLang="zh-TW" sz="1000" b="1" dirty="0">
                  <a:solidFill>
                    <a:srgbClr val="FF0000"/>
                  </a:solidFill>
                  <a:latin typeface="+mj-lt"/>
                  <a:ea typeface="Meiryo UI" panose="020B0604030504040204" pitchFamily="34" charset="-128"/>
                </a:rPr>
                <a:t>大內</a:t>
              </a:r>
              <a:r>
                <a:rPr lang="ja-JP" altLang="zh-TW" sz="1000" b="1" dirty="0">
                  <a:solidFill>
                    <a:srgbClr val="FF0000"/>
                  </a:solidFill>
                  <a:latin typeface="+mj-lt"/>
                  <a:ea typeface="Meiryo UI" panose="020B0604030504040204" pitchFamily="34" charset="-128"/>
                </a:rPr>
                <a:t>さん</a:t>
              </a:r>
              <a:r>
                <a:rPr lang="zh-TW" altLang="en-US" sz="1000" b="1" kern="0" dirty="0">
                  <a:solidFill>
                    <a:schemeClr val="tx1"/>
                  </a:solidFill>
                  <a:latin typeface="+mj-lt"/>
                  <a:ea typeface="Meiryo UI" panose="020B0604030504040204" pitchFamily="34" charset="-128"/>
                </a:rPr>
                <a:t>、</a:t>
              </a:r>
              <a:endParaRPr lang="en-US" altLang="zh-TW" sz="1000" b="1" kern="0" dirty="0">
                <a:solidFill>
                  <a:schemeClr val="tx1"/>
                </a:solidFill>
                <a:latin typeface="+mj-lt"/>
                <a:ea typeface="Meiryo UI" panose="020B0604030504040204" pitchFamily="34" charset="-128"/>
              </a:endParaRPr>
            </a:p>
            <a:p>
              <a:pPr defTabSz="914400">
                <a:lnSpc>
                  <a:spcPts val="1300"/>
                </a:lnSpc>
                <a:spcBef>
                  <a:spcPts val="0"/>
                </a:spcBef>
                <a:buClrTx/>
                <a:buSzTx/>
                <a:buNone/>
                <a:defRPr/>
              </a:pPr>
              <a:r>
                <a:rPr lang="zh-TW" altLang="en-US" sz="1000" b="1" kern="0" dirty="0">
                  <a:solidFill>
                    <a:srgbClr val="0000FF"/>
                  </a:solidFill>
                  <a:latin typeface="+mj-lt"/>
                  <a:ea typeface="Meiryo UI" panose="020B0604030504040204" pitchFamily="34" charset="-128"/>
                </a:rPr>
                <a:t>主</a:t>
              </a:r>
              <a:r>
                <a:rPr lang="en-US" altLang="zh-TW" sz="1000" b="1" kern="0" dirty="0">
                  <a:solidFill>
                    <a:srgbClr val="0000FF"/>
                  </a:solidFill>
                  <a:latin typeface="+mj-lt"/>
                  <a:ea typeface="Meiryo UI" panose="020B0604030504040204" pitchFamily="34" charset="-128"/>
                </a:rPr>
                <a:t>:</a:t>
              </a:r>
              <a:r>
                <a:rPr lang="zh-TW" altLang="zh-TW" sz="1000" b="1" dirty="0">
                  <a:solidFill>
                    <a:srgbClr val="0000FF"/>
                  </a:solidFill>
                  <a:latin typeface="+mj-lt"/>
                  <a:ea typeface="Meiryo UI" panose="020B0604030504040204" pitchFamily="34" charset="-128"/>
                </a:rPr>
                <a:t>黃乙原</a:t>
              </a:r>
              <a:r>
                <a:rPr lang="zh-TW" altLang="en-US" sz="1000" b="1" kern="0" dirty="0">
                  <a:solidFill>
                    <a:srgbClr val="0000FF"/>
                  </a:solidFill>
                  <a:latin typeface="+mj-lt"/>
                  <a:ea typeface="Meiryo UI" panose="020B0604030504040204" pitchFamily="34" charset="-128"/>
                </a:rPr>
                <a:t>、</a:t>
              </a:r>
              <a:endParaRPr lang="en-US" altLang="zh-TW" sz="1000" b="1" kern="0" dirty="0">
                <a:solidFill>
                  <a:srgbClr val="0000FF"/>
                </a:solidFill>
                <a:latin typeface="+mj-lt"/>
                <a:ea typeface="Meiryo UI" panose="020B0604030504040204" pitchFamily="34" charset="-128"/>
              </a:endParaRPr>
            </a:p>
            <a:p>
              <a:pPr defTabSz="914400">
                <a:lnSpc>
                  <a:spcPts val="1300"/>
                </a:lnSpc>
                <a:spcBef>
                  <a:spcPts val="0"/>
                </a:spcBef>
                <a:buClrTx/>
                <a:buSzTx/>
                <a:buNone/>
                <a:defRPr/>
              </a:pPr>
              <a:r>
                <a:rPr lang="zh-TW" altLang="en-US" sz="1000" b="1" kern="0" dirty="0">
                  <a:solidFill>
                    <a:srgbClr val="009644"/>
                  </a:solidFill>
                  <a:latin typeface="+mj-lt"/>
                  <a:ea typeface="Meiryo UI" panose="020B0604030504040204" pitchFamily="34" charset="-128"/>
                </a:rPr>
                <a:t>主</a:t>
              </a:r>
              <a:r>
                <a:rPr lang="en-US" altLang="zh-TW" sz="1000" b="1" kern="0" dirty="0">
                  <a:solidFill>
                    <a:srgbClr val="009644"/>
                  </a:solidFill>
                  <a:latin typeface="+mj-lt"/>
                  <a:ea typeface="Meiryo UI" panose="020B0604030504040204" pitchFamily="34" charset="-128"/>
                </a:rPr>
                <a:t>:</a:t>
              </a:r>
              <a:r>
                <a:rPr lang="zh-TW" altLang="en-US" sz="1000" b="1" dirty="0">
                  <a:solidFill>
                    <a:srgbClr val="009644"/>
                  </a:solidFill>
                  <a:latin typeface="+mj-lt"/>
                  <a:ea typeface="Meiryo UI" panose="020B0604030504040204" pitchFamily="34" charset="-128"/>
                </a:rPr>
                <a:t>鄭東洋</a:t>
              </a:r>
              <a:r>
                <a:rPr lang="zh-TW" altLang="en-US" sz="1000" b="1" kern="0" dirty="0">
                  <a:solidFill>
                    <a:srgbClr val="009644"/>
                  </a:solidFill>
                  <a:latin typeface="+mj-lt"/>
                  <a:ea typeface="Meiryo UI" panose="020B0604030504040204" pitchFamily="34" charset="-128"/>
                </a:rPr>
                <a:t>、</a:t>
              </a:r>
              <a:endParaRPr lang="ja-JP" altLang="en-US" sz="1000" b="1" kern="0" dirty="0">
                <a:solidFill>
                  <a:srgbClr val="009644"/>
                </a:solidFill>
                <a:latin typeface="+mj-lt"/>
                <a:ea typeface="Meiryo UI" panose="020B0604030504040204" pitchFamily="34" charset="-128"/>
              </a:endParaRPr>
            </a:p>
          </p:txBody>
        </p:sp>
        <p:sp>
          <p:nvSpPr>
            <p:cNvPr id="6" name="正方形/長方形 2">
              <a:extLst>
                <a:ext uri="{FF2B5EF4-FFF2-40B4-BE49-F238E27FC236}">
                  <a16:creationId xmlns:a16="http://schemas.microsoft.com/office/drawing/2014/main" id="{C5F1C381-7AD7-2876-0AC5-EE4BCB410C67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3513708" y="974512"/>
              <a:ext cx="748923" cy="576248"/>
            </a:xfrm>
            <a:prstGeom prst="rect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vert="horz" wrap="none" lIns="91440" tIns="45720" rIns="91440" bIns="45720" rtlCol="0" anchor="ctr">
              <a:spAutoFit/>
            </a:bodyPr>
            <a:lstStyle>
              <a:lvl1pPr marL="0" indent="0" algn="l" defTabSz="685800" rtl="0" eaLnBrk="1" latinLnBrk="0" hangingPunct="1">
                <a:lnSpc>
                  <a:spcPct val="100000"/>
                </a:lnSpc>
                <a:spcBef>
                  <a:spcPts val="450"/>
                </a:spcBef>
                <a:buClr>
                  <a:srgbClr val="001F6B"/>
                </a:buClr>
                <a:buSzPct val="80000"/>
                <a:buFont typeface="Wingdings" panose="05000000000000000000" pitchFamily="2" charset="2"/>
                <a:buChar char="n"/>
                <a:defRPr kumimoji="1" lang="ja-JP" altLang="en-US" sz="1100" b="0" i="0" kern="1200" baseline="0">
                  <a:solidFill>
                    <a:srgbClr val="404040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685800" rtl="0" eaLnBrk="1" latinLnBrk="0" hangingPunct="1">
                <a:lnSpc>
                  <a:spcPct val="100000"/>
                </a:lnSpc>
                <a:spcBef>
                  <a:spcPts val="450"/>
                </a:spcBef>
                <a:buClr>
                  <a:srgbClr val="C8003C"/>
                </a:buClr>
                <a:buSzPct val="80000"/>
                <a:buFont typeface="Wingdings" panose="05000000000000000000" pitchFamily="2" charset="2"/>
                <a:buChar char="l"/>
                <a:defRPr kumimoji="1" sz="1100" b="0" i="0" kern="1200" baseline="0">
                  <a:solidFill>
                    <a:srgbClr val="404040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685800" rtl="0" eaLnBrk="1" latinLnBrk="0" hangingPunct="1">
                <a:lnSpc>
                  <a:spcPct val="100000"/>
                </a:lnSpc>
                <a:spcBef>
                  <a:spcPts val="450"/>
                </a:spcBef>
                <a:buClr>
                  <a:srgbClr val="001F6B"/>
                </a:buClr>
                <a:buSzPct val="80000"/>
                <a:buFont typeface="Meiryo UI" panose="020B0604030504040204" pitchFamily="50" charset="-128"/>
                <a:buChar char="━"/>
                <a:defRPr kumimoji="1" sz="1100" b="0" i="0" kern="1200" baseline="0">
                  <a:solidFill>
                    <a:srgbClr val="404040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685800" rtl="0" eaLnBrk="1" latinLnBrk="0" hangingPunct="1">
                <a:lnSpc>
                  <a:spcPct val="100000"/>
                </a:lnSpc>
                <a:spcBef>
                  <a:spcPts val="450"/>
                </a:spcBef>
                <a:buClr>
                  <a:srgbClr val="001F6B"/>
                </a:buClr>
                <a:buSzPct val="80000"/>
                <a:buFont typeface="Wingdings" panose="05000000000000000000" pitchFamily="2" charset="2"/>
                <a:buChar char="u"/>
                <a:defRPr kumimoji="1" sz="1100" b="0" i="0" kern="1200" baseline="0">
                  <a:solidFill>
                    <a:srgbClr val="404040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685800" rtl="0" eaLnBrk="1" latinLnBrk="0" hangingPunct="1">
                <a:lnSpc>
                  <a:spcPct val="100000"/>
                </a:lnSpc>
                <a:spcBef>
                  <a:spcPts val="450"/>
                </a:spcBef>
                <a:buClr>
                  <a:srgbClr val="001F6B"/>
                </a:buClr>
                <a:buSzPct val="80000"/>
                <a:buFont typeface="Arial" panose="020B0604020202020204" pitchFamily="34" charset="0"/>
                <a:buChar char="•"/>
                <a:defRPr kumimoji="1" sz="1100" b="0" i="0" kern="1200" baseline="0">
                  <a:solidFill>
                    <a:srgbClr val="404040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4400">
                <a:lnSpc>
                  <a:spcPts val="1300"/>
                </a:lnSpc>
                <a:spcBef>
                  <a:spcPts val="0"/>
                </a:spcBef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lang="ja-JP" altLang="en-US" sz="1000" b="1" kern="0" dirty="0">
                  <a:solidFill>
                    <a:srgbClr val="FF0000"/>
                  </a:solidFill>
                  <a:latin typeface="+mj-lt"/>
                  <a:ea typeface="Meiryo UI" panose="020B0604030504040204" pitchFamily="34" charset="-128"/>
                </a:rPr>
                <a:t>副</a:t>
              </a:r>
              <a:r>
                <a:rPr lang="en-US" altLang="ja-JP" sz="1000" b="1" kern="0" dirty="0">
                  <a:solidFill>
                    <a:srgbClr val="FF0000"/>
                  </a:solidFill>
                  <a:latin typeface="+mj-lt"/>
                  <a:ea typeface="Meiryo UI" panose="020B0604030504040204" pitchFamily="34" charset="-128"/>
                </a:rPr>
                <a:t>:</a:t>
              </a:r>
              <a:r>
                <a:rPr lang="ja-JP" altLang="en-US" sz="1000" b="1" kern="0" dirty="0">
                  <a:solidFill>
                    <a:srgbClr val="FF0000"/>
                  </a:solidFill>
                  <a:latin typeface="+mj-lt"/>
                  <a:ea typeface="Meiryo UI" panose="020B0604030504040204" pitchFamily="34" charset="-128"/>
                </a:rPr>
                <a:t>蔡明建</a:t>
              </a:r>
              <a:endParaRPr lang="en-US" altLang="ja-JP" sz="1000" b="1" kern="0" dirty="0">
                <a:solidFill>
                  <a:srgbClr val="FF0000"/>
                </a:solidFill>
                <a:latin typeface="+mj-lt"/>
                <a:ea typeface="Meiryo UI" panose="020B0604030504040204" pitchFamily="34" charset="-128"/>
              </a:endParaRPr>
            </a:p>
            <a:p>
              <a:pPr defTabSz="914400">
                <a:lnSpc>
                  <a:spcPts val="1300"/>
                </a:lnSpc>
                <a:spcBef>
                  <a:spcPts val="0"/>
                </a:spcBef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lang="ja-JP" altLang="en-US" sz="1000" b="1" kern="0" dirty="0">
                  <a:solidFill>
                    <a:srgbClr val="0000FF"/>
                  </a:solidFill>
                  <a:latin typeface="+mj-lt"/>
                  <a:ea typeface="Meiryo UI" panose="020B0604030504040204" pitchFamily="34" charset="-128"/>
                </a:rPr>
                <a:t>副</a:t>
              </a:r>
              <a:r>
                <a:rPr lang="en-US" altLang="ja-JP" sz="1000" b="1" kern="0" dirty="0">
                  <a:solidFill>
                    <a:srgbClr val="0000FF"/>
                  </a:solidFill>
                  <a:latin typeface="+mj-lt"/>
                  <a:ea typeface="Meiryo UI" panose="020B0604030504040204" pitchFamily="34" charset="-128"/>
                </a:rPr>
                <a:t>:</a:t>
              </a:r>
              <a:r>
                <a:rPr lang="ja-JP" altLang="en-US" sz="1000" b="1" dirty="0">
                  <a:solidFill>
                    <a:srgbClr val="0000FF"/>
                  </a:solidFill>
                  <a:latin typeface="+mj-lt"/>
                  <a:ea typeface="Meiryo UI" panose="020B0604030504040204" pitchFamily="34" charset="-128"/>
                </a:rPr>
                <a:t>張富羿</a:t>
              </a:r>
              <a:endParaRPr lang="ja-JP" altLang="en-US" sz="1000" b="1" kern="0" dirty="0">
                <a:solidFill>
                  <a:srgbClr val="0000FF"/>
                </a:solidFill>
                <a:latin typeface="+mj-lt"/>
                <a:ea typeface="Meiryo UI" panose="020B0604030504040204" pitchFamily="34" charset="-128"/>
              </a:endParaRPr>
            </a:p>
            <a:p>
              <a:pPr defTabSz="914400">
                <a:lnSpc>
                  <a:spcPts val="1300"/>
                </a:lnSpc>
                <a:spcBef>
                  <a:spcPts val="0"/>
                </a:spcBef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lang="ja-JP" altLang="en-US" sz="1000" b="1" kern="0" dirty="0">
                  <a:solidFill>
                    <a:srgbClr val="009644"/>
                  </a:solidFill>
                  <a:latin typeface="+mj-lt"/>
                  <a:ea typeface="Meiryo UI" panose="020B0604030504040204" pitchFamily="34" charset="-128"/>
                </a:rPr>
                <a:t>副</a:t>
              </a:r>
              <a:r>
                <a:rPr lang="en-US" altLang="ja-JP" sz="1000" b="1" kern="0" dirty="0">
                  <a:solidFill>
                    <a:srgbClr val="009644"/>
                  </a:solidFill>
                  <a:latin typeface="+mj-lt"/>
                  <a:ea typeface="Meiryo UI" panose="020B0604030504040204" pitchFamily="34" charset="-128"/>
                </a:rPr>
                <a:t>:</a:t>
              </a:r>
              <a:r>
                <a:rPr lang="ja-JP" altLang="en-US" sz="1000" b="1" dirty="0">
                  <a:solidFill>
                    <a:srgbClr val="009644"/>
                  </a:solidFill>
                  <a:latin typeface="+mj-lt"/>
                  <a:ea typeface="Meiryo UI" panose="020B0604030504040204" pitchFamily="34" charset="-128"/>
                </a:rPr>
                <a:t>林嘉彬</a:t>
              </a:r>
              <a:endParaRPr lang="ja-JP" altLang="en-US" sz="1000" b="1" kern="0" dirty="0">
                <a:solidFill>
                  <a:srgbClr val="009644"/>
                </a:solidFill>
                <a:latin typeface="+mj-lt"/>
                <a:ea typeface="Meiryo UI" panose="020B0604030504040204" pitchFamily="34" charset="-128"/>
              </a:endParaRPr>
            </a:p>
          </p:txBody>
        </p:sp>
        <p:sp>
          <p:nvSpPr>
            <p:cNvPr id="24" name="正方形/長方形 2">
              <a:extLst>
                <a:ext uri="{FF2B5EF4-FFF2-40B4-BE49-F238E27FC236}">
                  <a16:creationId xmlns:a16="http://schemas.microsoft.com/office/drawing/2014/main" id="{961C5FD7-CF1A-FDEF-1FEA-4E4CC6D97A10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187300" y="974512"/>
              <a:ext cx="1402948" cy="576248"/>
            </a:xfrm>
            <a:prstGeom prst="rect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vert="horz" wrap="none" lIns="91440" tIns="45720" rIns="91440" bIns="45720" rtlCol="0" anchor="ctr">
              <a:spAutoFit/>
            </a:bodyPr>
            <a:lstStyle>
              <a:lvl1pPr marL="0" indent="0" algn="l" defTabSz="685800" rtl="0" eaLnBrk="1" latinLnBrk="0" hangingPunct="1">
                <a:lnSpc>
                  <a:spcPct val="100000"/>
                </a:lnSpc>
                <a:spcBef>
                  <a:spcPts val="450"/>
                </a:spcBef>
                <a:buClr>
                  <a:srgbClr val="001F6B"/>
                </a:buClr>
                <a:buSzPct val="80000"/>
                <a:buFont typeface="Wingdings" panose="05000000000000000000" pitchFamily="2" charset="2"/>
                <a:buChar char="n"/>
                <a:defRPr kumimoji="1" lang="ja-JP" altLang="en-US" sz="1100" b="0" i="0" kern="1200" baseline="0">
                  <a:solidFill>
                    <a:srgbClr val="404040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685800" rtl="0" eaLnBrk="1" latinLnBrk="0" hangingPunct="1">
                <a:lnSpc>
                  <a:spcPct val="100000"/>
                </a:lnSpc>
                <a:spcBef>
                  <a:spcPts val="450"/>
                </a:spcBef>
                <a:buClr>
                  <a:srgbClr val="C8003C"/>
                </a:buClr>
                <a:buSzPct val="80000"/>
                <a:buFont typeface="Wingdings" panose="05000000000000000000" pitchFamily="2" charset="2"/>
                <a:buChar char="l"/>
                <a:defRPr kumimoji="1" sz="1100" b="0" i="0" kern="1200" baseline="0">
                  <a:solidFill>
                    <a:srgbClr val="404040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685800" rtl="0" eaLnBrk="1" latinLnBrk="0" hangingPunct="1">
                <a:lnSpc>
                  <a:spcPct val="100000"/>
                </a:lnSpc>
                <a:spcBef>
                  <a:spcPts val="450"/>
                </a:spcBef>
                <a:buClr>
                  <a:srgbClr val="001F6B"/>
                </a:buClr>
                <a:buSzPct val="80000"/>
                <a:buFont typeface="Meiryo UI" panose="020B0604030504040204" pitchFamily="50" charset="-128"/>
                <a:buChar char="━"/>
                <a:defRPr kumimoji="1" sz="1100" b="0" i="0" kern="1200" baseline="0">
                  <a:solidFill>
                    <a:srgbClr val="404040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685800" rtl="0" eaLnBrk="1" latinLnBrk="0" hangingPunct="1">
                <a:lnSpc>
                  <a:spcPct val="100000"/>
                </a:lnSpc>
                <a:spcBef>
                  <a:spcPts val="450"/>
                </a:spcBef>
                <a:buClr>
                  <a:srgbClr val="001F6B"/>
                </a:buClr>
                <a:buSzPct val="80000"/>
                <a:buFont typeface="Wingdings" panose="05000000000000000000" pitchFamily="2" charset="2"/>
                <a:buChar char="u"/>
                <a:defRPr kumimoji="1" sz="1100" b="0" i="0" kern="1200" baseline="0">
                  <a:solidFill>
                    <a:srgbClr val="404040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685800" rtl="0" eaLnBrk="1" latinLnBrk="0" hangingPunct="1">
                <a:lnSpc>
                  <a:spcPct val="100000"/>
                </a:lnSpc>
                <a:spcBef>
                  <a:spcPts val="450"/>
                </a:spcBef>
                <a:buClr>
                  <a:srgbClr val="001F6B"/>
                </a:buClr>
                <a:buSzPct val="80000"/>
                <a:buFont typeface="Arial" panose="020B0604020202020204" pitchFamily="34" charset="0"/>
                <a:buChar char="•"/>
                <a:defRPr kumimoji="1" sz="1100" b="0" i="0" kern="1200" baseline="0">
                  <a:solidFill>
                    <a:srgbClr val="404040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4400">
                <a:lnSpc>
                  <a:spcPts val="1300"/>
                </a:lnSpc>
                <a:spcBef>
                  <a:spcPts val="0"/>
                </a:spcBef>
                <a:buClrTx/>
                <a:buSzTx/>
                <a:buNone/>
                <a:defRPr/>
              </a:pPr>
              <a:r>
                <a:rPr lang="ja-JP" altLang="en-US" sz="1000" b="1" kern="0" dirty="0">
                  <a:solidFill>
                    <a:srgbClr val="FF0000"/>
                  </a:solidFill>
                  <a:latin typeface="+mj-lt"/>
                  <a:ea typeface="Meiryo UI" panose="020B0604030504040204" pitchFamily="34" charset="-128"/>
                </a:rPr>
                <a:t>リーダー</a:t>
              </a:r>
              <a:endParaRPr lang="en-US" altLang="ja-JP" sz="1000" b="1" kern="0" dirty="0">
                <a:solidFill>
                  <a:srgbClr val="FF0000"/>
                </a:solidFill>
                <a:latin typeface="+mj-lt"/>
                <a:ea typeface="Meiryo UI" panose="020B0604030504040204" pitchFamily="34" charset="-128"/>
              </a:endParaRPr>
            </a:p>
            <a:p>
              <a:pPr defTabSz="914400">
                <a:lnSpc>
                  <a:spcPts val="1300"/>
                </a:lnSpc>
                <a:spcBef>
                  <a:spcPts val="0"/>
                </a:spcBef>
                <a:buClrTx/>
                <a:buSzTx/>
                <a:buNone/>
                <a:defRPr/>
              </a:pPr>
              <a:r>
                <a:rPr lang="zh-TW" altLang="en-US" sz="1000" b="1" kern="0" dirty="0">
                  <a:solidFill>
                    <a:srgbClr val="0000FF"/>
                  </a:solidFill>
                  <a:latin typeface="+mj-lt"/>
                  <a:ea typeface="Meiryo UI" panose="020B0604030504040204" pitchFamily="34" charset="-128"/>
                </a:rPr>
                <a:t>担当</a:t>
              </a:r>
              <a:r>
                <a:rPr lang="en-US" altLang="zh-TW" sz="1000" b="1" kern="0" dirty="0">
                  <a:solidFill>
                    <a:srgbClr val="0000FF"/>
                  </a:solidFill>
                  <a:latin typeface="+mj-lt"/>
                  <a:ea typeface="Meiryo UI" panose="020B0604030504040204" pitchFamily="34" charset="-128"/>
                </a:rPr>
                <a:t>(</a:t>
              </a:r>
              <a:r>
                <a:rPr lang="ja-JP" altLang="en-US" sz="1000" b="1" dirty="0">
                  <a:solidFill>
                    <a:srgbClr val="0000FF"/>
                  </a:solidFill>
                  <a:latin typeface="+mj-lt"/>
                </a:rPr>
                <a:t>機械系・電気系</a:t>
              </a:r>
              <a:r>
                <a:rPr lang="en-US" altLang="zh-TW" sz="1000" b="1" dirty="0">
                  <a:solidFill>
                    <a:srgbClr val="0000FF"/>
                  </a:solidFill>
                  <a:latin typeface="+mj-lt"/>
                </a:rPr>
                <a:t>)</a:t>
              </a:r>
            </a:p>
            <a:p>
              <a:pPr defTabSz="914400">
                <a:lnSpc>
                  <a:spcPts val="1300"/>
                </a:lnSpc>
                <a:spcBef>
                  <a:spcPts val="0"/>
                </a:spcBef>
                <a:buClrTx/>
                <a:buSzTx/>
                <a:buNone/>
                <a:defRPr/>
              </a:pPr>
              <a:r>
                <a:rPr lang="zh-TW" altLang="en-US" sz="1000" b="1" kern="0" dirty="0">
                  <a:solidFill>
                    <a:srgbClr val="009644"/>
                  </a:solidFill>
                  <a:latin typeface="+mj-lt"/>
                  <a:ea typeface="Meiryo UI" panose="020B0604030504040204" pitchFamily="34" charset="-128"/>
                </a:rPr>
                <a:t>担当</a:t>
              </a:r>
              <a:r>
                <a:rPr lang="en-US" altLang="zh-TW" sz="1000" b="1" kern="0" dirty="0">
                  <a:solidFill>
                    <a:srgbClr val="009644"/>
                  </a:solidFill>
                  <a:latin typeface="+mj-lt"/>
                  <a:ea typeface="Meiryo UI" panose="020B0604030504040204" pitchFamily="34" charset="-128"/>
                </a:rPr>
                <a:t>(</a:t>
              </a:r>
              <a:r>
                <a:rPr lang="ja-JP" altLang="en-US" sz="1000" b="1" dirty="0">
                  <a:solidFill>
                    <a:srgbClr val="009644"/>
                  </a:solidFill>
                  <a:latin typeface="+mj-lt"/>
                </a:rPr>
                <a:t>検査機系</a:t>
              </a:r>
              <a:r>
                <a:rPr lang="en-US" altLang="zh-TW" sz="1000" b="1" dirty="0">
                  <a:solidFill>
                    <a:srgbClr val="009644"/>
                  </a:solidFill>
                  <a:latin typeface="+mj-lt"/>
                </a:rPr>
                <a:t>)</a:t>
              </a:r>
              <a:endParaRPr lang="en-US" altLang="zh-TW" sz="1000" b="1" kern="0" dirty="0">
                <a:solidFill>
                  <a:srgbClr val="009644"/>
                </a:solidFill>
                <a:latin typeface="+mj-lt"/>
                <a:ea typeface="Meiryo UI" panose="020B0604030504040204" pitchFamily="34" charset="-128"/>
              </a:endParaRPr>
            </a:p>
          </p:txBody>
        </p:sp>
      </p:grpSp>
      <p:grpSp>
        <p:nvGrpSpPr>
          <p:cNvPr id="87" name="群組 86">
            <a:extLst>
              <a:ext uri="{FF2B5EF4-FFF2-40B4-BE49-F238E27FC236}">
                <a16:creationId xmlns:a16="http://schemas.microsoft.com/office/drawing/2014/main" id="{9FDF1340-495D-C518-94F7-0E3EBBCB06AB}"/>
              </a:ext>
            </a:extLst>
          </p:cNvPr>
          <p:cNvGrpSpPr/>
          <p:nvPr/>
        </p:nvGrpSpPr>
        <p:grpSpPr>
          <a:xfrm>
            <a:off x="5126993" y="777402"/>
            <a:ext cx="3799633" cy="3818102"/>
            <a:chOff x="5126993" y="777402"/>
            <a:chExt cx="3799633" cy="3818102"/>
          </a:xfrm>
        </p:grpSpPr>
        <p:sp>
          <p:nvSpPr>
            <p:cNvPr id="25" name="正方形/長方形 2">
              <a:extLst>
                <a:ext uri="{FF2B5EF4-FFF2-40B4-BE49-F238E27FC236}">
                  <a16:creationId xmlns:a16="http://schemas.microsoft.com/office/drawing/2014/main" id="{33864161-1F44-E993-8CC9-2660F6F7B14E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6360513" y="857305"/>
              <a:ext cx="1563248" cy="307777"/>
            </a:xfrm>
            <a:prstGeom prst="rect">
              <a:avLst/>
            </a:prstGeom>
            <a:solidFill>
              <a:srgbClr val="FFFF00"/>
            </a:solidFill>
            <a:ln w="9525" cap="flat" cmpd="sng" algn="ctr">
              <a:solidFill>
                <a:srgbClr val="FF0000"/>
              </a:solidFill>
              <a:prstDash val="solid"/>
            </a:ln>
            <a:effectLst/>
          </p:spPr>
          <p:txBody>
            <a:bodyPr vert="horz" wrap="none" lIns="91440" tIns="45720" rIns="91440" bIns="45720" rtlCol="0" anchor="ctr">
              <a:spAutoFit/>
            </a:bodyPr>
            <a:lstStyle>
              <a:lvl1pPr marL="0" indent="0" algn="l" defTabSz="685800" rtl="0" eaLnBrk="1" latinLnBrk="0" hangingPunct="1">
                <a:lnSpc>
                  <a:spcPct val="100000"/>
                </a:lnSpc>
                <a:spcBef>
                  <a:spcPts val="450"/>
                </a:spcBef>
                <a:buClr>
                  <a:srgbClr val="001F6B"/>
                </a:buClr>
                <a:buSzPct val="80000"/>
                <a:buFont typeface="Wingdings" panose="05000000000000000000" pitchFamily="2" charset="2"/>
                <a:buChar char="n"/>
                <a:defRPr kumimoji="1" lang="ja-JP" altLang="en-US" sz="1100" b="0" i="0" kern="1200" baseline="0">
                  <a:solidFill>
                    <a:srgbClr val="404040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685800" rtl="0" eaLnBrk="1" latinLnBrk="0" hangingPunct="1">
                <a:lnSpc>
                  <a:spcPct val="100000"/>
                </a:lnSpc>
                <a:spcBef>
                  <a:spcPts val="450"/>
                </a:spcBef>
                <a:buClr>
                  <a:srgbClr val="C8003C"/>
                </a:buClr>
                <a:buSzPct val="80000"/>
                <a:buFont typeface="Wingdings" panose="05000000000000000000" pitchFamily="2" charset="2"/>
                <a:buChar char="l"/>
                <a:defRPr kumimoji="1" sz="1100" b="0" i="0" kern="1200" baseline="0">
                  <a:solidFill>
                    <a:srgbClr val="404040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685800" rtl="0" eaLnBrk="1" latinLnBrk="0" hangingPunct="1">
                <a:lnSpc>
                  <a:spcPct val="100000"/>
                </a:lnSpc>
                <a:spcBef>
                  <a:spcPts val="450"/>
                </a:spcBef>
                <a:buClr>
                  <a:srgbClr val="001F6B"/>
                </a:buClr>
                <a:buSzPct val="80000"/>
                <a:buFont typeface="Meiryo UI" panose="020B0604030504040204" pitchFamily="50" charset="-128"/>
                <a:buChar char="━"/>
                <a:defRPr kumimoji="1" sz="1100" b="0" i="0" kern="1200" baseline="0">
                  <a:solidFill>
                    <a:srgbClr val="404040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685800" rtl="0" eaLnBrk="1" latinLnBrk="0" hangingPunct="1">
                <a:lnSpc>
                  <a:spcPct val="100000"/>
                </a:lnSpc>
                <a:spcBef>
                  <a:spcPts val="450"/>
                </a:spcBef>
                <a:buClr>
                  <a:srgbClr val="001F6B"/>
                </a:buClr>
                <a:buSzPct val="80000"/>
                <a:buFont typeface="Wingdings" panose="05000000000000000000" pitchFamily="2" charset="2"/>
                <a:buChar char="u"/>
                <a:defRPr kumimoji="1" sz="1100" b="0" i="0" kern="1200" baseline="0">
                  <a:solidFill>
                    <a:srgbClr val="404040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685800" rtl="0" eaLnBrk="1" latinLnBrk="0" hangingPunct="1">
                <a:lnSpc>
                  <a:spcPct val="100000"/>
                </a:lnSpc>
                <a:spcBef>
                  <a:spcPts val="450"/>
                </a:spcBef>
                <a:buClr>
                  <a:srgbClr val="001F6B"/>
                </a:buClr>
                <a:buSzPct val="80000"/>
                <a:buFont typeface="Arial" panose="020B0604020202020204" pitchFamily="34" charset="0"/>
                <a:buChar char="•"/>
                <a:defRPr kumimoji="1" sz="1100" b="0" i="0" kern="1200" baseline="0">
                  <a:solidFill>
                    <a:srgbClr val="404040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>
                <a:spcBef>
                  <a:spcPts val="0"/>
                </a:spcBef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lang="zh-TW" altLang="en-US" sz="1400" b="1" kern="0" dirty="0">
                  <a:solidFill>
                    <a:sysClr val="windowText" lastClr="000000"/>
                  </a:solidFill>
                  <a:ea typeface="Meiryo UI" panose="020B0604030504040204" pitchFamily="34" charset="-128"/>
                </a:rPr>
                <a:t>擔當者</a:t>
              </a:r>
              <a:r>
                <a:rPr lang="en-US" altLang="zh-TW" sz="1400" b="1" kern="0" dirty="0">
                  <a:solidFill>
                    <a:sysClr val="windowText" lastClr="000000"/>
                  </a:solidFill>
                  <a:ea typeface="Meiryo UI" panose="020B0604030504040204" pitchFamily="34" charset="-128"/>
                </a:rPr>
                <a:t>_</a:t>
              </a:r>
              <a:r>
                <a:rPr lang="zh-TW" altLang="en-US" sz="1400" b="1" kern="0" dirty="0">
                  <a:solidFill>
                    <a:sysClr val="windowText" lastClr="000000"/>
                  </a:solidFill>
                  <a:ea typeface="Meiryo UI" panose="020B0604030504040204" pitchFamily="34" charset="-128"/>
                </a:rPr>
                <a:t>組織架構</a:t>
              </a:r>
              <a:endParaRPr lang="ja-JP" altLang="en-US" sz="1200" b="1" kern="0" dirty="0">
                <a:solidFill>
                  <a:sysClr val="windowText" lastClr="000000"/>
                </a:solidFill>
                <a:latin typeface="Meiryo UI" panose="020B0604030504040204" pitchFamily="34" charset="-128"/>
                <a:ea typeface="Meiryo UI" panose="020B0604030504040204" pitchFamily="34" charset="-128"/>
              </a:endParaRPr>
            </a:p>
          </p:txBody>
        </p:sp>
        <p:grpSp>
          <p:nvGrpSpPr>
            <p:cNvPr id="83" name="群組 82">
              <a:extLst>
                <a:ext uri="{FF2B5EF4-FFF2-40B4-BE49-F238E27FC236}">
                  <a16:creationId xmlns:a16="http://schemas.microsoft.com/office/drawing/2014/main" id="{29CDF009-19EF-A527-0B92-4E8DAC02F32D}"/>
                </a:ext>
              </a:extLst>
            </p:cNvPr>
            <p:cNvGrpSpPr/>
            <p:nvPr/>
          </p:nvGrpSpPr>
          <p:grpSpPr>
            <a:xfrm>
              <a:off x="6380781" y="1287851"/>
              <a:ext cx="1892159" cy="1697673"/>
              <a:chOff x="6686735" y="1185087"/>
              <a:chExt cx="1892159" cy="1697673"/>
            </a:xfrm>
          </p:grpSpPr>
          <p:grpSp>
            <p:nvGrpSpPr>
              <p:cNvPr id="74" name="群組 73">
                <a:extLst>
                  <a:ext uri="{FF2B5EF4-FFF2-40B4-BE49-F238E27FC236}">
                    <a16:creationId xmlns:a16="http://schemas.microsoft.com/office/drawing/2014/main" id="{770B1618-CE13-239F-66A3-1C0F8980AF7D}"/>
                  </a:ext>
                </a:extLst>
              </p:cNvPr>
              <p:cNvGrpSpPr/>
              <p:nvPr/>
            </p:nvGrpSpPr>
            <p:grpSpPr>
              <a:xfrm>
                <a:off x="6729489" y="1550760"/>
                <a:ext cx="1671561" cy="1332000"/>
                <a:chOff x="6729489" y="1550760"/>
                <a:chExt cx="1671561" cy="1332000"/>
              </a:xfrm>
            </p:grpSpPr>
            <p:cxnSp>
              <p:nvCxnSpPr>
                <p:cNvPr id="55" name="直線接點 54">
                  <a:extLst>
                    <a:ext uri="{FF2B5EF4-FFF2-40B4-BE49-F238E27FC236}">
                      <a16:creationId xmlns:a16="http://schemas.microsoft.com/office/drawing/2014/main" id="{DFB51DA6-EB6B-8CDE-6808-0906E34DBB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729489" y="1550760"/>
                  <a:ext cx="0" cy="1332000"/>
                </a:xfrm>
                <a:prstGeom prst="line">
                  <a:avLst/>
                </a:prstGeom>
                <a:ln w="12700" cap="rnd">
                  <a:solidFill>
                    <a:srgbClr val="FF0000"/>
                  </a:solidFill>
                  <a:prstDash val="solid"/>
                  <a:round/>
                  <a:tail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直線接點 55">
                  <a:extLst>
                    <a:ext uri="{FF2B5EF4-FFF2-40B4-BE49-F238E27FC236}">
                      <a16:creationId xmlns:a16="http://schemas.microsoft.com/office/drawing/2014/main" id="{BBBDE5AA-EB92-47B9-95F9-6D43568AD98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729610" y="2175555"/>
                  <a:ext cx="1671440" cy="0"/>
                </a:xfrm>
                <a:prstGeom prst="line">
                  <a:avLst/>
                </a:prstGeom>
                <a:ln w="12700" cap="rnd">
                  <a:solidFill>
                    <a:srgbClr val="FF0000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直線接點 56">
                  <a:extLst>
                    <a:ext uri="{FF2B5EF4-FFF2-40B4-BE49-F238E27FC236}">
                      <a16:creationId xmlns:a16="http://schemas.microsoft.com/office/drawing/2014/main" id="{BDC0F786-6383-B5E8-2F50-261839255B3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729610" y="2658155"/>
                  <a:ext cx="1671440" cy="0"/>
                </a:xfrm>
                <a:prstGeom prst="line">
                  <a:avLst/>
                </a:prstGeom>
                <a:ln w="12700" cap="rnd">
                  <a:solidFill>
                    <a:srgbClr val="FF0000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2" name="正方形/長方形 2">
                <a:extLst>
                  <a:ext uri="{FF2B5EF4-FFF2-40B4-BE49-F238E27FC236}">
                    <a16:creationId xmlns:a16="http://schemas.microsoft.com/office/drawing/2014/main" id="{9E399096-2DD4-3736-4A50-0BEDAABD3CB6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6686735" y="1708368"/>
                <a:ext cx="898003" cy="259045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</a:ln>
              <a:effectLst/>
            </p:spPr>
            <p:txBody>
              <a:bodyPr vert="horz" wrap="none" lIns="91440" tIns="45720" rIns="91440" bIns="45720" rtlCol="0" anchor="ctr">
                <a:spAutoFit/>
              </a:bodyPr>
              <a:lstStyle>
                <a:lvl1pPr marL="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001F6B"/>
                  </a:buClr>
                  <a:buSzPct val="80000"/>
                  <a:buFont typeface="Wingdings" panose="05000000000000000000" pitchFamily="2" charset="2"/>
                  <a:buChar char="n"/>
                  <a:defRPr kumimoji="1" lang="ja-JP" altLang="en-US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C8003C"/>
                  </a:buClr>
                  <a:buSzPct val="80000"/>
                  <a:buFont typeface="Wingdings" panose="05000000000000000000" pitchFamily="2" charset="2"/>
                  <a:buChar char="l"/>
                  <a:defRPr kumimoji="1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001F6B"/>
                  </a:buClr>
                  <a:buSzPct val="80000"/>
                  <a:buFont typeface="Meiryo UI" panose="020B0604030504040204" pitchFamily="50" charset="-128"/>
                  <a:buChar char="━"/>
                  <a:defRPr kumimoji="1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001F6B"/>
                  </a:buClr>
                  <a:buSzPct val="80000"/>
                  <a:buFont typeface="Wingdings" panose="05000000000000000000" pitchFamily="2" charset="2"/>
                  <a:buChar char="u"/>
                  <a:defRPr kumimoji="1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001F6B"/>
                  </a:buClr>
                  <a:buSzPct val="80000"/>
                  <a:buFont typeface="Arial" panose="020B0604020202020204" pitchFamily="34" charset="0"/>
                  <a:buChar char="•"/>
                  <a:defRPr kumimoji="1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kumimoji="1"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kumimoji="1"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kumimoji="1"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kumimoji="1"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914400">
                  <a:lnSpc>
                    <a:spcPts val="1300"/>
                  </a:lnSpc>
                  <a:spcBef>
                    <a:spcPts val="0"/>
                  </a:spcBef>
                  <a:buClrTx/>
                  <a:buSzTx/>
                  <a:buNone/>
                  <a:defRPr/>
                </a:pPr>
                <a:r>
                  <a:rPr lang="zh-TW" altLang="en-US" b="1" kern="0" dirty="0">
                    <a:solidFill>
                      <a:srgbClr val="FF0000"/>
                    </a:solidFill>
                    <a:latin typeface="+mj-lt"/>
                    <a:ea typeface="Meiryo UI" panose="020B0604030504040204" pitchFamily="34" charset="-128"/>
                  </a:rPr>
                  <a:t>主</a:t>
                </a:r>
                <a:r>
                  <a:rPr lang="en-US" altLang="zh-TW" b="1" kern="0" dirty="0">
                    <a:solidFill>
                      <a:srgbClr val="FF0000"/>
                    </a:solidFill>
                    <a:latin typeface="+mj-lt"/>
                    <a:ea typeface="Meiryo UI" panose="020B0604030504040204" pitchFamily="34" charset="-128"/>
                  </a:rPr>
                  <a:t>:</a:t>
                </a:r>
                <a:r>
                  <a:rPr lang="zh-TW" altLang="zh-TW" b="1" dirty="0">
                    <a:solidFill>
                      <a:srgbClr val="FF0000"/>
                    </a:solidFill>
                    <a:latin typeface="+mj-lt"/>
                    <a:ea typeface="Meiryo UI" panose="020B0604030504040204" pitchFamily="34" charset="-128"/>
                  </a:rPr>
                  <a:t>大內</a:t>
                </a:r>
                <a:r>
                  <a:rPr lang="ja-JP" altLang="zh-TW" b="1" dirty="0">
                    <a:solidFill>
                      <a:srgbClr val="FF0000"/>
                    </a:solidFill>
                    <a:latin typeface="+mj-lt"/>
                    <a:ea typeface="Meiryo UI" panose="020B0604030504040204" pitchFamily="34" charset="-128"/>
                  </a:rPr>
                  <a:t>さん</a:t>
                </a:r>
                <a:endParaRPr lang="en-US" altLang="zh-TW" b="1" kern="0" dirty="0">
                  <a:solidFill>
                    <a:srgbClr val="FF0000"/>
                  </a:solidFill>
                  <a:latin typeface="+mj-lt"/>
                  <a:ea typeface="Meiryo UI" panose="020B0604030504040204" pitchFamily="34" charset="-128"/>
                </a:endParaRPr>
              </a:p>
            </p:txBody>
          </p:sp>
          <p:sp>
            <p:nvSpPr>
              <p:cNvPr id="33" name="正方形/長方形 2">
                <a:extLst>
                  <a:ext uri="{FF2B5EF4-FFF2-40B4-BE49-F238E27FC236}">
                    <a16:creationId xmlns:a16="http://schemas.microsoft.com/office/drawing/2014/main" id="{676D1184-FEE0-55AB-8B22-4A30D845C602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6692900" y="2162021"/>
                <a:ext cx="806631" cy="259045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</a:ln>
              <a:effectLst/>
            </p:spPr>
            <p:txBody>
              <a:bodyPr vert="horz" wrap="none" lIns="91440" tIns="45720" rIns="91440" bIns="45720" rtlCol="0" anchor="ctr">
                <a:spAutoFit/>
              </a:bodyPr>
              <a:lstStyle>
                <a:lvl1pPr marL="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001F6B"/>
                  </a:buClr>
                  <a:buSzPct val="80000"/>
                  <a:buFont typeface="Wingdings" panose="05000000000000000000" pitchFamily="2" charset="2"/>
                  <a:buChar char="n"/>
                  <a:defRPr kumimoji="1" lang="ja-JP" altLang="en-US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C8003C"/>
                  </a:buClr>
                  <a:buSzPct val="80000"/>
                  <a:buFont typeface="Wingdings" panose="05000000000000000000" pitchFamily="2" charset="2"/>
                  <a:buChar char="l"/>
                  <a:defRPr kumimoji="1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001F6B"/>
                  </a:buClr>
                  <a:buSzPct val="80000"/>
                  <a:buFont typeface="Meiryo UI" panose="020B0604030504040204" pitchFamily="50" charset="-128"/>
                  <a:buChar char="━"/>
                  <a:defRPr kumimoji="1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001F6B"/>
                  </a:buClr>
                  <a:buSzPct val="80000"/>
                  <a:buFont typeface="Wingdings" panose="05000000000000000000" pitchFamily="2" charset="2"/>
                  <a:buChar char="u"/>
                  <a:defRPr kumimoji="1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001F6B"/>
                  </a:buClr>
                  <a:buSzPct val="80000"/>
                  <a:buFont typeface="Arial" panose="020B0604020202020204" pitchFamily="34" charset="0"/>
                  <a:buChar char="•"/>
                  <a:defRPr kumimoji="1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kumimoji="1"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kumimoji="1"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kumimoji="1"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kumimoji="1"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914400">
                  <a:lnSpc>
                    <a:spcPts val="1300"/>
                  </a:lnSpc>
                  <a:spcBef>
                    <a:spcPts val="0"/>
                  </a:spcBef>
                  <a:buClrTx/>
                  <a:buSzTx/>
                  <a:buFont typeface="Wingdings" panose="05000000000000000000" pitchFamily="2" charset="2"/>
                  <a:buNone/>
                  <a:defRPr/>
                </a:pPr>
                <a:r>
                  <a:rPr lang="ja-JP" altLang="en-US" b="1" kern="0" dirty="0">
                    <a:solidFill>
                      <a:srgbClr val="FF0000"/>
                    </a:solidFill>
                    <a:latin typeface="+mj-lt"/>
                    <a:ea typeface="Meiryo UI" panose="020B0604030504040204" pitchFamily="34" charset="-128"/>
                  </a:rPr>
                  <a:t>副</a:t>
                </a:r>
                <a:r>
                  <a:rPr lang="en-US" altLang="ja-JP" b="1" kern="0" dirty="0">
                    <a:solidFill>
                      <a:srgbClr val="FF0000"/>
                    </a:solidFill>
                    <a:latin typeface="+mj-lt"/>
                    <a:ea typeface="Meiryo UI" panose="020B0604030504040204" pitchFamily="34" charset="-128"/>
                  </a:rPr>
                  <a:t>:</a:t>
                </a:r>
                <a:r>
                  <a:rPr lang="ja-JP" altLang="en-US" b="1" kern="0" dirty="0">
                    <a:solidFill>
                      <a:srgbClr val="FF0000"/>
                    </a:solidFill>
                    <a:latin typeface="+mj-lt"/>
                    <a:ea typeface="Meiryo UI" panose="020B0604030504040204" pitchFamily="34" charset="-128"/>
                  </a:rPr>
                  <a:t>蔡明建</a:t>
                </a:r>
              </a:p>
            </p:txBody>
          </p:sp>
          <p:sp>
            <p:nvSpPr>
              <p:cNvPr id="41" name="正方形/長方形 2">
                <a:extLst>
                  <a:ext uri="{FF2B5EF4-FFF2-40B4-BE49-F238E27FC236}">
                    <a16:creationId xmlns:a16="http://schemas.microsoft.com/office/drawing/2014/main" id="{764904BA-2C9C-9FF1-BC5E-DFB080AD8074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6729489" y="1185087"/>
                <a:ext cx="977697" cy="408623"/>
              </a:xfrm>
              <a:prstGeom prst="roundRect">
                <a:avLst/>
              </a:prstGeom>
              <a:noFill/>
              <a:ln w="12700" cap="flat" cmpd="sng" algn="ctr">
                <a:solidFill>
                  <a:srgbClr val="FF0000"/>
                </a:solidFill>
                <a:prstDash val="solid"/>
              </a:ln>
              <a:effectLst/>
            </p:spPr>
            <p:txBody>
              <a:bodyPr vert="horz" wrap="none" lIns="91440" tIns="45720" rIns="91440" bIns="45720" rtlCol="0" anchor="ctr">
                <a:spAutoFit/>
              </a:bodyPr>
              <a:lstStyle>
                <a:lvl1pPr marL="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001F6B"/>
                  </a:buClr>
                  <a:buSzPct val="80000"/>
                  <a:buFont typeface="Wingdings" panose="05000000000000000000" pitchFamily="2" charset="2"/>
                  <a:buChar char="n"/>
                  <a:defRPr kumimoji="1" lang="ja-JP" altLang="en-US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C8003C"/>
                  </a:buClr>
                  <a:buSzPct val="80000"/>
                  <a:buFont typeface="Wingdings" panose="05000000000000000000" pitchFamily="2" charset="2"/>
                  <a:buChar char="l"/>
                  <a:defRPr kumimoji="1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001F6B"/>
                  </a:buClr>
                  <a:buSzPct val="80000"/>
                  <a:buFont typeface="Meiryo UI" panose="020B0604030504040204" pitchFamily="50" charset="-128"/>
                  <a:buChar char="━"/>
                  <a:defRPr kumimoji="1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001F6B"/>
                  </a:buClr>
                  <a:buSzPct val="80000"/>
                  <a:buFont typeface="Wingdings" panose="05000000000000000000" pitchFamily="2" charset="2"/>
                  <a:buChar char="u"/>
                  <a:defRPr kumimoji="1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001F6B"/>
                  </a:buClr>
                  <a:buSzPct val="80000"/>
                  <a:buFont typeface="Arial" panose="020B0604020202020204" pitchFamily="34" charset="0"/>
                  <a:buChar char="•"/>
                  <a:defRPr kumimoji="1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kumimoji="1"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kumimoji="1"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kumimoji="1"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kumimoji="1"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>
                  <a:spcBef>
                    <a:spcPts val="0"/>
                  </a:spcBef>
                  <a:buClrTx/>
                  <a:buSzTx/>
                  <a:buFont typeface="Wingdings" panose="05000000000000000000" pitchFamily="2" charset="2"/>
                  <a:buNone/>
                  <a:defRPr/>
                </a:pPr>
                <a:r>
                  <a:rPr lang="ja-JP" altLang="en-US" sz="1800" b="1" kern="0" dirty="0">
                    <a:solidFill>
                      <a:srgbClr val="FF0000"/>
                    </a:solidFill>
                    <a:ea typeface="Meiryo UI" panose="020B0604030504040204" pitchFamily="34" charset="-128"/>
                  </a:rPr>
                  <a:t>リーダー</a:t>
                </a:r>
              </a:p>
            </p:txBody>
          </p:sp>
          <p:sp>
            <p:nvSpPr>
              <p:cNvPr id="64" name="正方形/長方形 2">
                <a:extLst>
                  <a:ext uri="{FF2B5EF4-FFF2-40B4-BE49-F238E27FC236}">
                    <a16:creationId xmlns:a16="http://schemas.microsoft.com/office/drawing/2014/main" id="{6EA4626C-F9FC-2FED-368D-090A8E61EF31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6887405" y="1923760"/>
                <a:ext cx="1691489" cy="259045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</a:ln>
              <a:effectLst/>
            </p:spPr>
            <p:txBody>
              <a:bodyPr vert="horz" wrap="none" lIns="91440" tIns="45720" rIns="91440" bIns="45720" rtlCol="0" anchor="ctr">
                <a:spAutoFit/>
              </a:bodyPr>
              <a:lstStyle>
                <a:lvl1pPr marL="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001F6B"/>
                  </a:buClr>
                  <a:buSzPct val="80000"/>
                  <a:buFont typeface="Wingdings" panose="05000000000000000000" pitchFamily="2" charset="2"/>
                  <a:buChar char="n"/>
                  <a:defRPr kumimoji="1" lang="ja-JP" altLang="en-US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C8003C"/>
                  </a:buClr>
                  <a:buSzPct val="80000"/>
                  <a:buFont typeface="Wingdings" panose="05000000000000000000" pitchFamily="2" charset="2"/>
                  <a:buChar char="l"/>
                  <a:defRPr kumimoji="1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001F6B"/>
                  </a:buClr>
                  <a:buSzPct val="80000"/>
                  <a:buFont typeface="Meiryo UI" panose="020B0604030504040204" pitchFamily="50" charset="-128"/>
                  <a:buChar char="━"/>
                  <a:defRPr kumimoji="1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001F6B"/>
                  </a:buClr>
                  <a:buSzPct val="80000"/>
                  <a:buFont typeface="Wingdings" panose="05000000000000000000" pitchFamily="2" charset="2"/>
                  <a:buChar char="u"/>
                  <a:defRPr kumimoji="1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001F6B"/>
                  </a:buClr>
                  <a:buSzPct val="80000"/>
                  <a:buFont typeface="Arial" panose="020B0604020202020204" pitchFamily="34" charset="0"/>
                  <a:buChar char="•"/>
                  <a:defRPr kumimoji="1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kumimoji="1"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kumimoji="1"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kumimoji="1"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kumimoji="1"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914400">
                  <a:lnSpc>
                    <a:spcPts val="1300"/>
                  </a:lnSpc>
                  <a:spcBef>
                    <a:spcPts val="0"/>
                  </a:spcBef>
                  <a:buClrTx/>
                  <a:buSzTx/>
                  <a:buNone/>
                  <a:defRPr/>
                </a:pPr>
                <a:r>
                  <a:rPr lang="zh-TW" altLang="en-US" b="1" kern="0" dirty="0">
                    <a:solidFill>
                      <a:schemeClr val="tx1"/>
                    </a:solidFill>
                    <a:latin typeface="+mj-lt"/>
                    <a:ea typeface="Meiryo UI" panose="020B0604030504040204" pitchFamily="34" charset="-128"/>
                  </a:rPr>
                  <a:t>技術總部</a:t>
                </a:r>
                <a:r>
                  <a:rPr lang="en-US" altLang="zh-TW" b="1" kern="0" dirty="0">
                    <a:solidFill>
                      <a:schemeClr val="tx1"/>
                    </a:solidFill>
                    <a:latin typeface="+mj-lt"/>
                    <a:ea typeface="Meiryo UI" panose="020B0604030504040204" pitchFamily="34" charset="-128"/>
                  </a:rPr>
                  <a:t>_</a:t>
                </a:r>
                <a:r>
                  <a:rPr lang="zh-TW" altLang="en-US" b="1" kern="0" dirty="0">
                    <a:solidFill>
                      <a:schemeClr val="tx1"/>
                    </a:solidFill>
                    <a:latin typeface="+mj-lt"/>
                    <a:ea typeface="Meiryo UI" panose="020B0604030504040204" pitchFamily="34" charset="-128"/>
                  </a:rPr>
                  <a:t>素材技術二課</a:t>
                </a:r>
                <a:endParaRPr lang="en-US" altLang="zh-TW" b="1" kern="0" dirty="0">
                  <a:solidFill>
                    <a:schemeClr val="tx1"/>
                  </a:solidFill>
                  <a:latin typeface="+mj-lt"/>
                  <a:ea typeface="Meiryo UI" panose="020B0604030504040204" pitchFamily="34" charset="-128"/>
                </a:endParaRPr>
              </a:p>
            </p:txBody>
          </p:sp>
          <p:sp>
            <p:nvSpPr>
              <p:cNvPr id="65" name="正方形/長方形 2">
                <a:extLst>
                  <a:ext uri="{FF2B5EF4-FFF2-40B4-BE49-F238E27FC236}">
                    <a16:creationId xmlns:a16="http://schemas.microsoft.com/office/drawing/2014/main" id="{CD8E37D7-E454-0945-8DAF-B06FFAFEB7AF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6887405" y="2413816"/>
                <a:ext cx="1550424" cy="259045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</a:ln>
              <a:effectLst/>
            </p:spPr>
            <p:txBody>
              <a:bodyPr vert="horz" wrap="none" lIns="91440" tIns="45720" rIns="91440" bIns="45720" rtlCol="0" anchor="ctr">
                <a:spAutoFit/>
              </a:bodyPr>
              <a:lstStyle>
                <a:lvl1pPr marL="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001F6B"/>
                  </a:buClr>
                  <a:buSzPct val="80000"/>
                  <a:buFont typeface="Wingdings" panose="05000000000000000000" pitchFamily="2" charset="2"/>
                  <a:buChar char="n"/>
                  <a:defRPr kumimoji="1" lang="ja-JP" altLang="en-US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C8003C"/>
                  </a:buClr>
                  <a:buSzPct val="80000"/>
                  <a:buFont typeface="Wingdings" panose="05000000000000000000" pitchFamily="2" charset="2"/>
                  <a:buChar char="l"/>
                  <a:defRPr kumimoji="1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001F6B"/>
                  </a:buClr>
                  <a:buSzPct val="80000"/>
                  <a:buFont typeface="Meiryo UI" panose="020B0604030504040204" pitchFamily="50" charset="-128"/>
                  <a:buChar char="━"/>
                  <a:defRPr kumimoji="1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001F6B"/>
                  </a:buClr>
                  <a:buSzPct val="80000"/>
                  <a:buFont typeface="Wingdings" panose="05000000000000000000" pitchFamily="2" charset="2"/>
                  <a:buChar char="u"/>
                  <a:defRPr kumimoji="1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001F6B"/>
                  </a:buClr>
                  <a:buSzPct val="80000"/>
                  <a:buFont typeface="Arial" panose="020B0604020202020204" pitchFamily="34" charset="0"/>
                  <a:buChar char="•"/>
                  <a:defRPr kumimoji="1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kumimoji="1"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kumimoji="1"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kumimoji="1"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kumimoji="1"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914400">
                  <a:lnSpc>
                    <a:spcPts val="1300"/>
                  </a:lnSpc>
                  <a:spcBef>
                    <a:spcPts val="0"/>
                  </a:spcBef>
                  <a:buClrTx/>
                  <a:buSzTx/>
                  <a:buNone/>
                  <a:defRPr/>
                </a:pPr>
                <a:r>
                  <a:rPr lang="zh-TW" altLang="en-US" b="1" kern="0" dirty="0">
                    <a:solidFill>
                      <a:schemeClr val="tx1"/>
                    </a:solidFill>
                    <a:latin typeface="+mj-lt"/>
                    <a:ea typeface="Meiryo UI" panose="020B0604030504040204" pitchFamily="34" charset="-128"/>
                  </a:rPr>
                  <a:t>製造一部</a:t>
                </a:r>
                <a:r>
                  <a:rPr lang="en-US" altLang="zh-TW" b="1" kern="0" dirty="0">
                    <a:solidFill>
                      <a:schemeClr val="tx1"/>
                    </a:solidFill>
                    <a:latin typeface="+mj-lt"/>
                    <a:ea typeface="Meiryo UI" panose="020B0604030504040204" pitchFamily="34" charset="-128"/>
                  </a:rPr>
                  <a:t>_</a:t>
                </a:r>
                <a:r>
                  <a:rPr lang="zh-TW" altLang="en-US" b="1" kern="0" dirty="0">
                    <a:solidFill>
                      <a:schemeClr val="tx1"/>
                    </a:solidFill>
                    <a:latin typeface="+mj-lt"/>
                    <a:ea typeface="Meiryo UI" panose="020B0604030504040204" pitchFamily="34" charset="-128"/>
                  </a:rPr>
                  <a:t>生產推進課</a:t>
                </a:r>
                <a:endParaRPr lang="en-US" altLang="zh-TW" b="1" kern="0" dirty="0">
                  <a:solidFill>
                    <a:schemeClr val="tx1"/>
                  </a:solidFill>
                  <a:latin typeface="+mj-lt"/>
                  <a:ea typeface="Meiryo UI" panose="020B0604030504040204" pitchFamily="34" charset="-128"/>
                </a:endParaRPr>
              </a:p>
            </p:txBody>
          </p:sp>
        </p:grpSp>
        <p:grpSp>
          <p:nvGrpSpPr>
            <p:cNvPr id="73" name="群組 72">
              <a:extLst>
                <a:ext uri="{FF2B5EF4-FFF2-40B4-BE49-F238E27FC236}">
                  <a16:creationId xmlns:a16="http://schemas.microsoft.com/office/drawing/2014/main" id="{B9B72BED-B73E-BC71-4E12-84E6D11A174C}"/>
                </a:ext>
              </a:extLst>
            </p:cNvPr>
            <p:cNvGrpSpPr/>
            <p:nvPr/>
          </p:nvGrpSpPr>
          <p:grpSpPr>
            <a:xfrm>
              <a:off x="5782273" y="2988419"/>
              <a:ext cx="1980000" cy="216000"/>
              <a:chOff x="5911813" y="2885655"/>
              <a:chExt cx="1980000" cy="216000"/>
            </a:xfrm>
          </p:grpSpPr>
          <p:cxnSp>
            <p:nvCxnSpPr>
              <p:cNvPr id="66" name="直線接點 65">
                <a:extLst>
                  <a:ext uri="{FF2B5EF4-FFF2-40B4-BE49-F238E27FC236}">
                    <a16:creationId xmlns:a16="http://schemas.microsoft.com/office/drawing/2014/main" id="{296CF08A-8F8C-2991-A78B-3D23E63D5BF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911813" y="2886755"/>
                <a:ext cx="1980000" cy="0"/>
              </a:xfrm>
              <a:prstGeom prst="line">
                <a:avLst/>
              </a:prstGeom>
              <a:ln w="12700" cap="rnd">
                <a:solidFill>
                  <a:srgbClr val="FF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線接點 66">
                <a:extLst>
                  <a:ext uri="{FF2B5EF4-FFF2-40B4-BE49-F238E27FC236}">
                    <a16:creationId xmlns:a16="http://schemas.microsoft.com/office/drawing/2014/main" id="{C17D0D5A-DF6E-D2BE-740D-126C6E3681AC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5807063" y="2993655"/>
                <a:ext cx="216000" cy="0"/>
              </a:xfrm>
              <a:prstGeom prst="line">
                <a:avLst/>
              </a:prstGeom>
              <a:ln w="12700" cap="rnd">
                <a:solidFill>
                  <a:srgbClr val="FF0000"/>
                </a:solidFill>
                <a:prstDash val="solid"/>
                <a:headEnd type="oval" w="sm" len="sm"/>
                <a:tail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線接點 67">
                <a:extLst>
                  <a:ext uri="{FF2B5EF4-FFF2-40B4-BE49-F238E27FC236}">
                    <a16:creationId xmlns:a16="http://schemas.microsoft.com/office/drawing/2014/main" id="{41BB4634-F7DB-281F-481C-EA9A0A7B2AFB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7780205" y="2993655"/>
                <a:ext cx="216000" cy="0"/>
              </a:xfrm>
              <a:prstGeom prst="line">
                <a:avLst/>
              </a:prstGeom>
              <a:ln w="12700" cap="rnd">
                <a:solidFill>
                  <a:srgbClr val="FF0000"/>
                </a:solidFill>
                <a:prstDash val="solid"/>
                <a:headEnd type="oval" w="sm" len="sm"/>
                <a:tail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5" name="群組 84">
              <a:extLst>
                <a:ext uri="{FF2B5EF4-FFF2-40B4-BE49-F238E27FC236}">
                  <a16:creationId xmlns:a16="http://schemas.microsoft.com/office/drawing/2014/main" id="{0AD2219F-A728-FEF7-80E1-998C372DE2CB}"/>
                </a:ext>
              </a:extLst>
            </p:cNvPr>
            <p:cNvGrpSpPr/>
            <p:nvPr/>
          </p:nvGrpSpPr>
          <p:grpSpPr>
            <a:xfrm>
              <a:off x="7121969" y="3205960"/>
              <a:ext cx="1751317" cy="1331720"/>
              <a:chOff x="7251509" y="3103196"/>
              <a:chExt cx="1751317" cy="1331720"/>
            </a:xfrm>
          </p:grpSpPr>
          <p:grpSp>
            <p:nvGrpSpPr>
              <p:cNvPr id="75" name="群組 74">
                <a:extLst>
                  <a:ext uri="{FF2B5EF4-FFF2-40B4-BE49-F238E27FC236}">
                    <a16:creationId xmlns:a16="http://schemas.microsoft.com/office/drawing/2014/main" id="{2437EE28-A2E9-1B24-F015-948B5E0D10AA}"/>
                  </a:ext>
                </a:extLst>
              </p:cNvPr>
              <p:cNvGrpSpPr/>
              <p:nvPr/>
            </p:nvGrpSpPr>
            <p:grpSpPr>
              <a:xfrm>
                <a:off x="7299162" y="3354916"/>
                <a:ext cx="1671561" cy="1080000"/>
                <a:chOff x="5553187" y="3354916"/>
                <a:chExt cx="1671561" cy="1080000"/>
              </a:xfrm>
            </p:grpSpPr>
            <p:cxnSp>
              <p:nvCxnSpPr>
                <p:cNvPr id="76" name="直線接點 75">
                  <a:extLst>
                    <a:ext uri="{FF2B5EF4-FFF2-40B4-BE49-F238E27FC236}">
                      <a16:creationId xmlns:a16="http://schemas.microsoft.com/office/drawing/2014/main" id="{6E22B12F-32AB-0282-C180-5B28C97A50F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553187" y="3354916"/>
                  <a:ext cx="0" cy="1080000"/>
                </a:xfrm>
                <a:prstGeom prst="line">
                  <a:avLst/>
                </a:prstGeom>
                <a:ln w="12700" cap="rnd">
                  <a:solidFill>
                    <a:srgbClr val="009644"/>
                  </a:solidFill>
                  <a:prstDash val="solid"/>
                  <a:round/>
                  <a:tail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直線接點 76">
                  <a:extLst>
                    <a:ext uri="{FF2B5EF4-FFF2-40B4-BE49-F238E27FC236}">
                      <a16:creationId xmlns:a16="http://schemas.microsoft.com/office/drawing/2014/main" id="{4FB7336E-786C-0299-6C65-CE16A3900F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553308" y="3939235"/>
                  <a:ext cx="1671440" cy="0"/>
                </a:xfrm>
                <a:prstGeom prst="line">
                  <a:avLst/>
                </a:prstGeom>
                <a:ln w="12700" cap="rnd">
                  <a:solidFill>
                    <a:srgbClr val="009644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直線接點 77">
                  <a:extLst>
                    <a:ext uri="{FF2B5EF4-FFF2-40B4-BE49-F238E27FC236}">
                      <a16:creationId xmlns:a16="http://schemas.microsoft.com/office/drawing/2014/main" id="{8DA036E7-C5B6-84CA-CACA-A0992297B04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553308" y="4421835"/>
                  <a:ext cx="1671440" cy="0"/>
                </a:xfrm>
                <a:prstGeom prst="line">
                  <a:avLst/>
                </a:prstGeom>
                <a:ln w="12700" cap="rnd">
                  <a:solidFill>
                    <a:srgbClr val="009644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0" name="正方形/長方形 2">
                <a:extLst>
                  <a:ext uri="{FF2B5EF4-FFF2-40B4-BE49-F238E27FC236}">
                    <a16:creationId xmlns:a16="http://schemas.microsoft.com/office/drawing/2014/main" id="{BCC092D5-758A-6C02-16C8-BAA5437A70F2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7251509" y="3490547"/>
                <a:ext cx="806631" cy="259045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</a:ln>
              <a:effectLst/>
            </p:spPr>
            <p:txBody>
              <a:bodyPr vert="horz" wrap="none" lIns="91440" tIns="45720" rIns="91440" bIns="45720" rtlCol="0" anchor="ctr">
                <a:spAutoFit/>
              </a:bodyPr>
              <a:lstStyle>
                <a:lvl1pPr marL="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001F6B"/>
                  </a:buClr>
                  <a:buSzPct val="80000"/>
                  <a:buFont typeface="Wingdings" panose="05000000000000000000" pitchFamily="2" charset="2"/>
                  <a:buChar char="n"/>
                  <a:defRPr kumimoji="1" lang="ja-JP" altLang="en-US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C8003C"/>
                  </a:buClr>
                  <a:buSzPct val="80000"/>
                  <a:buFont typeface="Wingdings" panose="05000000000000000000" pitchFamily="2" charset="2"/>
                  <a:buChar char="l"/>
                  <a:defRPr kumimoji="1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001F6B"/>
                  </a:buClr>
                  <a:buSzPct val="80000"/>
                  <a:buFont typeface="Meiryo UI" panose="020B0604030504040204" pitchFamily="50" charset="-128"/>
                  <a:buChar char="━"/>
                  <a:defRPr kumimoji="1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001F6B"/>
                  </a:buClr>
                  <a:buSzPct val="80000"/>
                  <a:buFont typeface="Wingdings" panose="05000000000000000000" pitchFamily="2" charset="2"/>
                  <a:buChar char="u"/>
                  <a:defRPr kumimoji="1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001F6B"/>
                  </a:buClr>
                  <a:buSzPct val="80000"/>
                  <a:buFont typeface="Arial" panose="020B0604020202020204" pitchFamily="34" charset="0"/>
                  <a:buChar char="•"/>
                  <a:defRPr kumimoji="1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kumimoji="1"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kumimoji="1"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kumimoji="1"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kumimoji="1"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914400">
                  <a:lnSpc>
                    <a:spcPts val="1300"/>
                  </a:lnSpc>
                  <a:spcBef>
                    <a:spcPts val="0"/>
                  </a:spcBef>
                  <a:buClrTx/>
                  <a:buSzTx/>
                  <a:buNone/>
                  <a:defRPr/>
                </a:pPr>
                <a:r>
                  <a:rPr lang="zh-TW" altLang="en-US" b="1" kern="0" dirty="0">
                    <a:solidFill>
                      <a:srgbClr val="009644"/>
                    </a:solidFill>
                    <a:latin typeface="+mj-lt"/>
                    <a:ea typeface="Meiryo UI" panose="020B0604030504040204" pitchFamily="34" charset="-128"/>
                  </a:rPr>
                  <a:t>主</a:t>
                </a:r>
                <a:r>
                  <a:rPr lang="en-US" altLang="zh-TW" b="1" kern="0" dirty="0">
                    <a:solidFill>
                      <a:srgbClr val="009644"/>
                    </a:solidFill>
                    <a:latin typeface="+mj-lt"/>
                    <a:ea typeface="Meiryo UI" panose="020B0604030504040204" pitchFamily="34" charset="-128"/>
                  </a:rPr>
                  <a:t>:</a:t>
                </a:r>
                <a:r>
                  <a:rPr lang="zh-TW" altLang="en-US" b="1" dirty="0">
                    <a:solidFill>
                      <a:srgbClr val="009644"/>
                    </a:solidFill>
                    <a:latin typeface="+mj-lt"/>
                    <a:ea typeface="Meiryo UI" panose="020B0604030504040204" pitchFamily="34" charset="-128"/>
                  </a:rPr>
                  <a:t>鄭東洋</a:t>
                </a:r>
                <a:endParaRPr lang="en-US" altLang="zh-TW" b="1" kern="0" dirty="0">
                  <a:solidFill>
                    <a:srgbClr val="009644"/>
                  </a:solidFill>
                  <a:latin typeface="+mj-lt"/>
                  <a:ea typeface="Meiryo UI" panose="020B0604030504040204" pitchFamily="34" charset="-128"/>
                </a:endParaRPr>
              </a:p>
            </p:txBody>
          </p:sp>
          <p:sp>
            <p:nvSpPr>
              <p:cNvPr id="51" name="正方形/長方形 2">
                <a:extLst>
                  <a:ext uri="{FF2B5EF4-FFF2-40B4-BE49-F238E27FC236}">
                    <a16:creationId xmlns:a16="http://schemas.microsoft.com/office/drawing/2014/main" id="{3BDFA5FE-57D1-B30E-13CD-AE6230F2653B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7257674" y="3944200"/>
                <a:ext cx="806631" cy="259045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</a:ln>
              <a:effectLst/>
            </p:spPr>
            <p:txBody>
              <a:bodyPr vert="horz" wrap="none" lIns="91440" tIns="45720" rIns="91440" bIns="45720" rtlCol="0" anchor="ctr">
                <a:spAutoFit/>
              </a:bodyPr>
              <a:lstStyle>
                <a:lvl1pPr marL="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001F6B"/>
                  </a:buClr>
                  <a:buSzPct val="80000"/>
                  <a:buFont typeface="Wingdings" panose="05000000000000000000" pitchFamily="2" charset="2"/>
                  <a:buChar char="n"/>
                  <a:defRPr kumimoji="1" lang="ja-JP" altLang="en-US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C8003C"/>
                  </a:buClr>
                  <a:buSzPct val="80000"/>
                  <a:buFont typeface="Wingdings" panose="05000000000000000000" pitchFamily="2" charset="2"/>
                  <a:buChar char="l"/>
                  <a:defRPr kumimoji="1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001F6B"/>
                  </a:buClr>
                  <a:buSzPct val="80000"/>
                  <a:buFont typeface="Meiryo UI" panose="020B0604030504040204" pitchFamily="50" charset="-128"/>
                  <a:buChar char="━"/>
                  <a:defRPr kumimoji="1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001F6B"/>
                  </a:buClr>
                  <a:buSzPct val="80000"/>
                  <a:buFont typeface="Wingdings" panose="05000000000000000000" pitchFamily="2" charset="2"/>
                  <a:buChar char="u"/>
                  <a:defRPr kumimoji="1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001F6B"/>
                  </a:buClr>
                  <a:buSzPct val="80000"/>
                  <a:buFont typeface="Arial" panose="020B0604020202020204" pitchFamily="34" charset="0"/>
                  <a:buChar char="•"/>
                  <a:defRPr kumimoji="1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kumimoji="1"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kumimoji="1"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kumimoji="1"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kumimoji="1"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914400">
                  <a:lnSpc>
                    <a:spcPts val="1300"/>
                  </a:lnSpc>
                  <a:spcBef>
                    <a:spcPts val="0"/>
                  </a:spcBef>
                  <a:buClrTx/>
                  <a:buSzTx/>
                  <a:buFont typeface="Wingdings" panose="05000000000000000000" pitchFamily="2" charset="2"/>
                  <a:buNone/>
                  <a:defRPr/>
                </a:pPr>
                <a:r>
                  <a:rPr lang="ja-JP" altLang="en-US" b="1" kern="0" dirty="0">
                    <a:solidFill>
                      <a:srgbClr val="009644"/>
                    </a:solidFill>
                    <a:latin typeface="+mj-lt"/>
                    <a:ea typeface="Meiryo UI" panose="020B0604030504040204" pitchFamily="34" charset="-128"/>
                  </a:rPr>
                  <a:t>副</a:t>
                </a:r>
                <a:r>
                  <a:rPr lang="en-US" altLang="ja-JP" b="1" kern="0" dirty="0">
                    <a:solidFill>
                      <a:srgbClr val="009644"/>
                    </a:solidFill>
                    <a:latin typeface="+mj-lt"/>
                    <a:ea typeface="Meiryo UI" panose="020B0604030504040204" pitchFamily="34" charset="-128"/>
                  </a:rPr>
                  <a:t>:</a:t>
                </a:r>
                <a:r>
                  <a:rPr lang="ja-JP" altLang="en-US" b="1" kern="0" dirty="0">
                    <a:solidFill>
                      <a:srgbClr val="009644"/>
                    </a:solidFill>
                    <a:latin typeface="+mj-lt"/>
                    <a:ea typeface="Meiryo UI" panose="020B0604030504040204" pitchFamily="34" charset="-128"/>
                  </a:rPr>
                  <a:t>林嘉彬</a:t>
                </a:r>
              </a:p>
            </p:txBody>
          </p:sp>
          <p:sp>
            <p:nvSpPr>
              <p:cNvPr id="52" name="正方形/長方形 2">
                <a:extLst>
                  <a:ext uri="{FF2B5EF4-FFF2-40B4-BE49-F238E27FC236}">
                    <a16:creationId xmlns:a16="http://schemas.microsoft.com/office/drawing/2014/main" id="{38C48AC6-3571-5F12-80A2-2700BC6F328B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7299162" y="3103196"/>
                <a:ext cx="1191519" cy="289441"/>
              </a:xfrm>
              <a:prstGeom prst="roundRect">
                <a:avLst/>
              </a:prstGeom>
              <a:noFill/>
              <a:ln w="12700" cap="flat" cmpd="sng" algn="ctr">
                <a:solidFill>
                  <a:srgbClr val="009644"/>
                </a:solidFill>
                <a:prstDash val="solid"/>
              </a:ln>
              <a:effectLst/>
            </p:spPr>
            <p:txBody>
              <a:bodyPr vert="horz" wrap="none" lIns="91440" tIns="45720" rIns="91440" bIns="45720" rtlCol="0" anchor="ctr">
                <a:spAutoFit/>
              </a:bodyPr>
              <a:lstStyle>
                <a:lvl1pPr marL="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001F6B"/>
                  </a:buClr>
                  <a:buSzPct val="80000"/>
                  <a:buFont typeface="Wingdings" panose="05000000000000000000" pitchFamily="2" charset="2"/>
                  <a:buChar char="n"/>
                  <a:defRPr kumimoji="1" lang="ja-JP" altLang="en-US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C8003C"/>
                  </a:buClr>
                  <a:buSzPct val="80000"/>
                  <a:buFont typeface="Wingdings" panose="05000000000000000000" pitchFamily="2" charset="2"/>
                  <a:buChar char="l"/>
                  <a:defRPr kumimoji="1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001F6B"/>
                  </a:buClr>
                  <a:buSzPct val="80000"/>
                  <a:buFont typeface="Meiryo UI" panose="020B0604030504040204" pitchFamily="50" charset="-128"/>
                  <a:buChar char="━"/>
                  <a:defRPr kumimoji="1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001F6B"/>
                  </a:buClr>
                  <a:buSzPct val="80000"/>
                  <a:buFont typeface="Wingdings" panose="05000000000000000000" pitchFamily="2" charset="2"/>
                  <a:buChar char="u"/>
                  <a:defRPr kumimoji="1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001F6B"/>
                  </a:buClr>
                  <a:buSzPct val="80000"/>
                  <a:buFont typeface="Arial" panose="020B0604020202020204" pitchFamily="34" charset="0"/>
                  <a:buChar char="•"/>
                  <a:defRPr kumimoji="1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kumimoji="1"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kumimoji="1"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kumimoji="1"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kumimoji="1"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>
                  <a:spcBef>
                    <a:spcPts val="0"/>
                  </a:spcBef>
                  <a:buClrTx/>
                  <a:buSzTx/>
                  <a:buFont typeface="Wingdings" panose="05000000000000000000" pitchFamily="2" charset="2"/>
                  <a:buNone/>
                  <a:defRPr/>
                </a:pPr>
                <a:r>
                  <a:rPr lang="ja-JP" altLang="en-US" b="1" kern="0" dirty="0">
                    <a:solidFill>
                      <a:srgbClr val="009644"/>
                    </a:solidFill>
                    <a:ea typeface="Meiryo UI" panose="020B0604030504040204" pitchFamily="34" charset="-128"/>
                  </a:rPr>
                  <a:t>担当</a:t>
                </a:r>
                <a:r>
                  <a:rPr lang="en-US" altLang="zh-TW" b="1" kern="0" dirty="0">
                    <a:solidFill>
                      <a:srgbClr val="009644"/>
                    </a:solidFill>
                    <a:ea typeface="Meiryo UI" panose="020B0604030504040204" pitchFamily="34" charset="-128"/>
                  </a:rPr>
                  <a:t>(</a:t>
                </a:r>
                <a:r>
                  <a:rPr lang="zh-TW" altLang="en-US" b="1" kern="0" dirty="0">
                    <a:solidFill>
                      <a:srgbClr val="009644"/>
                    </a:solidFill>
                    <a:ea typeface="Meiryo UI" panose="020B0604030504040204" pitchFamily="34" charset="-128"/>
                  </a:rPr>
                  <a:t>検査機系</a:t>
                </a:r>
                <a:r>
                  <a:rPr lang="en-US" altLang="ja-JP" b="1" kern="0" dirty="0">
                    <a:solidFill>
                      <a:srgbClr val="009644"/>
                    </a:solidFill>
                    <a:ea typeface="Meiryo UI" panose="020B0604030504040204" pitchFamily="34" charset="-128"/>
                  </a:rPr>
                  <a:t>)</a:t>
                </a:r>
                <a:endParaRPr lang="ja-JP" altLang="en-US" b="1" kern="0" dirty="0">
                  <a:solidFill>
                    <a:srgbClr val="009644"/>
                  </a:solidFill>
                  <a:ea typeface="Meiryo UI" panose="020B0604030504040204" pitchFamily="34" charset="-128"/>
                </a:endParaRPr>
              </a:p>
            </p:txBody>
          </p:sp>
          <p:sp>
            <p:nvSpPr>
              <p:cNvPr id="79" name="正方形/長方形 2">
                <a:extLst>
                  <a:ext uri="{FF2B5EF4-FFF2-40B4-BE49-F238E27FC236}">
                    <a16:creationId xmlns:a16="http://schemas.microsoft.com/office/drawing/2014/main" id="{DAE7D326-80BD-A77E-D434-9A57FE776FC8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7452402" y="4169664"/>
                <a:ext cx="1550424" cy="259045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</a:ln>
              <a:effectLst/>
            </p:spPr>
            <p:txBody>
              <a:bodyPr vert="horz" wrap="none" lIns="91440" tIns="45720" rIns="91440" bIns="45720" rtlCol="0" anchor="ctr">
                <a:spAutoFit/>
              </a:bodyPr>
              <a:lstStyle>
                <a:lvl1pPr marL="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001F6B"/>
                  </a:buClr>
                  <a:buSzPct val="80000"/>
                  <a:buFont typeface="Wingdings" panose="05000000000000000000" pitchFamily="2" charset="2"/>
                  <a:buChar char="n"/>
                  <a:defRPr kumimoji="1" lang="ja-JP" altLang="en-US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C8003C"/>
                  </a:buClr>
                  <a:buSzPct val="80000"/>
                  <a:buFont typeface="Wingdings" panose="05000000000000000000" pitchFamily="2" charset="2"/>
                  <a:buChar char="l"/>
                  <a:defRPr kumimoji="1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001F6B"/>
                  </a:buClr>
                  <a:buSzPct val="80000"/>
                  <a:buFont typeface="Meiryo UI" panose="020B0604030504040204" pitchFamily="50" charset="-128"/>
                  <a:buChar char="━"/>
                  <a:defRPr kumimoji="1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001F6B"/>
                  </a:buClr>
                  <a:buSzPct val="80000"/>
                  <a:buFont typeface="Wingdings" panose="05000000000000000000" pitchFamily="2" charset="2"/>
                  <a:buChar char="u"/>
                  <a:defRPr kumimoji="1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001F6B"/>
                  </a:buClr>
                  <a:buSzPct val="80000"/>
                  <a:buFont typeface="Arial" panose="020B0604020202020204" pitchFamily="34" charset="0"/>
                  <a:buChar char="•"/>
                  <a:defRPr kumimoji="1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kumimoji="1"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kumimoji="1"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kumimoji="1"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kumimoji="1"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914400">
                  <a:lnSpc>
                    <a:spcPts val="1300"/>
                  </a:lnSpc>
                  <a:spcBef>
                    <a:spcPts val="0"/>
                  </a:spcBef>
                  <a:buClrTx/>
                  <a:buSzTx/>
                  <a:buNone/>
                  <a:defRPr/>
                </a:pPr>
                <a:r>
                  <a:rPr lang="zh-TW" altLang="en-US" b="1" kern="0" dirty="0">
                    <a:solidFill>
                      <a:schemeClr val="tx1"/>
                    </a:solidFill>
                    <a:latin typeface="+mj-lt"/>
                    <a:ea typeface="Meiryo UI" panose="020B0604030504040204" pitchFamily="34" charset="-128"/>
                  </a:rPr>
                  <a:t>製造一部</a:t>
                </a:r>
                <a:r>
                  <a:rPr lang="en-US" altLang="zh-TW" b="1" kern="0" dirty="0">
                    <a:solidFill>
                      <a:schemeClr val="tx1"/>
                    </a:solidFill>
                    <a:latin typeface="+mj-lt"/>
                    <a:ea typeface="Meiryo UI" panose="020B0604030504040204" pitchFamily="34" charset="-128"/>
                  </a:rPr>
                  <a:t>_</a:t>
                </a:r>
                <a:r>
                  <a:rPr lang="zh-TW" altLang="en-US" b="1" kern="0" dirty="0">
                    <a:solidFill>
                      <a:schemeClr val="tx1"/>
                    </a:solidFill>
                    <a:latin typeface="+mj-lt"/>
                    <a:ea typeface="Meiryo UI" panose="020B0604030504040204" pitchFamily="34" charset="-128"/>
                  </a:rPr>
                  <a:t>生產推進課</a:t>
                </a:r>
                <a:endParaRPr lang="en-US" altLang="zh-TW" b="1" kern="0" dirty="0">
                  <a:solidFill>
                    <a:schemeClr val="tx1"/>
                  </a:solidFill>
                  <a:latin typeface="+mj-lt"/>
                  <a:ea typeface="Meiryo UI" panose="020B0604030504040204" pitchFamily="34" charset="-128"/>
                </a:endParaRPr>
              </a:p>
            </p:txBody>
          </p:sp>
          <p:sp>
            <p:nvSpPr>
              <p:cNvPr id="80" name="正方形/長方形 2">
                <a:extLst>
                  <a:ext uri="{FF2B5EF4-FFF2-40B4-BE49-F238E27FC236}">
                    <a16:creationId xmlns:a16="http://schemas.microsoft.com/office/drawing/2014/main" id="{60C1C9B9-D391-1009-58C3-4014805D0BAA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7452402" y="3688592"/>
                <a:ext cx="1550424" cy="259045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</a:ln>
              <a:effectLst/>
            </p:spPr>
            <p:txBody>
              <a:bodyPr vert="horz" wrap="none" lIns="91440" tIns="45720" rIns="91440" bIns="45720" rtlCol="0" anchor="ctr">
                <a:spAutoFit/>
              </a:bodyPr>
              <a:lstStyle>
                <a:lvl1pPr marL="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001F6B"/>
                  </a:buClr>
                  <a:buSzPct val="80000"/>
                  <a:buFont typeface="Wingdings" panose="05000000000000000000" pitchFamily="2" charset="2"/>
                  <a:buChar char="n"/>
                  <a:defRPr kumimoji="1" lang="ja-JP" altLang="en-US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C8003C"/>
                  </a:buClr>
                  <a:buSzPct val="80000"/>
                  <a:buFont typeface="Wingdings" panose="05000000000000000000" pitchFamily="2" charset="2"/>
                  <a:buChar char="l"/>
                  <a:defRPr kumimoji="1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001F6B"/>
                  </a:buClr>
                  <a:buSzPct val="80000"/>
                  <a:buFont typeface="Meiryo UI" panose="020B0604030504040204" pitchFamily="50" charset="-128"/>
                  <a:buChar char="━"/>
                  <a:defRPr kumimoji="1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001F6B"/>
                  </a:buClr>
                  <a:buSzPct val="80000"/>
                  <a:buFont typeface="Wingdings" panose="05000000000000000000" pitchFamily="2" charset="2"/>
                  <a:buChar char="u"/>
                  <a:defRPr kumimoji="1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001F6B"/>
                  </a:buClr>
                  <a:buSzPct val="80000"/>
                  <a:buFont typeface="Arial" panose="020B0604020202020204" pitchFamily="34" charset="0"/>
                  <a:buChar char="•"/>
                  <a:defRPr kumimoji="1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kumimoji="1"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kumimoji="1"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kumimoji="1"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kumimoji="1"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914400">
                  <a:lnSpc>
                    <a:spcPts val="1300"/>
                  </a:lnSpc>
                  <a:spcBef>
                    <a:spcPts val="0"/>
                  </a:spcBef>
                  <a:buClrTx/>
                  <a:buSzTx/>
                  <a:buNone/>
                  <a:defRPr/>
                </a:pPr>
                <a:r>
                  <a:rPr lang="zh-TW" altLang="en-US" b="1" kern="0" dirty="0">
                    <a:solidFill>
                      <a:schemeClr val="tx1"/>
                    </a:solidFill>
                    <a:latin typeface="+mj-lt"/>
                    <a:ea typeface="Meiryo UI" panose="020B0604030504040204" pitchFamily="34" charset="-128"/>
                  </a:rPr>
                  <a:t>製造一部</a:t>
                </a:r>
                <a:r>
                  <a:rPr lang="en-US" altLang="zh-TW" b="1" kern="0" dirty="0">
                    <a:solidFill>
                      <a:schemeClr val="tx1"/>
                    </a:solidFill>
                    <a:latin typeface="+mj-lt"/>
                    <a:ea typeface="Meiryo UI" panose="020B0604030504040204" pitchFamily="34" charset="-128"/>
                  </a:rPr>
                  <a:t>_</a:t>
                </a:r>
                <a:r>
                  <a:rPr lang="zh-TW" altLang="en-US" b="1" kern="0" dirty="0">
                    <a:solidFill>
                      <a:schemeClr val="tx1"/>
                    </a:solidFill>
                    <a:latin typeface="+mj-lt"/>
                    <a:ea typeface="Meiryo UI" panose="020B0604030504040204" pitchFamily="34" charset="-128"/>
                  </a:rPr>
                  <a:t>生產推進課</a:t>
                </a:r>
                <a:endParaRPr lang="en-US" altLang="zh-TW" b="1" kern="0" dirty="0">
                  <a:solidFill>
                    <a:schemeClr val="tx1"/>
                  </a:solidFill>
                  <a:latin typeface="+mj-lt"/>
                  <a:ea typeface="Meiryo UI" panose="020B0604030504040204" pitchFamily="34" charset="-128"/>
                </a:endParaRPr>
              </a:p>
            </p:txBody>
          </p:sp>
        </p:grpSp>
        <p:grpSp>
          <p:nvGrpSpPr>
            <p:cNvPr id="84" name="群組 83">
              <a:extLst>
                <a:ext uri="{FF2B5EF4-FFF2-40B4-BE49-F238E27FC236}">
                  <a16:creationId xmlns:a16="http://schemas.microsoft.com/office/drawing/2014/main" id="{C3CBE2EB-521A-8D21-8AB3-0DD77FD74FBF}"/>
                </a:ext>
              </a:extLst>
            </p:cNvPr>
            <p:cNvGrpSpPr/>
            <p:nvPr/>
          </p:nvGrpSpPr>
          <p:grpSpPr>
            <a:xfrm>
              <a:off x="5145577" y="3205960"/>
              <a:ext cx="1887890" cy="1331720"/>
              <a:chOff x="5275117" y="3103196"/>
              <a:chExt cx="1887890" cy="1331720"/>
            </a:xfrm>
          </p:grpSpPr>
          <p:grpSp>
            <p:nvGrpSpPr>
              <p:cNvPr id="72" name="群組 71">
                <a:extLst>
                  <a:ext uri="{FF2B5EF4-FFF2-40B4-BE49-F238E27FC236}">
                    <a16:creationId xmlns:a16="http://schemas.microsoft.com/office/drawing/2014/main" id="{89BD34A8-B9CA-6F5B-DB7D-2E40ABA3F201}"/>
                  </a:ext>
                </a:extLst>
              </p:cNvPr>
              <p:cNvGrpSpPr/>
              <p:nvPr/>
            </p:nvGrpSpPr>
            <p:grpSpPr>
              <a:xfrm>
                <a:off x="5319806" y="3354916"/>
                <a:ext cx="1671561" cy="1080000"/>
                <a:chOff x="5553187" y="3354916"/>
                <a:chExt cx="1671561" cy="1080000"/>
              </a:xfrm>
            </p:grpSpPr>
            <p:cxnSp>
              <p:nvCxnSpPr>
                <p:cNvPr id="69" name="直線接點 68">
                  <a:extLst>
                    <a:ext uri="{FF2B5EF4-FFF2-40B4-BE49-F238E27FC236}">
                      <a16:creationId xmlns:a16="http://schemas.microsoft.com/office/drawing/2014/main" id="{7E95DCBC-3A13-DEB5-7076-52E11ABFA8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553187" y="3354916"/>
                  <a:ext cx="0" cy="1080000"/>
                </a:xfrm>
                <a:prstGeom prst="line">
                  <a:avLst/>
                </a:prstGeom>
                <a:ln w="12700" cap="rnd">
                  <a:solidFill>
                    <a:srgbClr val="0000FF"/>
                  </a:solidFill>
                  <a:prstDash val="solid"/>
                  <a:round/>
                  <a:tail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直線接點 69">
                  <a:extLst>
                    <a:ext uri="{FF2B5EF4-FFF2-40B4-BE49-F238E27FC236}">
                      <a16:creationId xmlns:a16="http://schemas.microsoft.com/office/drawing/2014/main" id="{43B76298-C4EF-EC35-E61F-7274BBD285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553308" y="3939235"/>
                  <a:ext cx="1671440" cy="0"/>
                </a:xfrm>
                <a:prstGeom prst="line">
                  <a:avLst/>
                </a:prstGeom>
                <a:ln w="12700" cap="rnd">
                  <a:solidFill>
                    <a:srgbClr val="0000FF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直線接點 70">
                  <a:extLst>
                    <a:ext uri="{FF2B5EF4-FFF2-40B4-BE49-F238E27FC236}">
                      <a16:creationId xmlns:a16="http://schemas.microsoft.com/office/drawing/2014/main" id="{75547ABC-FED5-338A-D5A9-8D53C063BD3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553308" y="4421835"/>
                  <a:ext cx="1671440" cy="0"/>
                </a:xfrm>
                <a:prstGeom prst="line">
                  <a:avLst/>
                </a:prstGeom>
                <a:ln w="12700" cap="rnd">
                  <a:solidFill>
                    <a:srgbClr val="0000FF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6" name="正方形/長方形 2">
                <a:extLst>
                  <a:ext uri="{FF2B5EF4-FFF2-40B4-BE49-F238E27FC236}">
                    <a16:creationId xmlns:a16="http://schemas.microsoft.com/office/drawing/2014/main" id="{385E87F4-1C28-FCC9-0ED0-D5732F6B3C30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5275117" y="3490547"/>
                <a:ext cx="806631" cy="259045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</a:ln>
              <a:effectLst/>
            </p:spPr>
            <p:txBody>
              <a:bodyPr vert="horz" wrap="none" lIns="91440" tIns="45720" rIns="91440" bIns="45720" rtlCol="0" anchor="ctr">
                <a:spAutoFit/>
              </a:bodyPr>
              <a:lstStyle>
                <a:lvl1pPr marL="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001F6B"/>
                  </a:buClr>
                  <a:buSzPct val="80000"/>
                  <a:buFont typeface="Wingdings" panose="05000000000000000000" pitchFamily="2" charset="2"/>
                  <a:buChar char="n"/>
                  <a:defRPr kumimoji="1" lang="ja-JP" altLang="en-US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C8003C"/>
                  </a:buClr>
                  <a:buSzPct val="80000"/>
                  <a:buFont typeface="Wingdings" panose="05000000000000000000" pitchFamily="2" charset="2"/>
                  <a:buChar char="l"/>
                  <a:defRPr kumimoji="1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001F6B"/>
                  </a:buClr>
                  <a:buSzPct val="80000"/>
                  <a:buFont typeface="Meiryo UI" panose="020B0604030504040204" pitchFamily="50" charset="-128"/>
                  <a:buChar char="━"/>
                  <a:defRPr kumimoji="1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001F6B"/>
                  </a:buClr>
                  <a:buSzPct val="80000"/>
                  <a:buFont typeface="Wingdings" panose="05000000000000000000" pitchFamily="2" charset="2"/>
                  <a:buChar char="u"/>
                  <a:defRPr kumimoji="1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001F6B"/>
                  </a:buClr>
                  <a:buSzPct val="80000"/>
                  <a:buFont typeface="Arial" panose="020B0604020202020204" pitchFamily="34" charset="0"/>
                  <a:buChar char="•"/>
                  <a:defRPr kumimoji="1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kumimoji="1"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kumimoji="1"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kumimoji="1"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kumimoji="1"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914400">
                  <a:lnSpc>
                    <a:spcPts val="1300"/>
                  </a:lnSpc>
                  <a:spcBef>
                    <a:spcPts val="0"/>
                  </a:spcBef>
                  <a:buClrTx/>
                  <a:buSzTx/>
                  <a:buNone/>
                  <a:defRPr/>
                </a:pPr>
                <a:r>
                  <a:rPr lang="zh-TW" altLang="en-US" b="1" kern="0" dirty="0">
                    <a:solidFill>
                      <a:srgbClr val="0000FF"/>
                    </a:solidFill>
                    <a:latin typeface="+mj-lt"/>
                    <a:ea typeface="Meiryo UI" panose="020B0604030504040204" pitchFamily="34" charset="-128"/>
                  </a:rPr>
                  <a:t>主</a:t>
                </a:r>
                <a:r>
                  <a:rPr lang="en-US" altLang="zh-TW" b="1" kern="0" dirty="0">
                    <a:solidFill>
                      <a:srgbClr val="0000FF"/>
                    </a:solidFill>
                    <a:latin typeface="+mj-lt"/>
                    <a:ea typeface="Meiryo UI" panose="020B0604030504040204" pitchFamily="34" charset="-128"/>
                  </a:rPr>
                  <a:t>:</a:t>
                </a:r>
                <a:r>
                  <a:rPr lang="zh-TW" altLang="en-US" b="1" dirty="0">
                    <a:solidFill>
                      <a:srgbClr val="0000FF"/>
                    </a:solidFill>
                    <a:latin typeface="+mj-lt"/>
                    <a:ea typeface="Meiryo UI" panose="020B0604030504040204" pitchFamily="34" charset="-128"/>
                  </a:rPr>
                  <a:t>黃乙原</a:t>
                </a:r>
                <a:endParaRPr lang="en-US" altLang="zh-TW" b="1" kern="0" dirty="0">
                  <a:solidFill>
                    <a:srgbClr val="0000FF"/>
                  </a:solidFill>
                  <a:latin typeface="+mj-lt"/>
                  <a:ea typeface="Meiryo UI" panose="020B0604030504040204" pitchFamily="34" charset="-128"/>
                </a:endParaRPr>
              </a:p>
            </p:txBody>
          </p:sp>
          <p:sp>
            <p:nvSpPr>
              <p:cNvPr id="47" name="正方形/長方形 2">
                <a:extLst>
                  <a:ext uri="{FF2B5EF4-FFF2-40B4-BE49-F238E27FC236}">
                    <a16:creationId xmlns:a16="http://schemas.microsoft.com/office/drawing/2014/main" id="{DA6D1415-6192-F5AD-76E5-E9C22417D229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5281282" y="3944200"/>
                <a:ext cx="806631" cy="259045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</a:ln>
              <a:effectLst/>
            </p:spPr>
            <p:txBody>
              <a:bodyPr vert="horz" wrap="none" lIns="91440" tIns="45720" rIns="91440" bIns="45720" rtlCol="0" anchor="ctr">
                <a:spAutoFit/>
              </a:bodyPr>
              <a:lstStyle>
                <a:lvl1pPr marL="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001F6B"/>
                  </a:buClr>
                  <a:buSzPct val="80000"/>
                  <a:buFont typeface="Wingdings" panose="05000000000000000000" pitchFamily="2" charset="2"/>
                  <a:buChar char="n"/>
                  <a:defRPr kumimoji="1" lang="ja-JP" altLang="en-US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C8003C"/>
                  </a:buClr>
                  <a:buSzPct val="80000"/>
                  <a:buFont typeface="Wingdings" panose="05000000000000000000" pitchFamily="2" charset="2"/>
                  <a:buChar char="l"/>
                  <a:defRPr kumimoji="1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001F6B"/>
                  </a:buClr>
                  <a:buSzPct val="80000"/>
                  <a:buFont typeface="Meiryo UI" panose="020B0604030504040204" pitchFamily="50" charset="-128"/>
                  <a:buChar char="━"/>
                  <a:defRPr kumimoji="1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001F6B"/>
                  </a:buClr>
                  <a:buSzPct val="80000"/>
                  <a:buFont typeface="Wingdings" panose="05000000000000000000" pitchFamily="2" charset="2"/>
                  <a:buChar char="u"/>
                  <a:defRPr kumimoji="1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001F6B"/>
                  </a:buClr>
                  <a:buSzPct val="80000"/>
                  <a:buFont typeface="Arial" panose="020B0604020202020204" pitchFamily="34" charset="0"/>
                  <a:buChar char="•"/>
                  <a:defRPr kumimoji="1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kumimoji="1"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kumimoji="1"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kumimoji="1"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kumimoji="1"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914400">
                  <a:lnSpc>
                    <a:spcPts val="1300"/>
                  </a:lnSpc>
                  <a:spcBef>
                    <a:spcPts val="0"/>
                  </a:spcBef>
                  <a:buClrTx/>
                  <a:buSzTx/>
                  <a:buFont typeface="Wingdings" panose="05000000000000000000" pitchFamily="2" charset="2"/>
                  <a:buNone/>
                  <a:defRPr/>
                </a:pPr>
                <a:r>
                  <a:rPr lang="ja-JP" altLang="en-US" b="1" kern="0" dirty="0">
                    <a:solidFill>
                      <a:srgbClr val="0000FF"/>
                    </a:solidFill>
                    <a:latin typeface="+mj-lt"/>
                    <a:ea typeface="Meiryo UI" panose="020B0604030504040204" pitchFamily="34" charset="-128"/>
                  </a:rPr>
                  <a:t>副</a:t>
                </a:r>
                <a:r>
                  <a:rPr lang="en-US" altLang="ja-JP" b="1" kern="0" dirty="0">
                    <a:solidFill>
                      <a:srgbClr val="0000FF"/>
                    </a:solidFill>
                    <a:latin typeface="+mj-lt"/>
                    <a:ea typeface="Meiryo UI" panose="020B0604030504040204" pitchFamily="34" charset="-128"/>
                  </a:rPr>
                  <a:t>:</a:t>
                </a:r>
                <a:r>
                  <a:rPr lang="ja-JP" altLang="en-US" b="1" kern="0" dirty="0">
                    <a:solidFill>
                      <a:srgbClr val="0000FF"/>
                    </a:solidFill>
                    <a:latin typeface="+mj-lt"/>
                    <a:ea typeface="Meiryo UI" panose="020B0604030504040204" pitchFamily="34" charset="-128"/>
                  </a:rPr>
                  <a:t>張富羿</a:t>
                </a:r>
              </a:p>
            </p:txBody>
          </p:sp>
          <p:sp>
            <p:nvSpPr>
              <p:cNvPr id="48" name="正方形/長方形 2">
                <a:extLst>
                  <a:ext uri="{FF2B5EF4-FFF2-40B4-BE49-F238E27FC236}">
                    <a16:creationId xmlns:a16="http://schemas.microsoft.com/office/drawing/2014/main" id="{CED32577-DBE3-3CFF-38B0-DB973768ABAE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5319806" y="3103196"/>
                <a:ext cx="1539523" cy="289441"/>
              </a:xfrm>
              <a:prstGeom prst="roundRect">
                <a:avLst/>
              </a:prstGeom>
              <a:noFill/>
              <a:ln w="12700" cap="flat" cmpd="sng" algn="ctr">
                <a:solidFill>
                  <a:srgbClr val="0000FF"/>
                </a:solidFill>
                <a:prstDash val="solid"/>
              </a:ln>
              <a:effectLst/>
            </p:spPr>
            <p:txBody>
              <a:bodyPr vert="horz" wrap="none" lIns="91440" tIns="45720" rIns="91440" bIns="45720" rtlCol="0" anchor="ctr">
                <a:spAutoFit/>
              </a:bodyPr>
              <a:lstStyle>
                <a:lvl1pPr marL="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001F6B"/>
                  </a:buClr>
                  <a:buSzPct val="80000"/>
                  <a:buFont typeface="Wingdings" panose="05000000000000000000" pitchFamily="2" charset="2"/>
                  <a:buChar char="n"/>
                  <a:defRPr kumimoji="1" lang="ja-JP" altLang="en-US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C8003C"/>
                  </a:buClr>
                  <a:buSzPct val="80000"/>
                  <a:buFont typeface="Wingdings" panose="05000000000000000000" pitchFamily="2" charset="2"/>
                  <a:buChar char="l"/>
                  <a:defRPr kumimoji="1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001F6B"/>
                  </a:buClr>
                  <a:buSzPct val="80000"/>
                  <a:buFont typeface="Meiryo UI" panose="020B0604030504040204" pitchFamily="50" charset="-128"/>
                  <a:buChar char="━"/>
                  <a:defRPr kumimoji="1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001F6B"/>
                  </a:buClr>
                  <a:buSzPct val="80000"/>
                  <a:buFont typeface="Wingdings" panose="05000000000000000000" pitchFamily="2" charset="2"/>
                  <a:buChar char="u"/>
                  <a:defRPr kumimoji="1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001F6B"/>
                  </a:buClr>
                  <a:buSzPct val="80000"/>
                  <a:buFont typeface="Arial" panose="020B0604020202020204" pitchFamily="34" charset="0"/>
                  <a:buChar char="•"/>
                  <a:defRPr kumimoji="1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kumimoji="1"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kumimoji="1"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kumimoji="1"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kumimoji="1"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>
                  <a:spcBef>
                    <a:spcPts val="0"/>
                  </a:spcBef>
                  <a:buClrTx/>
                  <a:buSzTx/>
                  <a:buFont typeface="Wingdings" panose="05000000000000000000" pitchFamily="2" charset="2"/>
                  <a:buNone/>
                  <a:defRPr/>
                </a:pPr>
                <a:r>
                  <a:rPr lang="ja-JP" altLang="en-US" b="1" kern="0" dirty="0">
                    <a:solidFill>
                      <a:srgbClr val="0000FF"/>
                    </a:solidFill>
                    <a:ea typeface="Meiryo UI" panose="020B0604030504040204" pitchFamily="34" charset="-128"/>
                  </a:rPr>
                  <a:t>担当</a:t>
                </a:r>
                <a:r>
                  <a:rPr lang="en-US" altLang="ja-JP" b="1" kern="0" dirty="0">
                    <a:solidFill>
                      <a:srgbClr val="0000FF"/>
                    </a:solidFill>
                    <a:ea typeface="Meiryo UI" panose="020B0604030504040204" pitchFamily="34" charset="-128"/>
                  </a:rPr>
                  <a:t>(</a:t>
                </a:r>
                <a:r>
                  <a:rPr lang="ja-JP" altLang="en-US" b="1" kern="0" dirty="0">
                    <a:solidFill>
                      <a:srgbClr val="0000FF"/>
                    </a:solidFill>
                    <a:ea typeface="Meiryo UI" panose="020B0604030504040204" pitchFamily="34" charset="-128"/>
                  </a:rPr>
                  <a:t>機械系・電気系</a:t>
                </a:r>
                <a:r>
                  <a:rPr lang="en-US" altLang="ja-JP" b="1" kern="0" dirty="0">
                    <a:solidFill>
                      <a:srgbClr val="0000FF"/>
                    </a:solidFill>
                    <a:ea typeface="Meiryo UI" panose="020B0604030504040204" pitchFamily="34" charset="-128"/>
                  </a:rPr>
                  <a:t>)</a:t>
                </a:r>
                <a:endParaRPr lang="ja-JP" altLang="en-US" b="1" kern="0" dirty="0">
                  <a:solidFill>
                    <a:srgbClr val="0000FF"/>
                  </a:solidFill>
                  <a:ea typeface="Meiryo UI" panose="020B0604030504040204" pitchFamily="34" charset="-128"/>
                </a:endParaRPr>
              </a:p>
            </p:txBody>
          </p:sp>
          <p:sp>
            <p:nvSpPr>
              <p:cNvPr id="81" name="正方形/長方形 2">
                <a:extLst>
                  <a:ext uri="{FF2B5EF4-FFF2-40B4-BE49-F238E27FC236}">
                    <a16:creationId xmlns:a16="http://schemas.microsoft.com/office/drawing/2014/main" id="{093FF379-9F67-6298-74DB-E8CC0883173A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5471518" y="4169664"/>
                <a:ext cx="1614545" cy="259045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</a:ln>
              <a:effectLst/>
            </p:spPr>
            <p:txBody>
              <a:bodyPr vert="horz" wrap="none" lIns="91440" tIns="45720" rIns="91440" bIns="45720" rtlCol="0" anchor="ctr">
                <a:spAutoFit/>
              </a:bodyPr>
              <a:lstStyle>
                <a:lvl1pPr marL="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001F6B"/>
                  </a:buClr>
                  <a:buSzPct val="80000"/>
                  <a:buFont typeface="Wingdings" panose="05000000000000000000" pitchFamily="2" charset="2"/>
                  <a:buChar char="n"/>
                  <a:defRPr kumimoji="1" lang="ja-JP" altLang="en-US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C8003C"/>
                  </a:buClr>
                  <a:buSzPct val="80000"/>
                  <a:buFont typeface="Wingdings" panose="05000000000000000000" pitchFamily="2" charset="2"/>
                  <a:buChar char="l"/>
                  <a:defRPr kumimoji="1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001F6B"/>
                  </a:buClr>
                  <a:buSzPct val="80000"/>
                  <a:buFont typeface="Meiryo UI" panose="020B0604030504040204" pitchFamily="50" charset="-128"/>
                  <a:buChar char="━"/>
                  <a:defRPr kumimoji="1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001F6B"/>
                  </a:buClr>
                  <a:buSzPct val="80000"/>
                  <a:buFont typeface="Wingdings" panose="05000000000000000000" pitchFamily="2" charset="2"/>
                  <a:buChar char="u"/>
                  <a:defRPr kumimoji="1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001F6B"/>
                  </a:buClr>
                  <a:buSzPct val="80000"/>
                  <a:buFont typeface="Arial" panose="020B0604020202020204" pitchFamily="34" charset="0"/>
                  <a:buChar char="•"/>
                  <a:defRPr kumimoji="1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kumimoji="1"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kumimoji="1"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kumimoji="1"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kumimoji="1"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914400">
                  <a:lnSpc>
                    <a:spcPts val="1300"/>
                  </a:lnSpc>
                  <a:spcBef>
                    <a:spcPts val="0"/>
                  </a:spcBef>
                  <a:buClrTx/>
                  <a:buSzTx/>
                  <a:buNone/>
                  <a:defRPr/>
                </a:pPr>
                <a:r>
                  <a:rPr lang="zh-TW" altLang="en-US" b="1" kern="0" dirty="0">
                    <a:solidFill>
                      <a:schemeClr val="tx1"/>
                    </a:solidFill>
                    <a:latin typeface="+mj-lt"/>
                    <a:ea typeface="Meiryo UI" panose="020B0604030504040204" pitchFamily="34" charset="-128"/>
                  </a:rPr>
                  <a:t>製造一部</a:t>
                </a:r>
                <a:r>
                  <a:rPr lang="en-US" altLang="zh-TW" b="1" kern="0" dirty="0">
                    <a:solidFill>
                      <a:schemeClr val="tx1"/>
                    </a:solidFill>
                    <a:latin typeface="+mj-lt"/>
                    <a:ea typeface="Meiryo UI" panose="020B0604030504040204" pitchFamily="34" charset="-128"/>
                  </a:rPr>
                  <a:t>_</a:t>
                </a:r>
                <a:r>
                  <a:rPr lang="zh-TW" altLang="en-US" sz="1000" b="1" kern="0" dirty="0">
                    <a:solidFill>
                      <a:schemeClr val="tx1"/>
                    </a:solidFill>
                    <a:ea typeface="Meiryo UI" panose="020B0604030504040204" pitchFamily="34" charset="-128"/>
                  </a:rPr>
                  <a:t>素材製造一課</a:t>
                </a:r>
                <a:endParaRPr lang="en-US" altLang="zh-TW" b="1" kern="0" dirty="0">
                  <a:solidFill>
                    <a:schemeClr val="tx1"/>
                  </a:solidFill>
                  <a:latin typeface="+mj-lt"/>
                  <a:ea typeface="Meiryo UI" panose="020B0604030504040204" pitchFamily="34" charset="-128"/>
                </a:endParaRPr>
              </a:p>
            </p:txBody>
          </p:sp>
          <p:sp>
            <p:nvSpPr>
              <p:cNvPr id="82" name="正方形/長方形 2">
                <a:extLst>
                  <a:ext uri="{FF2B5EF4-FFF2-40B4-BE49-F238E27FC236}">
                    <a16:creationId xmlns:a16="http://schemas.microsoft.com/office/drawing/2014/main" id="{03D149FD-A3DC-29DB-7D78-9E76EFADC3C0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5471518" y="3688592"/>
                <a:ext cx="1691489" cy="259045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</a:ln>
              <a:effectLst/>
            </p:spPr>
            <p:txBody>
              <a:bodyPr vert="horz" wrap="none" lIns="91440" tIns="45720" rIns="91440" bIns="45720" rtlCol="0" anchor="ctr">
                <a:spAutoFit/>
              </a:bodyPr>
              <a:lstStyle>
                <a:lvl1pPr marL="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001F6B"/>
                  </a:buClr>
                  <a:buSzPct val="80000"/>
                  <a:buFont typeface="Wingdings" panose="05000000000000000000" pitchFamily="2" charset="2"/>
                  <a:buChar char="n"/>
                  <a:defRPr kumimoji="1" lang="ja-JP" altLang="en-US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C8003C"/>
                  </a:buClr>
                  <a:buSzPct val="80000"/>
                  <a:buFont typeface="Wingdings" panose="05000000000000000000" pitchFamily="2" charset="2"/>
                  <a:buChar char="l"/>
                  <a:defRPr kumimoji="1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001F6B"/>
                  </a:buClr>
                  <a:buSzPct val="80000"/>
                  <a:buFont typeface="Meiryo UI" panose="020B0604030504040204" pitchFamily="50" charset="-128"/>
                  <a:buChar char="━"/>
                  <a:defRPr kumimoji="1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001F6B"/>
                  </a:buClr>
                  <a:buSzPct val="80000"/>
                  <a:buFont typeface="Wingdings" panose="05000000000000000000" pitchFamily="2" charset="2"/>
                  <a:buChar char="u"/>
                  <a:defRPr kumimoji="1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685800" rtl="0" eaLnBrk="1" latinLnBrk="0" hangingPunct="1">
                  <a:lnSpc>
                    <a:spcPct val="100000"/>
                  </a:lnSpc>
                  <a:spcBef>
                    <a:spcPts val="450"/>
                  </a:spcBef>
                  <a:buClr>
                    <a:srgbClr val="001F6B"/>
                  </a:buClr>
                  <a:buSzPct val="80000"/>
                  <a:buFont typeface="Arial" panose="020B0604020202020204" pitchFamily="34" charset="0"/>
                  <a:buChar char="•"/>
                  <a:defRPr kumimoji="1" sz="1100" b="0" i="0" kern="1200" baseline="0">
                    <a:solidFill>
                      <a:srgbClr val="404040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kumimoji="1"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kumimoji="1"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kumimoji="1"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kumimoji="1"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914400">
                  <a:lnSpc>
                    <a:spcPts val="1300"/>
                  </a:lnSpc>
                  <a:spcBef>
                    <a:spcPts val="0"/>
                  </a:spcBef>
                  <a:buClrTx/>
                  <a:buSzTx/>
                  <a:buNone/>
                  <a:defRPr/>
                </a:pPr>
                <a:r>
                  <a:rPr lang="zh-TW" altLang="en-US" b="1" kern="0" dirty="0">
                    <a:solidFill>
                      <a:schemeClr val="tx1"/>
                    </a:solidFill>
                    <a:latin typeface="+mj-lt"/>
                    <a:ea typeface="Meiryo UI" panose="020B0604030504040204" pitchFamily="34" charset="-128"/>
                  </a:rPr>
                  <a:t>製造一部</a:t>
                </a:r>
                <a:r>
                  <a:rPr lang="en-US" altLang="zh-TW" b="1" kern="0" dirty="0">
                    <a:solidFill>
                      <a:schemeClr val="tx1"/>
                    </a:solidFill>
                    <a:latin typeface="+mj-lt"/>
                    <a:ea typeface="Meiryo UI" panose="020B0604030504040204" pitchFamily="34" charset="-128"/>
                  </a:rPr>
                  <a:t>_</a:t>
                </a:r>
                <a:r>
                  <a:rPr lang="zh-TW" altLang="en-US" b="1" kern="0" dirty="0">
                    <a:solidFill>
                      <a:schemeClr val="tx1"/>
                    </a:solidFill>
                    <a:latin typeface="+mj-lt"/>
                    <a:ea typeface="Meiryo UI" panose="020B0604030504040204" pitchFamily="34" charset="-128"/>
                  </a:rPr>
                  <a:t>素材製造三課</a:t>
                </a:r>
                <a:endParaRPr lang="en-US" altLang="zh-TW" b="1" kern="0" dirty="0">
                  <a:solidFill>
                    <a:schemeClr val="tx1"/>
                  </a:solidFill>
                  <a:latin typeface="+mj-lt"/>
                  <a:ea typeface="Meiryo UI" panose="020B0604030504040204" pitchFamily="34" charset="-128"/>
                </a:endParaRPr>
              </a:p>
            </p:txBody>
          </p:sp>
        </p:grpSp>
        <p:sp>
          <p:nvSpPr>
            <p:cNvPr id="86" name="正方形/長方形 66">
              <a:extLst>
                <a:ext uri="{FF2B5EF4-FFF2-40B4-BE49-F238E27FC236}">
                  <a16:creationId xmlns:a16="http://schemas.microsoft.com/office/drawing/2014/main" id="{F876105D-8BD1-BBB0-04AA-49C8D57694D1}"/>
                </a:ext>
              </a:extLst>
            </p:cNvPr>
            <p:cNvSpPr/>
            <p:nvPr/>
          </p:nvSpPr>
          <p:spPr bwMode="auto">
            <a:xfrm>
              <a:off x="5126993" y="777402"/>
              <a:ext cx="3799633" cy="3818102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TW" altLang="en-US" dirty="0"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72132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C1DBF-7A74-301C-B1C8-272F7526B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86D62C-4A5E-5341-22AA-46218F693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設備異常の再発防止取り組み</a:t>
            </a:r>
            <a:endParaRPr kumimoji="1" lang="ja-JP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51EADFB-6217-D7A5-8D05-C05E75CF47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000" y="640851"/>
            <a:ext cx="4127733" cy="347916"/>
          </a:xfrm>
        </p:spPr>
        <p:txBody>
          <a:bodyPr wrap="none">
            <a:spAutoFit/>
          </a:bodyPr>
          <a:lstStyle/>
          <a:p>
            <a:r>
              <a:rPr lang="en-US" altLang="ja-JP" b="1" dirty="0">
                <a:solidFill>
                  <a:schemeClr val="tx1"/>
                </a:solidFill>
              </a:rPr>
              <a:t>2026</a:t>
            </a:r>
            <a:r>
              <a:rPr lang="ja-JP" altLang="en-US" b="1" dirty="0">
                <a:solidFill>
                  <a:schemeClr val="tx1"/>
                </a:solidFill>
              </a:rPr>
              <a:t>横展開フロー（</a:t>
            </a:r>
            <a:r>
              <a:rPr lang="en-US" altLang="ja-JP" b="1" dirty="0">
                <a:solidFill>
                  <a:schemeClr val="tx1"/>
                </a:solidFill>
              </a:rPr>
              <a:t>TPM) (CH)  </a:t>
            </a:r>
            <a:r>
              <a:rPr lang="zh-TW" altLang="en-US" b="1" dirty="0">
                <a:solidFill>
                  <a:schemeClr val="tx1"/>
                </a:solidFill>
              </a:rPr>
              <a:t>彙整</a:t>
            </a:r>
          </a:p>
        </p:txBody>
      </p:sp>
      <p:graphicFrame>
        <p:nvGraphicFramePr>
          <p:cNvPr id="3" name="コンテンツ プレースホルダー 4">
            <a:extLst>
              <a:ext uri="{FF2B5EF4-FFF2-40B4-BE49-F238E27FC236}">
                <a16:creationId xmlns:a16="http://schemas.microsoft.com/office/drawing/2014/main" id="{E6A0C412-2D7C-3E3D-E76F-5C9A3762F60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38835631"/>
              </p:ext>
            </p:extLst>
          </p:nvPr>
        </p:nvGraphicFramePr>
        <p:xfrm>
          <a:off x="160020" y="1028333"/>
          <a:ext cx="8808720" cy="3597005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235937746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594085478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4269421482"/>
                    </a:ext>
                  </a:extLst>
                </a:gridCol>
                <a:gridCol w="1592580">
                  <a:extLst>
                    <a:ext uri="{9D8B030D-6E8A-4147-A177-3AD203B41FA5}">
                      <a16:colId xmlns:a16="http://schemas.microsoft.com/office/drawing/2014/main" val="2289978894"/>
                    </a:ext>
                  </a:extLst>
                </a:gridCol>
                <a:gridCol w="1430020">
                  <a:extLst>
                    <a:ext uri="{9D8B030D-6E8A-4147-A177-3AD203B41FA5}">
                      <a16:colId xmlns:a16="http://schemas.microsoft.com/office/drawing/2014/main" val="3655193157"/>
                    </a:ext>
                  </a:extLst>
                </a:gridCol>
                <a:gridCol w="1410970">
                  <a:extLst>
                    <a:ext uri="{9D8B030D-6E8A-4147-A177-3AD203B41FA5}">
                      <a16:colId xmlns:a16="http://schemas.microsoft.com/office/drawing/2014/main" val="1911881278"/>
                    </a:ext>
                  </a:extLst>
                </a:gridCol>
                <a:gridCol w="1410970">
                  <a:extLst>
                    <a:ext uri="{9D8B030D-6E8A-4147-A177-3AD203B41FA5}">
                      <a16:colId xmlns:a16="http://schemas.microsoft.com/office/drawing/2014/main" val="2125110171"/>
                    </a:ext>
                  </a:extLst>
                </a:gridCol>
              </a:tblGrid>
              <a:tr h="1563217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TPM</a:t>
                      </a:r>
                    </a:p>
                  </a:txBody>
                  <a:tcPr vert="eaVert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000" b="1" dirty="0"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由技開提供其他據點的情報</a:t>
                      </a:r>
                    </a:p>
                    <a:p>
                      <a:pPr algn="l"/>
                      <a:r>
                        <a:rPr kumimoji="1" lang="ja-JP" altLang="en-US" sz="1000" b="1" dirty="0"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・異常報告書</a:t>
                      </a:r>
                    </a:p>
                    <a:p>
                      <a:pPr algn="l"/>
                      <a:r>
                        <a:rPr kumimoji="1" lang="ja-JP" altLang="en-US" sz="1000" b="1" dirty="0"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・調査依頼</a:t>
                      </a:r>
                    </a:p>
                    <a:p>
                      <a:pPr algn="l"/>
                      <a:r>
                        <a:rPr kumimoji="1" lang="ja-JP" altLang="en-US" sz="1000" b="1" dirty="0"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・改善事例等</a:t>
                      </a:r>
                      <a:endParaRPr kumimoji="1" lang="en-US" altLang="ja-JP" sz="1000" b="1" dirty="0">
                        <a:latin typeface="MS Gothic" panose="020B0609070205080204" pitchFamily="49" charset="-128"/>
                        <a:ea typeface="MS Gothic" panose="020B0609070205080204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000" b="1" dirty="0"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翻訳依頼⇒</a:t>
                      </a:r>
                      <a:r>
                        <a:rPr kumimoji="1" lang="zh-TW" altLang="en-US" sz="1000" b="1" dirty="0"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存放</a:t>
                      </a:r>
                      <a:r>
                        <a:rPr kumimoji="1" lang="ja-JP" altLang="en-US" sz="1000" b="1" dirty="0"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⇒ＡＤＴ内発</a:t>
                      </a:r>
                      <a:r>
                        <a:rPr kumimoji="1" lang="zh-TW" altLang="en-US" sz="1000" b="1" dirty="0"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送</a:t>
                      </a:r>
                      <a:endParaRPr kumimoji="1" lang="en-US" altLang="ja-JP" sz="1000" b="1" dirty="0">
                        <a:latin typeface="MS Gothic" panose="020B0609070205080204" pitchFamily="49" charset="-128"/>
                        <a:ea typeface="MS Gothic" panose="020B0609070205080204" pitchFamily="49" charset="-128"/>
                      </a:endParaRPr>
                    </a:p>
                    <a:p>
                      <a:pPr algn="l"/>
                      <a:endParaRPr kumimoji="1" lang="en-US" altLang="ja-JP" sz="1000" b="1" dirty="0">
                        <a:latin typeface="MS Gothic" panose="020B0609070205080204" pitchFamily="49" charset="-128"/>
                        <a:ea typeface="MS Gothic" panose="020B0609070205080204" pitchFamily="49" charset="-128"/>
                      </a:endParaRPr>
                    </a:p>
                    <a:p>
                      <a:pPr algn="l"/>
                      <a:r>
                        <a:rPr kumimoji="1" lang="en-US" altLang="ja-JP" sz="1000" b="1" dirty="0"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※</a:t>
                      </a:r>
                      <a:r>
                        <a:rPr kumimoji="1" lang="zh-TW" altLang="en-US" sz="1000" b="1" dirty="0"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擔當</a:t>
                      </a:r>
                      <a:r>
                        <a:rPr kumimoji="1" lang="ja-JP" altLang="zh-TW" sz="1000" b="1" dirty="0">
                          <a:solidFill>
                            <a:schemeClr val="dk1"/>
                          </a:solidFill>
                          <a:effectLst/>
                          <a:latin typeface="MS Gothic" panose="020B0609070205080204" pitchFamily="49" charset="-128"/>
                          <a:ea typeface="MS Gothic" panose="020B0609070205080204" pitchFamily="49" charset="-128"/>
                          <a:cs typeface="+mn-cs"/>
                        </a:rPr>
                        <a:t>⇒</a:t>
                      </a:r>
                      <a:r>
                        <a:rPr kumimoji="1" lang="zh-TW" altLang="zh-TW" sz="1000" b="1" i="0" baseline="0" dirty="0">
                          <a:solidFill>
                            <a:schemeClr val="dk1"/>
                          </a:solidFill>
                          <a:effectLst/>
                          <a:latin typeface="MS Gothic" panose="020B0609070205080204" pitchFamily="49" charset="-128"/>
                          <a:ea typeface="MS Gothic" panose="020B0609070205080204" pitchFamily="49" charset="-128"/>
                          <a:cs typeface="+mn-cs"/>
                        </a:rPr>
                        <a:t>乙原</a:t>
                      </a:r>
                      <a:r>
                        <a:rPr kumimoji="1" lang="ja-JP" altLang="en-US" sz="1000" b="1" dirty="0"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さん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000" b="1" dirty="0"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包含設技・推進課，進行対策検討。</a:t>
                      </a:r>
                      <a:endParaRPr kumimoji="1" lang="en-US" altLang="ja-JP" sz="1000" b="1" dirty="0">
                        <a:latin typeface="MS Gothic" panose="020B0609070205080204" pitchFamily="49" charset="-128"/>
                        <a:ea typeface="MS Gothic" panose="020B0609070205080204" pitchFamily="49" charset="-128"/>
                      </a:endParaRPr>
                    </a:p>
                    <a:p>
                      <a:pPr algn="l"/>
                      <a:endParaRPr kumimoji="1" lang="ja-JP" altLang="en-US" sz="1000" b="1" dirty="0">
                        <a:latin typeface="MS Gothic" panose="020B0609070205080204" pitchFamily="49" charset="-128"/>
                        <a:ea typeface="MS Gothic" panose="020B0609070205080204" pitchFamily="49" charset="-128"/>
                      </a:endParaRPr>
                    </a:p>
                    <a:p>
                      <a:pPr algn="l"/>
                      <a:r>
                        <a:rPr kumimoji="1" lang="ja-JP" altLang="en-US" sz="1000" b="1" dirty="0"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★討論至是否需要横展開。</a:t>
                      </a:r>
                    </a:p>
                    <a:p>
                      <a:pPr algn="l"/>
                      <a:endParaRPr kumimoji="1" lang="en-US" altLang="ja-JP" sz="1000" b="1" dirty="0">
                        <a:latin typeface="MS Gothic" panose="020B0609070205080204" pitchFamily="49" charset="-128"/>
                        <a:ea typeface="MS Gothic" panose="020B0609070205080204" pitchFamily="49" charset="-128"/>
                      </a:endParaRPr>
                    </a:p>
                    <a:p>
                      <a:pPr algn="l"/>
                      <a:r>
                        <a:rPr kumimoji="1" lang="ja-JP" altLang="en-US" sz="1000" b="1" dirty="0"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★横展開進度確認表更新。</a:t>
                      </a:r>
                    </a:p>
                    <a:p>
                      <a:pPr algn="l"/>
                      <a:r>
                        <a:rPr kumimoji="1" lang="en-US" altLang="ja-JP" sz="1000" b="1" dirty="0"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※</a:t>
                      </a:r>
                      <a:r>
                        <a:rPr kumimoji="1" lang="ja-JP" altLang="en-US" sz="1000" b="1" dirty="0"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担当⇒大內、張、原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b="1" dirty="0">
                          <a:solidFill>
                            <a:schemeClr val="tx1"/>
                          </a:solidFill>
                          <a:latin typeface="MS Gothic" panose="020B0609070205080204" pitchFamily="49" charset="-128"/>
                          <a:ea typeface="MS Gothic" panose="020B0609070205080204" pitchFamily="49" charset="-128"/>
                          <a:cs typeface="Meiryo UI" panose="020B0604030504040204" pitchFamily="34" charset="-128"/>
                        </a:rPr>
                        <a:t>由設技・推進課將橫展開内容發送至各窯。</a:t>
                      </a:r>
                      <a:endParaRPr kumimoji="1" lang="en-US" altLang="ja-JP" sz="1000" b="1" dirty="0">
                        <a:solidFill>
                          <a:schemeClr val="tx1"/>
                        </a:solidFill>
                        <a:latin typeface="MS Gothic" panose="020B0609070205080204" pitchFamily="49" charset="-128"/>
                        <a:ea typeface="MS Gothic" panose="020B0609070205080204" pitchFamily="49" charset="-128"/>
                        <a:cs typeface="Meiryo UI" panose="020B0604030504040204" pitchFamily="34" charset="-128"/>
                      </a:endParaRPr>
                    </a:p>
                    <a:p>
                      <a:pPr marL="0" marR="0" lvl="0" indent="0" algn="l" defTabSz="8440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000" b="1" dirty="0">
                        <a:solidFill>
                          <a:schemeClr val="tx1"/>
                        </a:solidFill>
                        <a:latin typeface="MS Gothic" panose="020B0609070205080204" pitchFamily="49" charset="-128"/>
                        <a:ea typeface="MS Gothic" panose="020B0609070205080204" pitchFamily="49" charset="-128"/>
                        <a:cs typeface="Meiryo UI" panose="020B0604030504040204" pitchFamily="34" charset="-128"/>
                      </a:endParaRPr>
                    </a:p>
                    <a:p>
                      <a:pPr marL="0" marR="0" lvl="0" indent="0" algn="l" defTabSz="8440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b="1" dirty="0">
                          <a:solidFill>
                            <a:schemeClr val="tx1"/>
                          </a:solidFill>
                          <a:latin typeface="MS Gothic" panose="020B0609070205080204" pitchFamily="49" charset="-128"/>
                          <a:ea typeface="MS Gothic" panose="020B0609070205080204" pitchFamily="49" charset="-128"/>
                          <a:cs typeface="Meiryo UI" panose="020B0604030504040204" pitchFamily="34" charset="-128"/>
                        </a:rPr>
                        <a:t>★乙原・富羿也同時發送情報至各窯担当者。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000" b="1" dirty="0">
                          <a:solidFill>
                            <a:schemeClr val="tx1"/>
                          </a:solidFill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各窯担当者與設技・推進課進行横展開的調整。</a:t>
                      </a:r>
                      <a:endParaRPr kumimoji="1" lang="en-US" altLang="ja-JP" sz="1000" b="1" dirty="0">
                        <a:solidFill>
                          <a:schemeClr val="tx1"/>
                        </a:solidFill>
                        <a:latin typeface="MS Gothic" panose="020B0609070205080204" pitchFamily="49" charset="-128"/>
                        <a:ea typeface="MS Gothic" panose="020B0609070205080204" pitchFamily="49" charset="-128"/>
                      </a:endParaRPr>
                    </a:p>
                    <a:p>
                      <a:pPr algn="l"/>
                      <a:endParaRPr kumimoji="1" lang="ja-JP" altLang="en-US" sz="1000" b="1" dirty="0">
                        <a:solidFill>
                          <a:schemeClr val="tx1"/>
                        </a:solidFill>
                        <a:latin typeface="MS Gothic" panose="020B0609070205080204" pitchFamily="49" charset="-128"/>
                        <a:ea typeface="MS Gothic" panose="020B0609070205080204" pitchFamily="49" charset="-128"/>
                      </a:endParaRPr>
                    </a:p>
                    <a:p>
                      <a:pPr algn="l"/>
                      <a:r>
                        <a:rPr kumimoji="1" lang="ja-JP" altLang="en-US" sz="1000" b="1" dirty="0">
                          <a:solidFill>
                            <a:schemeClr val="tx1"/>
                          </a:solidFill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★横展開進度確認表</a:t>
                      </a:r>
                      <a:r>
                        <a:rPr kumimoji="1" lang="en-US" altLang="ja-JP" sz="1000" b="1" dirty="0">
                          <a:solidFill>
                            <a:schemeClr val="tx1"/>
                          </a:solidFill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KEY</a:t>
                      </a:r>
                      <a:r>
                        <a:rPr kumimoji="1" lang="ja-JP" altLang="en-US" sz="1000" b="1" dirty="0">
                          <a:solidFill>
                            <a:schemeClr val="tx1"/>
                          </a:solidFill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入進度状況。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zh-TW" altLang="en-US" sz="900" b="1" dirty="0">
                          <a:solidFill>
                            <a:schemeClr val="tx1"/>
                          </a:solidFill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設備</a:t>
                      </a:r>
                      <a:r>
                        <a:rPr kumimoji="1" lang="en-US" altLang="ja-JP" sz="900" b="1" dirty="0">
                          <a:solidFill>
                            <a:schemeClr val="tx1"/>
                          </a:solidFill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LOSS</a:t>
                      </a:r>
                      <a:r>
                        <a:rPr kumimoji="1" lang="zh-TW" altLang="en-US" sz="900" b="1" dirty="0">
                          <a:solidFill>
                            <a:schemeClr val="tx1"/>
                          </a:solidFill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削減</a:t>
                      </a:r>
                      <a:r>
                        <a:rPr kumimoji="1" lang="en-US" altLang="ja-JP" sz="900" b="1" dirty="0">
                          <a:solidFill>
                            <a:schemeClr val="tx1"/>
                          </a:solidFill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TEAM</a:t>
                      </a:r>
                      <a:r>
                        <a:rPr kumimoji="1" lang="zh-TW" altLang="en-US" sz="900" b="1" dirty="0">
                          <a:solidFill>
                            <a:schemeClr val="tx1"/>
                          </a:solidFill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：大內、張、原 管理各窯的進度状況。</a:t>
                      </a:r>
                    </a:p>
                    <a:p>
                      <a:pPr algn="l"/>
                      <a:endParaRPr kumimoji="1" lang="en-US" altLang="zh-TW" sz="900" b="1" dirty="0">
                        <a:solidFill>
                          <a:schemeClr val="tx1"/>
                        </a:solidFill>
                        <a:latin typeface="MS Gothic" panose="020B0609070205080204" pitchFamily="49" charset="-128"/>
                        <a:ea typeface="MS Gothic" panose="020B0609070205080204" pitchFamily="49" charset="-128"/>
                      </a:endParaRPr>
                    </a:p>
                    <a:p>
                      <a:pPr algn="l"/>
                      <a:r>
                        <a:rPr kumimoji="1" lang="zh-TW" altLang="en-US" sz="900" b="1" dirty="0">
                          <a:solidFill>
                            <a:schemeClr val="tx1"/>
                          </a:solidFill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★用横展開進度確認表做進度確認。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7881889"/>
                  </a:ext>
                </a:extLst>
              </a:tr>
              <a:tr h="1016894"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CH</a:t>
                      </a:r>
                      <a:endParaRPr kumimoji="1" lang="ja-JP" altLang="en-US" sz="2400" dirty="0"/>
                    </a:p>
                  </a:txBody>
                  <a:tcPr vert="eaVert" anchor="ctr"/>
                </a:tc>
                <a:tc>
                  <a:txBody>
                    <a:bodyPr/>
                    <a:lstStyle/>
                    <a:p>
                      <a:endParaRPr kumimoji="1" lang="en-US" altLang="ja-JP" sz="1000" b="1" dirty="0">
                        <a:latin typeface="MS Gothic" panose="020B0609070205080204" pitchFamily="49" charset="-128"/>
                        <a:ea typeface="MS Gothic" panose="020B0609070205080204" pitchFamily="49" charset="-128"/>
                      </a:endParaRPr>
                    </a:p>
                    <a:p>
                      <a:r>
                        <a:rPr kumimoji="1" lang="ja-JP" altLang="en-US" sz="1000" b="1" dirty="0"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由各單位提供設備異常的情報</a:t>
                      </a:r>
                    </a:p>
                    <a:p>
                      <a:r>
                        <a:rPr kumimoji="1" lang="ja-JP" altLang="en-US" sz="1000" b="1" dirty="0"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・異常報告書</a:t>
                      </a:r>
                    </a:p>
                    <a:p>
                      <a:r>
                        <a:rPr kumimoji="1" lang="ja-JP" altLang="en-US" sz="1000" b="1" dirty="0"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・調査依頼</a:t>
                      </a:r>
                    </a:p>
                    <a:p>
                      <a:r>
                        <a:rPr kumimoji="1" lang="ja-JP" altLang="en-US" sz="1000" b="1" dirty="0"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・改善事例等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sz="1000" b="1" dirty="0">
                        <a:latin typeface="MS Gothic" panose="020B0609070205080204" pitchFamily="49" charset="-128"/>
                        <a:ea typeface="MS Gothic" panose="020B0609070205080204" pitchFamily="49" charset="-128"/>
                      </a:endParaRPr>
                    </a:p>
                    <a:p>
                      <a:r>
                        <a:rPr kumimoji="1" lang="ja-JP" altLang="en-US" sz="1000" b="1" dirty="0"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存放⇒ＡＤＴ内発送</a:t>
                      </a:r>
                    </a:p>
                    <a:p>
                      <a:endParaRPr kumimoji="1" lang="en-US" altLang="ja-JP" sz="1000" b="1" dirty="0">
                        <a:latin typeface="MS Gothic" panose="020B0609070205080204" pitchFamily="49" charset="-128"/>
                        <a:ea typeface="MS Gothic" panose="020B0609070205080204" pitchFamily="49" charset="-128"/>
                      </a:endParaRPr>
                    </a:p>
                    <a:p>
                      <a:r>
                        <a:rPr kumimoji="1" lang="en-US" altLang="ja-JP" sz="1000" b="1" dirty="0"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※</a:t>
                      </a:r>
                      <a:r>
                        <a:rPr kumimoji="1" lang="ja-JP" altLang="en-US" sz="1000" b="1" dirty="0"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擔當⇒乙原さん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ja-JP" sz="1000" b="1" dirty="0">
                        <a:latin typeface="MS Gothic" panose="020B0609070205080204" pitchFamily="49" charset="-128"/>
                        <a:ea typeface="MS Gothic" panose="020B0609070205080204" pitchFamily="49" charset="-128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ja-JP" sz="1000" b="1" dirty="0">
                        <a:latin typeface="MS Gothic" panose="020B0609070205080204" pitchFamily="49" charset="-128"/>
                        <a:ea typeface="MS Gothic" panose="020B0609070205080204" pitchFamily="49" charset="-128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b="1" dirty="0"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包含設技・推進課，進行対策検討。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ja-JP" sz="1000" b="1" dirty="0">
                        <a:latin typeface="MS Gothic" panose="020B0609070205080204" pitchFamily="49" charset="-128"/>
                        <a:ea typeface="MS Gothic" panose="020B0609070205080204" pitchFamily="49" charset="-128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b="1" dirty="0"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★討論至是否需要横展開。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ja-JP" sz="1000" b="1" dirty="0">
                        <a:latin typeface="MS Gothic" panose="020B0609070205080204" pitchFamily="49" charset="-128"/>
                        <a:ea typeface="MS Gothic" panose="020B0609070205080204" pitchFamily="49" charset="-128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b="1" dirty="0"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★横展開進度確認表更新。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00" b="1" dirty="0"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※</a:t>
                      </a:r>
                      <a:r>
                        <a:rPr kumimoji="1" lang="ja-JP" altLang="en-US" sz="1000" b="1" dirty="0"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担当⇒大內、張、原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kumimoji="1" lang="en-US" altLang="ja-JP" sz="1000" b="1" dirty="0">
                        <a:solidFill>
                          <a:schemeClr val="tx1"/>
                        </a:solidFill>
                        <a:latin typeface="MS Gothic" panose="020B0609070205080204" pitchFamily="49" charset="-128"/>
                        <a:ea typeface="MS Gothic" panose="020B0609070205080204" pitchFamily="49" charset="-128"/>
                      </a:endParaRPr>
                    </a:p>
                    <a:p>
                      <a:endParaRPr kumimoji="1" lang="en-US" altLang="ja-JP" sz="1000" b="1" dirty="0">
                        <a:solidFill>
                          <a:schemeClr val="tx1"/>
                        </a:solidFill>
                        <a:latin typeface="MS Gothic" panose="020B0609070205080204" pitchFamily="49" charset="-128"/>
                        <a:ea typeface="MS Gothic" panose="020B0609070205080204" pitchFamily="49" charset="-128"/>
                      </a:endParaRPr>
                    </a:p>
                    <a:p>
                      <a:r>
                        <a:rPr kumimoji="1" lang="ja-JP" altLang="en-US" sz="1000" b="1" dirty="0">
                          <a:solidFill>
                            <a:schemeClr val="tx1"/>
                          </a:solidFill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由設技・推進課將橫展開内容發送至各窯。</a:t>
                      </a:r>
                      <a:endParaRPr kumimoji="1" lang="en-US" altLang="ja-JP" sz="1000" b="1" dirty="0">
                        <a:solidFill>
                          <a:schemeClr val="tx1"/>
                        </a:solidFill>
                        <a:latin typeface="MS Gothic" panose="020B0609070205080204" pitchFamily="49" charset="-128"/>
                        <a:ea typeface="MS Gothic" panose="020B0609070205080204" pitchFamily="49" charset="-128"/>
                      </a:endParaRPr>
                    </a:p>
                    <a:p>
                      <a:endParaRPr kumimoji="1" lang="ja-JP" altLang="en-US" sz="1000" b="1" dirty="0">
                        <a:solidFill>
                          <a:schemeClr val="tx1"/>
                        </a:solidFill>
                        <a:latin typeface="MS Gothic" panose="020B0609070205080204" pitchFamily="49" charset="-128"/>
                        <a:ea typeface="MS Gothic" panose="020B0609070205080204" pitchFamily="49" charset="-128"/>
                      </a:endParaRPr>
                    </a:p>
                    <a:p>
                      <a:r>
                        <a:rPr kumimoji="1" lang="ja-JP" altLang="en-US" sz="1000" b="1" dirty="0">
                          <a:solidFill>
                            <a:schemeClr val="tx1"/>
                          </a:solidFill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★乙原・富羿也同時發送情報至各窯担当者。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kumimoji="1" lang="en-US" altLang="ja-JP" sz="1000" b="1" dirty="0">
                        <a:solidFill>
                          <a:schemeClr val="tx1"/>
                        </a:solidFill>
                        <a:latin typeface="MS Gothic" panose="020B0609070205080204" pitchFamily="49" charset="-128"/>
                        <a:ea typeface="MS Gothic" panose="020B0609070205080204" pitchFamily="49" charset="-128"/>
                      </a:endParaRPr>
                    </a:p>
                    <a:p>
                      <a:endParaRPr kumimoji="1" lang="en-US" altLang="ja-JP" sz="1000" b="1" dirty="0">
                        <a:solidFill>
                          <a:schemeClr val="tx1"/>
                        </a:solidFill>
                        <a:latin typeface="MS Gothic" panose="020B0609070205080204" pitchFamily="49" charset="-128"/>
                        <a:ea typeface="MS Gothic" panose="020B0609070205080204" pitchFamily="49" charset="-128"/>
                      </a:endParaRPr>
                    </a:p>
                    <a:p>
                      <a:r>
                        <a:rPr kumimoji="1" lang="ja-JP" altLang="en-US" sz="1000" b="1" dirty="0">
                          <a:solidFill>
                            <a:schemeClr val="tx1"/>
                          </a:solidFill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各窯担当者與設技・推進課進行横展開的調整。</a:t>
                      </a:r>
                      <a:endParaRPr kumimoji="1" lang="en-US" altLang="ja-JP" sz="1000" b="1" dirty="0">
                        <a:solidFill>
                          <a:schemeClr val="tx1"/>
                        </a:solidFill>
                        <a:latin typeface="MS Gothic" panose="020B0609070205080204" pitchFamily="49" charset="-128"/>
                        <a:ea typeface="MS Gothic" panose="020B0609070205080204" pitchFamily="49" charset="-128"/>
                      </a:endParaRPr>
                    </a:p>
                    <a:p>
                      <a:endParaRPr kumimoji="1" lang="ja-JP" altLang="en-US" sz="1000" b="1" dirty="0">
                        <a:solidFill>
                          <a:schemeClr val="tx1"/>
                        </a:solidFill>
                        <a:latin typeface="MS Gothic" panose="020B0609070205080204" pitchFamily="49" charset="-128"/>
                        <a:ea typeface="MS Gothic" panose="020B0609070205080204" pitchFamily="49" charset="-128"/>
                      </a:endParaRPr>
                    </a:p>
                    <a:p>
                      <a:r>
                        <a:rPr kumimoji="1" lang="ja-JP" altLang="en-US" sz="1000" b="1" dirty="0">
                          <a:solidFill>
                            <a:schemeClr val="tx1"/>
                          </a:solidFill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★横展開進度確認表</a:t>
                      </a:r>
                      <a:r>
                        <a:rPr kumimoji="1" lang="en-US" altLang="ja-JP" sz="1000" b="1" dirty="0">
                          <a:solidFill>
                            <a:schemeClr val="tx1"/>
                          </a:solidFill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KEY</a:t>
                      </a:r>
                      <a:r>
                        <a:rPr kumimoji="1" lang="ja-JP" altLang="en-US" sz="1000" b="1" dirty="0">
                          <a:solidFill>
                            <a:schemeClr val="tx1"/>
                          </a:solidFill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入進度状況。</a:t>
                      </a:r>
                      <a:endParaRPr kumimoji="1" lang="en-US" altLang="ja-JP" sz="1000" b="1" dirty="0">
                        <a:solidFill>
                          <a:schemeClr val="tx1"/>
                        </a:solidFill>
                        <a:latin typeface="MS Gothic" panose="020B0609070205080204" pitchFamily="49" charset="-128"/>
                        <a:ea typeface="MS Gothic" panose="020B0609070205080204" pitchFamily="49" charset="-128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kumimoji="1" lang="en-US" altLang="zh-TW" sz="900" b="1" dirty="0">
                        <a:solidFill>
                          <a:schemeClr val="tx1"/>
                        </a:solidFill>
                        <a:latin typeface="MS Gothic" panose="020B0609070205080204" pitchFamily="49" charset="-128"/>
                        <a:ea typeface="MS Gothic" panose="020B0609070205080204" pitchFamily="49" charset="-128"/>
                      </a:endParaRPr>
                    </a:p>
                    <a:p>
                      <a:endParaRPr kumimoji="1" lang="en-US" altLang="zh-TW" sz="900" b="1" dirty="0">
                        <a:solidFill>
                          <a:schemeClr val="tx1"/>
                        </a:solidFill>
                        <a:latin typeface="MS Gothic" panose="020B0609070205080204" pitchFamily="49" charset="-128"/>
                        <a:ea typeface="MS Gothic" panose="020B0609070205080204" pitchFamily="49" charset="-128"/>
                      </a:endParaRPr>
                    </a:p>
                    <a:p>
                      <a:r>
                        <a:rPr kumimoji="1" lang="zh-TW" altLang="en-US" sz="900" b="1" dirty="0">
                          <a:solidFill>
                            <a:schemeClr val="tx1"/>
                          </a:solidFill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設備</a:t>
                      </a:r>
                      <a:r>
                        <a:rPr kumimoji="1" lang="en-US" altLang="ja-JP" sz="900" b="1" dirty="0">
                          <a:solidFill>
                            <a:schemeClr val="tx1"/>
                          </a:solidFill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LOSS</a:t>
                      </a:r>
                      <a:r>
                        <a:rPr kumimoji="1" lang="zh-TW" altLang="en-US" sz="900" b="1" dirty="0">
                          <a:solidFill>
                            <a:schemeClr val="tx1"/>
                          </a:solidFill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削減</a:t>
                      </a:r>
                      <a:r>
                        <a:rPr kumimoji="1" lang="en-US" altLang="ja-JP" sz="900" b="1" dirty="0">
                          <a:solidFill>
                            <a:schemeClr val="tx1"/>
                          </a:solidFill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TEAM</a:t>
                      </a:r>
                      <a:r>
                        <a:rPr kumimoji="1" lang="zh-TW" altLang="en-US" sz="900" b="1" dirty="0">
                          <a:solidFill>
                            <a:schemeClr val="tx1"/>
                          </a:solidFill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：大內・張、原</a:t>
                      </a:r>
                    </a:p>
                    <a:p>
                      <a:r>
                        <a:rPr kumimoji="1" lang="zh-TW" altLang="en-US" sz="900" b="1" dirty="0">
                          <a:solidFill>
                            <a:schemeClr val="tx1"/>
                          </a:solidFill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管理各窯的進度状況。</a:t>
                      </a:r>
                    </a:p>
                    <a:p>
                      <a:endParaRPr kumimoji="1" lang="en-US" altLang="zh-TW" sz="900" b="1" dirty="0">
                        <a:solidFill>
                          <a:schemeClr val="tx1"/>
                        </a:solidFill>
                        <a:latin typeface="MS Gothic" panose="020B0609070205080204" pitchFamily="49" charset="-128"/>
                        <a:ea typeface="MS Gothic" panose="020B0609070205080204" pitchFamily="49" charset="-128"/>
                      </a:endParaRPr>
                    </a:p>
                    <a:p>
                      <a:r>
                        <a:rPr kumimoji="1" lang="zh-TW" altLang="en-US" sz="900" b="1" dirty="0">
                          <a:solidFill>
                            <a:schemeClr val="tx1"/>
                          </a:solidFill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★用横展開進度確認表做進度確認。</a:t>
                      </a:r>
                      <a:endParaRPr kumimoji="1" lang="en-US" altLang="ja-JP" sz="90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MS Gothic" panose="020B0609070205080204" pitchFamily="49" charset="-128"/>
                        <a:ea typeface="MS Gothic" panose="020B0609070205080204" pitchFamily="49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1322736"/>
                  </a:ext>
                </a:extLst>
              </a:tr>
              <a:tr h="1016894">
                <a:tc vMerge="1">
                  <a:txBody>
                    <a:bodyPr/>
                    <a:lstStyle/>
                    <a:p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zh-TW" sz="1000" b="1" dirty="0">
                        <a:latin typeface="MS Gothic" panose="020B0609070205080204" pitchFamily="49" charset="-128"/>
                        <a:ea typeface="MS Gothic" panose="020B0609070205080204" pitchFamily="49" charset="-128"/>
                      </a:endParaRPr>
                    </a:p>
                    <a:p>
                      <a:r>
                        <a:rPr kumimoji="1" lang="zh-TW" altLang="en-US" sz="1000" b="1" dirty="0"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★由設備異常發生單位</a:t>
                      </a:r>
                      <a:r>
                        <a:rPr kumimoji="1" lang="en-US" altLang="zh-TW" sz="1000" b="1" dirty="0">
                          <a:solidFill>
                            <a:srgbClr val="FF0000"/>
                          </a:solidFill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+</a:t>
                      </a:r>
                      <a:r>
                        <a:rPr kumimoji="1" lang="zh-TW" altLang="en-US" sz="1000" b="1" dirty="0">
                          <a:solidFill>
                            <a:srgbClr val="FF0000"/>
                          </a:solidFill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生推</a:t>
                      </a:r>
                      <a:r>
                        <a:rPr kumimoji="1" lang="zh-TW" altLang="en-US" sz="1000" b="1" dirty="0"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與設備技術討論發生原因與對策</a:t>
                      </a:r>
                      <a:endParaRPr kumimoji="1" lang="ja-JP" altLang="en-US" sz="1000" b="1" dirty="0">
                        <a:latin typeface="MS Gothic" panose="020B0609070205080204" pitchFamily="49" charset="-128"/>
                        <a:ea typeface="MS Gothic" panose="020B0609070205080204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zh-TW" sz="1000" b="1" dirty="0">
                        <a:latin typeface="MS Gothic" panose="020B0609070205080204" pitchFamily="49" charset="-128"/>
                        <a:ea typeface="MS Gothic" panose="020B0609070205080204" pitchFamily="49" charset="-128"/>
                      </a:endParaRPr>
                    </a:p>
                    <a:p>
                      <a:r>
                        <a:rPr kumimoji="1" lang="zh-TW" altLang="en-US" sz="1000" b="1" dirty="0"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★</a:t>
                      </a:r>
                      <a:r>
                        <a:rPr kumimoji="1" lang="zh-TW" altLang="en-US" sz="1000" b="1" dirty="0">
                          <a:solidFill>
                            <a:srgbClr val="FF0000"/>
                          </a:solidFill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各窯作成報告書，推進課作成內容確認沒有問題後</a:t>
                      </a:r>
                      <a:r>
                        <a:rPr kumimoji="1" lang="zh-TW" altLang="en-US" sz="1000" b="1" dirty="0">
                          <a:latin typeface="MS Gothic" panose="020B0609070205080204" pitchFamily="49" charset="-128"/>
                          <a:ea typeface="MS Gothic" panose="020B0609070205080204" pitchFamily="49" charset="-128"/>
                        </a:rPr>
                        <a:t>，由各單位副理提供最終報告書</a:t>
                      </a:r>
                      <a:endParaRPr kumimoji="1" lang="ja-JP" altLang="en-US" sz="1000" b="1" dirty="0">
                        <a:latin typeface="MS Gothic" panose="020B0609070205080204" pitchFamily="49" charset="-128"/>
                        <a:ea typeface="MS Gothic" panose="020B0609070205080204" pitchFamily="49" charset="-128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 sz="1000" b="0" dirty="0">
                        <a:latin typeface="+mj-lt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en-US" altLang="ja-JP" sz="10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 sz="10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ja-JP" sz="9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656009"/>
                  </a:ext>
                </a:extLst>
              </a:tr>
            </a:tbl>
          </a:graphicData>
        </a:graphic>
      </p:graphicFrame>
      <p:grpSp>
        <p:nvGrpSpPr>
          <p:cNvPr id="59" name="群組 58">
            <a:extLst>
              <a:ext uri="{FF2B5EF4-FFF2-40B4-BE49-F238E27FC236}">
                <a16:creationId xmlns:a16="http://schemas.microsoft.com/office/drawing/2014/main" id="{E81F11FB-DD0C-FD35-6934-AD6ADEB5248D}"/>
              </a:ext>
            </a:extLst>
          </p:cNvPr>
          <p:cNvGrpSpPr/>
          <p:nvPr/>
        </p:nvGrpSpPr>
        <p:grpSpPr>
          <a:xfrm>
            <a:off x="1700230" y="2278344"/>
            <a:ext cx="6036178" cy="219818"/>
            <a:chOff x="1674830" y="2278344"/>
            <a:chExt cx="6036178" cy="219818"/>
          </a:xfrm>
        </p:grpSpPr>
        <p:sp>
          <p:nvSpPr>
            <p:cNvPr id="54" name="箭號: 有線條的向右箭號 53">
              <a:extLst>
                <a:ext uri="{FF2B5EF4-FFF2-40B4-BE49-F238E27FC236}">
                  <a16:creationId xmlns:a16="http://schemas.microsoft.com/office/drawing/2014/main" id="{FE0EC08C-C645-9BB0-3C1E-B8C47278D95C}"/>
                </a:ext>
              </a:extLst>
            </p:cNvPr>
            <p:cNvSpPr/>
            <p:nvPr/>
          </p:nvSpPr>
          <p:spPr>
            <a:xfrm>
              <a:off x="1674830" y="2278344"/>
              <a:ext cx="305455" cy="219818"/>
            </a:xfrm>
            <a:prstGeom prst="stripedRightArrow">
              <a:avLst>
                <a:gd name="adj1" fmla="val 41333"/>
                <a:gd name="adj2" fmla="val 61916"/>
              </a:avLst>
            </a:prstGeom>
            <a:solidFill>
              <a:srgbClr val="001F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800" dirty="0">
                <a:solidFill>
                  <a:srgbClr val="404040"/>
                </a:solidFill>
              </a:endParaRPr>
            </a:p>
          </p:txBody>
        </p:sp>
        <p:sp>
          <p:nvSpPr>
            <p:cNvPr id="55" name="箭號: 有線條的向右箭號 54">
              <a:extLst>
                <a:ext uri="{FF2B5EF4-FFF2-40B4-BE49-F238E27FC236}">
                  <a16:creationId xmlns:a16="http://schemas.microsoft.com/office/drawing/2014/main" id="{BBA6045D-AD7A-53FA-5599-37F8276D9C70}"/>
                </a:ext>
              </a:extLst>
            </p:cNvPr>
            <p:cNvSpPr/>
            <p:nvPr/>
          </p:nvSpPr>
          <p:spPr>
            <a:xfrm>
              <a:off x="2970760" y="2278344"/>
              <a:ext cx="305455" cy="219818"/>
            </a:xfrm>
            <a:prstGeom prst="stripedRightArrow">
              <a:avLst>
                <a:gd name="adj1" fmla="val 41333"/>
                <a:gd name="adj2" fmla="val 61916"/>
              </a:avLst>
            </a:prstGeom>
            <a:solidFill>
              <a:srgbClr val="001F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800" dirty="0">
                <a:solidFill>
                  <a:srgbClr val="404040"/>
                </a:solidFill>
              </a:endParaRPr>
            </a:p>
          </p:txBody>
        </p:sp>
        <p:sp>
          <p:nvSpPr>
            <p:cNvPr id="56" name="箭號: 有線條的向右箭號 55">
              <a:extLst>
                <a:ext uri="{FF2B5EF4-FFF2-40B4-BE49-F238E27FC236}">
                  <a16:creationId xmlns:a16="http://schemas.microsoft.com/office/drawing/2014/main" id="{054E739B-C311-1FDF-4412-67760AB80EAF}"/>
                </a:ext>
              </a:extLst>
            </p:cNvPr>
            <p:cNvSpPr/>
            <p:nvPr/>
          </p:nvSpPr>
          <p:spPr>
            <a:xfrm>
              <a:off x="4564380" y="2278344"/>
              <a:ext cx="305455" cy="219818"/>
            </a:xfrm>
            <a:prstGeom prst="stripedRightArrow">
              <a:avLst>
                <a:gd name="adj1" fmla="val 41333"/>
                <a:gd name="adj2" fmla="val 61916"/>
              </a:avLst>
            </a:prstGeom>
            <a:solidFill>
              <a:srgbClr val="001F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800" dirty="0">
                <a:solidFill>
                  <a:srgbClr val="404040"/>
                </a:solidFill>
              </a:endParaRPr>
            </a:p>
          </p:txBody>
        </p:sp>
        <p:sp>
          <p:nvSpPr>
            <p:cNvPr id="57" name="箭號: 有線條的向右箭號 56">
              <a:extLst>
                <a:ext uri="{FF2B5EF4-FFF2-40B4-BE49-F238E27FC236}">
                  <a16:creationId xmlns:a16="http://schemas.microsoft.com/office/drawing/2014/main" id="{4145724E-96C0-3E58-870F-CAD28FAFE3E5}"/>
                </a:ext>
              </a:extLst>
            </p:cNvPr>
            <p:cNvSpPr/>
            <p:nvPr/>
          </p:nvSpPr>
          <p:spPr>
            <a:xfrm>
              <a:off x="5994599" y="2278344"/>
              <a:ext cx="305455" cy="219818"/>
            </a:xfrm>
            <a:prstGeom prst="stripedRightArrow">
              <a:avLst>
                <a:gd name="adj1" fmla="val 41333"/>
                <a:gd name="adj2" fmla="val 61916"/>
              </a:avLst>
            </a:prstGeom>
            <a:solidFill>
              <a:srgbClr val="001F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800" dirty="0">
                <a:solidFill>
                  <a:srgbClr val="404040"/>
                </a:solidFill>
              </a:endParaRPr>
            </a:p>
          </p:txBody>
        </p:sp>
        <p:sp>
          <p:nvSpPr>
            <p:cNvPr id="58" name="箭號: 有線條的向右箭號 57">
              <a:extLst>
                <a:ext uri="{FF2B5EF4-FFF2-40B4-BE49-F238E27FC236}">
                  <a16:creationId xmlns:a16="http://schemas.microsoft.com/office/drawing/2014/main" id="{1E52EB89-DFBC-0657-7D1F-9F2C5220103C}"/>
                </a:ext>
              </a:extLst>
            </p:cNvPr>
            <p:cNvSpPr/>
            <p:nvPr/>
          </p:nvSpPr>
          <p:spPr>
            <a:xfrm>
              <a:off x="7405553" y="2278344"/>
              <a:ext cx="305455" cy="219818"/>
            </a:xfrm>
            <a:prstGeom prst="stripedRightArrow">
              <a:avLst>
                <a:gd name="adj1" fmla="val 41333"/>
                <a:gd name="adj2" fmla="val 61916"/>
              </a:avLst>
            </a:prstGeom>
            <a:solidFill>
              <a:srgbClr val="001F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800" dirty="0">
                <a:solidFill>
                  <a:srgbClr val="404040"/>
                </a:solidFill>
              </a:endParaRPr>
            </a:p>
          </p:txBody>
        </p:sp>
      </p:grpSp>
      <p:grpSp>
        <p:nvGrpSpPr>
          <p:cNvPr id="60" name="群組 59">
            <a:extLst>
              <a:ext uri="{FF2B5EF4-FFF2-40B4-BE49-F238E27FC236}">
                <a16:creationId xmlns:a16="http://schemas.microsoft.com/office/drawing/2014/main" id="{81D1B2BF-0A25-3379-09DB-9063576025E7}"/>
              </a:ext>
            </a:extLst>
          </p:cNvPr>
          <p:cNvGrpSpPr/>
          <p:nvPr/>
        </p:nvGrpSpPr>
        <p:grpSpPr>
          <a:xfrm>
            <a:off x="2996160" y="2634755"/>
            <a:ext cx="4740248" cy="219818"/>
            <a:chOff x="2970760" y="2278344"/>
            <a:chExt cx="4740248" cy="219818"/>
          </a:xfrm>
        </p:grpSpPr>
        <p:sp>
          <p:nvSpPr>
            <p:cNvPr id="62" name="箭號: 有線條的向右箭號 61">
              <a:extLst>
                <a:ext uri="{FF2B5EF4-FFF2-40B4-BE49-F238E27FC236}">
                  <a16:creationId xmlns:a16="http://schemas.microsoft.com/office/drawing/2014/main" id="{B2B9B938-64D1-DA0A-F2D2-7A58678AA49C}"/>
                </a:ext>
              </a:extLst>
            </p:cNvPr>
            <p:cNvSpPr/>
            <p:nvPr/>
          </p:nvSpPr>
          <p:spPr>
            <a:xfrm>
              <a:off x="2970760" y="2278344"/>
              <a:ext cx="305455" cy="219818"/>
            </a:xfrm>
            <a:prstGeom prst="stripedRightArrow">
              <a:avLst>
                <a:gd name="adj1" fmla="val 41333"/>
                <a:gd name="adj2" fmla="val 61916"/>
              </a:avLst>
            </a:prstGeom>
            <a:solidFill>
              <a:srgbClr val="001F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800" dirty="0">
                <a:solidFill>
                  <a:srgbClr val="404040"/>
                </a:solidFill>
              </a:endParaRPr>
            </a:p>
          </p:txBody>
        </p:sp>
        <p:sp>
          <p:nvSpPr>
            <p:cNvPr id="63" name="箭號: 有線條的向右箭號 62">
              <a:extLst>
                <a:ext uri="{FF2B5EF4-FFF2-40B4-BE49-F238E27FC236}">
                  <a16:creationId xmlns:a16="http://schemas.microsoft.com/office/drawing/2014/main" id="{26BEB6F1-3CB6-EF3D-0C9A-463AB87F0369}"/>
                </a:ext>
              </a:extLst>
            </p:cNvPr>
            <p:cNvSpPr/>
            <p:nvPr/>
          </p:nvSpPr>
          <p:spPr>
            <a:xfrm>
              <a:off x="4564380" y="2278344"/>
              <a:ext cx="305455" cy="219818"/>
            </a:xfrm>
            <a:prstGeom prst="stripedRightArrow">
              <a:avLst>
                <a:gd name="adj1" fmla="val 41333"/>
                <a:gd name="adj2" fmla="val 61916"/>
              </a:avLst>
            </a:prstGeom>
            <a:solidFill>
              <a:srgbClr val="001F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800" dirty="0">
                <a:solidFill>
                  <a:srgbClr val="404040"/>
                </a:solidFill>
              </a:endParaRPr>
            </a:p>
          </p:txBody>
        </p:sp>
        <p:sp>
          <p:nvSpPr>
            <p:cNvPr id="64" name="箭號: 有線條的向右箭號 63">
              <a:extLst>
                <a:ext uri="{FF2B5EF4-FFF2-40B4-BE49-F238E27FC236}">
                  <a16:creationId xmlns:a16="http://schemas.microsoft.com/office/drawing/2014/main" id="{89679C1F-D8EE-4B49-2ABF-9B89AC5B82EB}"/>
                </a:ext>
              </a:extLst>
            </p:cNvPr>
            <p:cNvSpPr/>
            <p:nvPr/>
          </p:nvSpPr>
          <p:spPr>
            <a:xfrm>
              <a:off x="5994599" y="2278344"/>
              <a:ext cx="305455" cy="219818"/>
            </a:xfrm>
            <a:prstGeom prst="stripedRightArrow">
              <a:avLst>
                <a:gd name="adj1" fmla="val 41333"/>
                <a:gd name="adj2" fmla="val 61916"/>
              </a:avLst>
            </a:prstGeom>
            <a:solidFill>
              <a:srgbClr val="001F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800" dirty="0">
                <a:solidFill>
                  <a:srgbClr val="404040"/>
                </a:solidFill>
              </a:endParaRPr>
            </a:p>
          </p:txBody>
        </p:sp>
        <p:sp>
          <p:nvSpPr>
            <p:cNvPr id="65" name="箭號: 有線條的向右箭號 64">
              <a:extLst>
                <a:ext uri="{FF2B5EF4-FFF2-40B4-BE49-F238E27FC236}">
                  <a16:creationId xmlns:a16="http://schemas.microsoft.com/office/drawing/2014/main" id="{6F435300-1E93-A61B-7AD8-E4CFF86B5225}"/>
                </a:ext>
              </a:extLst>
            </p:cNvPr>
            <p:cNvSpPr/>
            <p:nvPr/>
          </p:nvSpPr>
          <p:spPr>
            <a:xfrm>
              <a:off x="7405553" y="2278344"/>
              <a:ext cx="305455" cy="219818"/>
            </a:xfrm>
            <a:prstGeom prst="stripedRightArrow">
              <a:avLst>
                <a:gd name="adj1" fmla="val 41333"/>
                <a:gd name="adj2" fmla="val 61916"/>
              </a:avLst>
            </a:prstGeom>
            <a:solidFill>
              <a:srgbClr val="001F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800" dirty="0">
                <a:solidFill>
                  <a:srgbClr val="404040"/>
                </a:solidFill>
              </a:endParaRPr>
            </a:p>
          </p:txBody>
        </p:sp>
      </p:grpSp>
      <p:grpSp>
        <p:nvGrpSpPr>
          <p:cNvPr id="69" name="群組 68">
            <a:extLst>
              <a:ext uri="{FF2B5EF4-FFF2-40B4-BE49-F238E27FC236}">
                <a16:creationId xmlns:a16="http://schemas.microsoft.com/office/drawing/2014/main" id="{2DAC5460-1501-6CE6-DA5A-6C11DD7CD356}"/>
              </a:ext>
            </a:extLst>
          </p:cNvPr>
          <p:cNvGrpSpPr/>
          <p:nvPr/>
        </p:nvGrpSpPr>
        <p:grpSpPr>
          <a:xfrm>
            <a:off x="1366974" y="3448051"/>
            <a:ext cx="924668" cy="415365"/>
            <a:chOff x="1366974" y="3448051"/>
            <a:chExt cx="924668" cy="415365"/>
          </a:xfrm>
        </p:grpSpPr>
        <p:sp>
          <p:nvSpPr>
            <p:cNvPr id="66" name="箭號: 有線條的向右箭號 65">
              <a:extLst>
                <a:ext uri="{FF2B5EF4-FFF2-40B4-BE49-F238E27FC236}">
                  <a16:creationId xmlns:a16="http://schemas.microsoft.com/office/drawing/2014/main" id="{D6B46BB0-E499-65E9-15E5-7A92DCD23334}"/>
                </a:ext>
              </a:extLst>
            </p:cNvPr>
            <p:cNvSpPr/>
            <p:nvPr/>
          </p:nvSpPr>
          <p:spPr>
            <a:xfrm rot="5400000">
              <a:off x="1324155" y="3490870"/>
              <a:ext cx="305455" cy="219818"/>
            </a:xfrm>
            <a:prstGeom prst="stripedRightArrow">
              <a:avLst>
                <a:gd name="adj1" fmla="val 41333"/>
                <a:gd name="adj2" fmla="val 61916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800" dirty="0">
                <a:solidFill>
                  <a:srgbClr val="404040"/>
                </a:solidFill>
              </a:endParaRPr>
            </a:p>
          </p:txBody>
        </p:sp>
        <p:sp>
          <p:nvSpPr>
            <p:cNvPr id="67" name="箭號: 有線條的向右箭號 66">
              <a:extLst>
                <a:ext uri="{FF2B5EF4-FFF2-40B4-BE49-F238E27FC236}">
                  <a16:creationId xmlns:a16="http://schemas.microsoft.com/office/drawing/2014/main" id="{CB3A57D2-11BA-305F-66C8-A4CC387329BB}"/>
                </a:ext>
              </a:extLst>
            </p:cNvPr>
            <p:cNvSpPr/>
            <p:nvPr/>
          </p:nvSpPr>
          <p:spPr>
            <a:xfrm rot="16200000" flipV="1">
              <a:off x="2029005" y="3490871"/>
              <a:ext cx="305455" cy="219818"/>
            </a:xfrm>
            <a:prstGeom prst="stripedRightArrow">
              <a:avLst>
                <a:gd name="adj1" fmla="val 41333"/>
                <a:gd name="adj2" fmla="val 61916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800" dirty="0">
                <a:solidFill>
                  <a:srgbClr val="404040"/>
                </a:solidFill>
              </a:endParaRPr>
            </a:p>
          </p:txBody>
        </p:sp>
        <p:sp>
          <p:nvSpPr>
            <p:cNvPr id="68" name="箭號: 有線條的向右箭號 67">
              <a:extLst>
                <a:ext uri="{FF2B5EF4-FFF2-40B4-BE49-F238E27FC236}">
                  <a16:creationId xmlns:a16="http://schemas.microsoft.com/office/drawing/2014/main" id="{4B5A4DEB-FC51-1729-4C8D-121CFE3B7A1B}"/>
                </a:ext>
              </a:extLst>
            </p:cNvPr>
            <p:cNvSpPr/>
            <p:nvPr/>
          </p:nvSpPr>
          <p:spPr>
            <a:xfrm>
              <a:off x="1689628" y="3643598"/>
              <a:ext cx="305455" cy="219818"/>
            </a:xfrm>
            <a:prstGeom prst="stripedRightArrow">
              <a:avLst>
                <a:gd name="adj1" fmla="val 41333"/>
                <a:gd name="adj2" fmla="val 61916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800" dirty="0">
                <a:solidFill>
                  <a:srgbClr val="40404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55499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F7161-4641-A532-E552-8B29C33AC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CBA1DA15-A4EC-AEB4-4A4D-F77238FAE2C0}"/>
              </a:ext>
            </a:extLst>
          </p:cNvPr>
          <p:cNvSpPr/>
          <p:nvPr/>
        </p:nvSpPr>
        <p:spPr>
          <a:xfrm>
            <a:off x="219968" y="2682090"/>
            <a:ext cx="8716670" cy="27770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b="1" dirty="0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ADT</a:t>
            </a:r>
            <a:r>
              <a:rPr lang="zh-TW" altLang="en-US" sz="1600" b="1" dirty="0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內情報交流</a:t>
            </a:r>
            <a:endParaRPr kumimoji="1" lang="zh-TW" altLang="en-US" sz="1600" b="1" dirty="0">
              <a:solidFill>
                <a:schemeClr val="tx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862DCA5-7800-24DF-8ED8-EB4D800B62A8}"/>
              </a:ext>
            </a:extLst>
          </p:cNvPr>
          <p:cNvSpPr/>
          <p:nvPr/>
        </p:nvSpPr>
        <p:spPr>
          <a:xfrm>
            <a:off x="219968" y="1086280"/>
            <a:ext cx="8716670" cy="27770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b="1" dirty="0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[</a:t>
            </a:r>
            <a:r>
              <a:rPr lang="zh-TW" altLang="en-US" sz="1600" b="1" dirty="0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ＴＰＭ</a:t>
            </a:r>
            <a:r>
              <a:rPr lang="en-US" altLang="zh-TW" sz="1600" b="1" dirty="0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]</a:t>
            </a:r>
            <a:r>
              <a:rPr lang="zh-TW" altLang="en-US" sz="1600" b="1" dirty="0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他據點情報交流</a:t>
            </a:r>
            <a:endParaRPr kumimoji="1" lang="zh-TW" altLang="en-US" sz="1600" b="1" dirty="0">
              <a:solidFill>
                <a:schemeClr val="tx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0A723FC0-2059-3714-09A8-E9AB362B7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設備異常の再発防止取り組み</a:t>
            </a:r>
            <a:endParaRPr kumimoji="1" lang="ja-JP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B29CD65-41F7-75A5-6FE8-85F0B8FE0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000" y="640851"/>
            <a:ext cx="4127733" cy="347916"/>
          </a:xfrm>
        </p:spPr>
        <p:txBody>
          <a:bodyPr wrap="none">
            <a:spAutoFit/>
          </a:bodyPr>
          <a:lstStyle/>
          <a:p>
            <a:r>
              <a:rPr lang="en-US" altLang="ja-JP" b="1" dirty="0">
                <a:solidFill>
                  <a:schemeClr val="tx1"/>
                </a:solidFill>
              </a:rPr>
              <a:t>2026</a:t>
            </a:r>
            <a:r>
              <a:rPr lang="ja-JP" altLang="en-US" b="1" dirty="0">
                <a:solidFill>
                  <a:schemeClr val="tx1"/>
                </a:solidFill>
              </a:rPr>
              <a:t>横展開フロー（</a:t>
            </a:r>
            <a:r>
              <a:rPr lang="en-US" altLang="ja-JP" b="1" dirty="0">
                <a:solidFill>
                  <a:schemeClr val="tx1"/>
                </a:solidFill>
              </a:rPr>
              <a:t>TPM) (CH)  </a:t>
            </a:r>
            <a:r>
              <a:rPr lang="zh-TW" altLang="en-US" b="1" dirty="0">
                <a:solidFill>
                  <a:schemeClr val="tx1"/>
                </a:solidFill>
              </a:rPr>
              <a:t>彙整</a:t>
            </a:r>
          </a:p>
        </p:txBody>
      </p:sp>
      <p:sp>
        <p:nvSpPr>
          <p:cNvPr id="5" name="內容版面配置區 3">
            <a:extLst>
              <a:ext uri="{FF2B5EF4-FFF2-40B4-BE49-F238E27FC236}">
                <a16:creationId xmlns:a16="http://schemas.microsoft.com/office/drawing/2014/main" id="{72403077-5AA7-7776-DE75-D53E0428ACD3}"/>
              </a:ext>
            </a:extLst>
          </p:cNvPr>
          <p:cNvSpPr txBox="1">
            <a:spLocks/>
          </p:cNvSpPr>
          <p:nvPr/>
        </p:nvSpPr>
        <p:spPr>
          <a:xfrm>
            <a:off x="207362" y="1363985"/>
            <a:ext cx="1223412" cy="1040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wrap="none" lIns="91440" tIns="45720" rIns="91440" bIns="45720" rtlCol="0">
            <a:noAutofit/>
          </a:bodyPr>
          <a:lstStyle>
            <a:lvl1pPr marL="25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Wingdings" panose="05000000000000000000" pitchFamily="2" charset="2"/>
              <a:buChar char="n"/>
              <a:defRPr kumimoji="1" lang="ja-JP" altLang="en-US" sz="1661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61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C8003C"/>
              </a:buClr>
              <a:buSzPct val="80000"/>
              <a:buFont typeface="Wingdings" panose="05000000000000000000" pitchFamily="2" charset="2"/>
              <a:buChar char="l"/>
              <a:defRPr kumimoji="1" sz="1385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2pPr>
            <a:lvl3pPr marL="97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Meiryo UI" panose="020B0604030504040204" pitchFamily="50" charset="-128"/>
              <a:buChar char="━"/>
              <a:defRPr kumimoji="1" sz="1247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3pPr>
            <a:lvl4pPr marL="133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Wingdings" panose="05000000000000000000" pitchFamily="2" charset="2"/>
              <a:buChar char="u"/>
              <a:defRPr kumimoji="1" sz="1108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4pPr>
            <a:lvl5pPr marL="1548000" indent="-144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Arial" panose="020B0604020202020204" pitchFamily="34" charset="0"/>
              <a:buChar char="•"/>
              <a:defRPr kumimoji="1" sz="969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ja-JP" altLang="en-US" sz="9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由技開提供其他據點</a:t>
            </a:r>
            <a:endParaRPr lang="en-US" altLang="ja-JP" sz="900" b="1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ja-JP" altLang="en-US" sz="9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的情報</a:t>
            </a:r>
          </a:p>
          <a:p>
            <a:pPr marL="0" indent="0">
              <a:spcBef>
                <a:spcPts val="0"/>
              </a:spcBef>
              <a:buNone/>
            </a:pPr>
            <a:r>
              <a:rPr lang="ja-JP" altLang="en-US" sz="9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・異常報告書</a:t>
            </a:r>
          </a:p>
          <a:p>
            <a:pPr marL="0" indent="0">
              <a:spcBef>
                <a:spcPts val="0"/>
              </a:spcBef>
              <a:buNone/>
            </a:pPr>
            <a:r>
              <a:rPr lang="ja-JP" altLang="en-US" sz="9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・調査依頼</a:t>
            </a:r>
          </a:p>
          <a:p>
            <a:pPr marL="0" indent="0">
              <a:spcBef>
                <a:spcPts val="0"/>
              </a:spcBef>
              <a:buNone/>
            </a:pPr>
            <a:r>
              <a:rPr lang="ja-JP" altLang="en-US" sz="9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・改善事例等</a:t>
            </a:r>
            <a:endParaRPr lang="en-US" altLang="ja-JP" sz="900" b="1" dirty="0"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  <p:sp>
        <p:nvSpPr>
          <p:cNvPr id="6" name="內容版面配置區 3">
            <a:extLst>
              <a:ext uri="{FF2B5EF4-FFF2-40B4-BE49-F238E27FC236}">
                <a16:creationId xmlns:a16="http://schemas.microsoft.com/office/drawing/2014/main" id="{E7F4B170-7E78-7844-8CB0-AF012097B3EC}"/>
              </a:ext>
            </a:extLst>
          </p:cNvPr>
          <p:cNvSpPr txBox="1">
            <a:spLocks/>
          </p:cNvSpPr>
          <p:nvPr/>
        </p:nvSpPr>
        <p:spPr>
          <a:xfrm>
            <a:off x="1596682" y="1363985"/>
            <a:ext cx="1107996" cy="1040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wrap="none" lIns="91440" tIns="45720" rIns="91440" bIns="45720" rtlCol="0">
            <a:noAutofit/>
          </a:bodyPr>
          <a:lstStyle>
            <a:lvl1pPr marL="25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Wingdings" panose="05000000000000000000" pitchFamily="2" charset="2"/>
              <a:buChar char="n"/>
              <a:defRPr kumimoji="1" lang="ja-JP" altLang="en-US" sz="1661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61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C8003C"/>
              </a:buClr>
              <a:buSzPct val="80000"/>
              <a:buFont typeface="Wingdings" panose="05000000000000000000" pitchFamily="2" charset="2"/>
              <a:buChar char="l"/>
              <a:defRPr kumimoji="1" sz="1385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2pPr>
            <a:lvl3pPr marL="97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Meiryo UI" panose="020B0604030504040204" pitchFamily="50" charset="-128"/>
              <a:buChar char="━"/>
              <a:defRPr kumimoji="1" sz="1247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3pPr>
            <a:lvl4pPr marL="133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Wingdings" panose="05000000000000000000" pitchFamily="2" charset="2"/>
              <a:buChar char="u"/>
              <a:defRPr kumimoji="1" sz="1108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4pPr>
            <a:lvl5pPr marL="1548000" indent="-144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Arial" panose="020B0604020202020204" pitchFamily="34" charset="0"/>
              <a:buChar char="•"/>
              <a:defRPr kumimoji="1" sz="969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sz="9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翻訳依頼⇒</a:t>
            </a:r>
            <a:r>
              <a:rPr lang="zh-TW" altLang="en-US" sz="9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存放</a:t>
            </a:r>
            <a:r>
              <a:rPr lang="ja-JP" altLang="en-US" sz="9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⇒</a:t>
            </a:r>
            <a:endParaRPr lang="en-US" altLang="ja-JP" sz="900" b="1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0" indent="0">
              <a:buNone/>
            </a:pPr>
            <a:r>
              <a:rPr lang="ja-JP" altLang="en-US" sz="9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ＡＤＴ内発</a:t>
            </a:r>
            <a:r>
              <a:rPr lang="zh-TW" altLang="en-US" sz="9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送</a:t>
            </a:r>
            <a:endParaRPr lang="en-US" altLang="ja-JP" sz="900" b="1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0" indent="0">
              <a:buNone/>
            </a:pPr>
            <a:r>
              <a:rPr lang="en-US" altLang="ja-JP" sz="9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※</a:t>
            </a:r>
            <a:r>
              <a:rPr lang="zh-TW" altLang="en-US" sz="9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擔當</a:t>
            </a:r>
            <a:r>
              <a:rPr lang="ja-JP" altLang="zh-TW" sz="900" b="1" dirty="0">
                <a:solidFill>
                  <a:schemeClr val="dk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⇒</a:t>
            </a:r>
            <a:r>
              <a:rPr lang="zh-TW" altLang="zh-TW" sz="900" b="1" dirty="0">
                <a:solidFill>
                  <a:schemeClr val="dk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乙原</a:t>
            </a:r>
            <a:r>
              <a:rPr lang="ja-JP" altLang="en-US" sz="9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さん</a:t>
            </a:r>
          </a:p>
        </p:txBody>
      </p:sp>
      <p:sp>
        <p:nvSpPr>
          <p:cNvPr id="7" name="內容版面配置區 3">
            <a:extLst>
              <a:ext uri="{FF2B5EF4-FFF2-40B4-BE49-F238E27FC236}">
                <a16:creationId xmlns:a16="http://schemas.microsoft.com/office/drawing/2014/main" id="{044A5A96-F6B8-57F3-632D-60859549697E}"/>
              </a:ext>
            </a:extLst>
          </p:cNvPr>
          <p:cNvSpPr txBox="1">
            <a:spLocks/>
          </p:cNvSpPr>
          <p:nvPr/>
        </p:nvSpPr>
        <p:spPr>
          <a:xfrm>
            <a:off x="2864190" y="1363985"/>
            <a:ext cx="1569660" cy="104131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wrap="none" lIns="91440" tIns="45720" rIns="91440" bIns="45720" rtlCol="0">
            <a:noAutofit/>
          </a:bodyPr>
          <a:lstStyle>
            <a:lvl1pPr marL="25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Wingdings" panose="05000000000000000000" pitchFamily="2" charset="2"/>
              <a:buChar char="n"/>
              <a:defRPr kumimoji="1" lang="ja-JP" altLang="en-US" sz="1661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61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C8003C"/>
              </a:buClr>
              <a:buSzPct val="80000"/>
              <a:buFont typeface="Wingdings" panose="05000000000000000000" pitchFamily="2" charset="2"/>
              <a:buChar char="l"/>
              <a:defRPr kumimoji="1" sz="1385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2pPr>
            <a:lvl3pPr marL="97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Meiryo UI" panose="020B0604030504040204" pitchFamily="50" charset="-128"/>
              <a:buChar char="━"/>
              <a:defRPr kumimoji="1" sz="1247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3pPr>
            <a:lvl4pPr marL="133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Wingdings" panose="05000000000000000000" pitchFamily="2" charset="2"/>
              <a:buChar char="u"/>
              <a:defRPr kumimoji="1" sz="1108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4pPr>
            <a:lvl5pPr marL="1548000" indent="-144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Arial" panose="020B0604020202020204" pitchFamily="34" charset="0"/>
              <a:buChar char="•"/>
              <a:defRPr kumimoji="1" sz="969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sz="9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包含設技・推進課，</a:t>
            </a:r>
            <a:endParaRPr lang="en-US" altLang="ja-JP" sz="900" b="1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0" indent="0">
              <a:buNone/>
            </a:pPr>
            <a:r>
              <a:rPr lang="ja-JP" altLang="en-US" sz="9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進行対策検討。</a:t>
            </a:r>
          </a:p>
          <a:p>
            <a:pPr marL="0" indent="0">
              <a:buNone/>
            </a:pPr>
            <a:r>
              <a:rPr lang="ja-JP" altLang="en-US" sz="9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★討論至是否需要横展開。</a:t>
            </a:r>
            <a:endParaRPr lang="en-US" altLang="ja-JP" sz="900" b="1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0" indent="0">
              <a:buNone/>
            </a:pPr>
            <a:r>
              <a:rPr lang="ja-JP" altLang="en-US" sz="9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★横展開進度確認表更新。</a:t>
            </a:r>
          </a:p>
          <a:p>
            <a:pPr marL="0" indent="0">
              <a:buNone/>
            </a:pPr>
            <a:r>
              <a:rPr lang="en-US" altLang="ja-JP" sz="9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※</a:t>
            </a:r>
            <a:r>
              <a:rPr lang="ja-JP" altLang="en-US" sz="9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担当⇒大內、張、原</a:t>
            </a:r>
          </a:p>
        </p:txBody>
      </p:sp>
      <p:sp>
        <p:nvSpPr>
          <p:cNvPr id="8" name="內容版面配置區 3">
            <a:extLst>
              <a:ext uri="{FF2B5EF4-FFF2-40B4-BE49-F238E27FC236}">
                <a16:creationId xmlns:a16="http://schemas.microsoft.com/office/drawing/2014/main" id="{0AF371DF-FA95-1876-4954-69BAD4986702}"/>
              </a:ext>
            </a:extLst>
          </p:cNvPr>
          <p:cNvSpPr txBox="1">
            <a:spLocks/>
          </p:cNvSpPr>
          <p:nvPr/>
        </p:nvSpPr>
        <p:spPr>
          <a:xfrm>
            <a:off x="4593362" y="1363985"/>
            <a:ext cx="1454244" cy="1040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wrap="none" lIns="91440" tIns="45720" rIns="91440" bIns="45720" rtlCol="0">
            <a:noAutofit/>
          </a:bodyPr>
          <a:lstStyle>
            <a:lvl1pPr marL="25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Wingdings" panose="05000000000000000000" pitchFamily="2" charset="2"/>
              <a:buChar char="n"/>
              <a:defRPr kumimoji="1" lang="ja-JP" altLang="en-US" sz="1661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61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C8003C"/>
              </a:buClr>
              <a:buSzPct val="80000"/>
              <a:buFont typeface="Wingdings" panose="05000000000000000000" pitchFamily="2" charset="2"/>
              <a:buChar char="l"/>
              <a:defRPr kumimoji="1" sz="1385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2pPr>
            <a:lvl3pPr marL="97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Meiryo UI" panose="020B0604030504040204" pitchFamily="50" charset="-128"/>
              <a:buChar char="━"/>
              <a:defRPr kumimoji="1" sz="1247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3pPr>
            <a:lvl4pPr marL="133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Wingdings" panose="05000000000000000000" pitchFamily="2" charset="2"/>
              <a:buChar char="u"/>
              <a:defRPr kumimoji="1" sz="1108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4pPr>
            <a:lvl5pPr marL="1548000" indent="-144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Arial" panose="020B0604020202020204" pitchFamily="34" charset="0"/>
              <a:buChar char="•"/>
              <a:defRPr kumimoji="1" sz="969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sz="9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由設技・推進課將</a:t>
            </a:r>
            <a:endParaRPr lang="en-US" altLang="ja-JP" sz="900" b="1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0" indent="0">
              <a:buNone/>
            </a:pPr>
            <a:r>
              <a:rPr lang="ja-JP" altLang="en-US" sz="9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橫展開内容發送至各窯。</a:t>
            </a:r>
          </a:p>
          <a:p>
            <a:pPr marL="0" indent="0">
              <a:buNone/>
            </a:pPr>
            <a:r>
              <a:rPr lang="ja-JP" altLang="en-US" sz="9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★乙原・富羿也同時發送</a:t>
            </a:r>
            <a:endParaRPr lang="en-US" altLang="ja-JP" sz="900" b="1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0" indent="0">
              <a:buNone/>
            </a:pPr>
            <a:r>
              <a:rPr lang="zh-TW" altLang="en-US" sz="9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  </a:t>
            </a:r>
            <a:r>
              <a:rPr lang="ja-JP" altLang="en-US" sz="9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情報至各窯担当者。</a:t>
            </a:r>
          </a:p>
        </p:txBody>
      </p:sp>
      <p:sp>
        <p:nvSpPr>
          <p:cNvPr id="9" name="內容版面配置區 3">
            <a:extLst>
              <a:ext uri="{FF2B5EF4-FFF2-40B4-BE49-F238E27FC236}">
                <a16:creationId xmlns:a16="http://schemas.microsoft.com/office/drawing/2014/main" id="{3E45FE42-C723-7821-D4C4-B954D17155DD}"/>
              </a:ext>
            </a:extLst>
          </p:cNvPr>
          <p:cNvSpPr txBox="1">
            <a:spLocks/>
          </p:cNvSpPr>
          <p:nvPr/>
        </p:nvSpPr>
        <p:spPr>
          <a:xfrm>
            <a:off x="6206334" y="1363985"/>
            <a:ext cx="1223412" cy="1040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wrap="none" lIns="91440" tIns="45720" rIns="91440" bIns="45720" rtlCol="0">
            <a:noAutofit/>
          </a:bodyPr>
          <a:lstStyle>
            <a:lvl1pPr marL="25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Wingdings" panose="05000000000000000000" pitchFamily="2" charset="2"/>
              <a:buChar char="n"/>
              <a:defRPr kumimoji="1" lang="ja-JP" altLang="en-US" sz="1661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61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C8003C"/>
              </a:buClr>
              <a:buSzPct val="80000"/>
              <a:buFont typeface="Wingdings" panose="05000000000000000000" pitchFamily="2" charset="2"/>
              <a:buChar char="l"/>
              <a:defRPr kumimoji="1" sz="1385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2pPr>
            <a:lvl3pPr marL="97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Meiryo UI" panose="020B0604030504040204" pitchFamily="50" charset="-128"/>
              <a:buChar char="━"/>
              <a:defRPr kumimoji="1" sz="1247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3pPr>
            <a:lvl4pPr marL="133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Wingdings" panose="05000000000000000000" pitchFamily="2" charset="2"/>
              <a:buChar char="u"/>
              <a:defRPr kumimoji="1" sz="1108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4pPr>
            <a:lvl5pPr marL="1548000" indent="-144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Arial" panose="020B0604020202020204" pitchFamily="34" charset="0"/>
              <a:buChar char="•"/>
              <a:defRPr kumimoji="1" sz="969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sz="900" b="1" dirty="0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各窯担当者與設技・</a:t>
            </a:r>
            <a:endParaRPr lang="en-US" altLang="ja-JP" sz="900" b="1" dirty="0">
              <a:solidFill>
                <a:schemeClr val="tx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0" indent="0">
              <a:buNone/>
            </a:pPr>
            <a:r>
              <a:rPr lang="ja-JP" altLang="en-US" sz="900" b="1" dirty="0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推進課進行横展開</a:t>
            </a:r>
            <a:endParaRPr lang="en-US" altLang="ja-JP" sz="900" b="1" dirty="0">
              <a:solidFill>
                <a:schemeClr val="tx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0" indent="0">
              <a:buNone/>
            </a:pPr>
            <a:r>
              <a:rPr lang="ja-JP" altLang="en-US" sz="900" b="1" dirty="0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的調整。</a:t>
            </a:r>
          </a:p>
          <a:p>
            <a:pPr marL="0" indent="0">
              <a:buNone/>
            </a:pPr>
            <a:r>
              <a:rPr lang="ja-JP" altLang="en-US" sz="900" b="1" dirty="0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★横展開進度確認表</a:t>
            </a:r>
            <a:endParaRPr lang="en-US" altLang="ja-JP" sz="900" b="1" dirty="0">
              <a:solidFill>
                <a:schemeClr val="tx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0" indent="0">
              <a:buNone/>
            </a:pPr>
            <a:r>
              <a:rPr lang="en-US" altLang="ja-JP" sz="900" b="1" dirty="0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 KEY</a:t>
            </a:r>
            <a:r>
              <a:rPr lang="ja-JP" altLang="en-US" sz="900" b="1" dirty="0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入進度状況。</a:t>
            </a:r>
          </a:p>
        </p:txBody>
      </p:sp>
      <p:sp>
        <p:nvSpPr>
          <p:cNvPr id="10" name="內容版面配置區 3">
            <a:extLst>
              <a:ext uri="{FF2B5EF4-FFF2-40B4-BE49-F238E27FC236}">
                <a16:creationId xmlns:a16="http://schemas.microsoft.com/office/drawing/2014/main" id="{CCEDA7B0-3C7E-ABC2-0FA2-E2E9343170CB}"/>
              </a:ext>
            </a:extLst>
          </p:cNvPr>
          <p:cNvSpPr txBox="1">
            <a:spLocks/>
          </p:cNvSpPr>
          <p:nvPr/>
        </p:nvSpPr>
        <p:spPr>
          <a:xfrm>
            <a:off x="7583032" y="1363985"/>
            <a:ext cx="1338828" cy="1040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wrap="none" lIns="91440" tIns="45720" rIns="91440" bIns="45720" rtlCol="0">
            <a:noAutofit/>
          </a:bodyPr>
          <a:lstStyle>
            <a:lvl1pPr marL="25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Wingdings" panose="05000000000000000000" pitchFamily="2" charset="2"/>
              <a:buChar char="n"/>
              <a:defRPr kumimoji="1" lang="ja-JP" altLang="en-US" sz="1661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61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C8003C"/>
              </a:buClr>
              <a:buSzPct val="80000"/>
              <a:buFont typeface="Wingdings" panose="05000000000000000000" pitchFamily="2" charset="2"/>
              <a:buChar char="l"/>
              <a:defRPr kumimoji="1" sz="1385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2pPr>
            <a:lvl3pPr marL="97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Meiryo UI" panose="020B0604030504040204" pitchFamily="50" charset="-128"/>
              <a:buChar char="━"/>
              <a:defRPr kumimoji="1" sz="1247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3pPr>
            <a:lvl4pPr marL="133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Wingdings" panose="05000000000000000000" pitchFamily="2" charset="2"/>
              <a:buChar char="u"/>
              <a:defRPr kumimoji="1" sz="1108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4pPr>
            <a:lvl5pPr marL="1548000" indent="-144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Arial" panose="020B0604020202020204" pitchFamily="34" charset="0"/>
              <a:buChar char="•"/>
              <a:defRPr kumimoji="1" sz="969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sz="900" b="1" dirty="0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設備</a:t>
            </a:r>
            <a:r>
              <a:rPr lang="en-US" altLang="zh-TW" sz="900" b="1" dirty="0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LOSS</a:t>
            </a:r>
            <a:r>
              <a:rPr lang="zh-TW" altLang="en-US" sz="900" b="1" dirty="0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削減</a:t>
            </a:r>
            <a:r>
              <a:rPr lang="en-US" altLang="zh-TW" sz="900" b="1" dirty="0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TEAM</a:t>
            </a:r>
            <a:r>
              <a:rPr lang="zh-TW" altLang="en-US" sz="900" b="1" dirty="0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：</a:t>
            </a:r>
            <a:endParaRPr lang="en-US" altLang="zh-TW" sz="900" b="1" dirty="0">
              <a:solidFill>
                <a:schemeClr val="tx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0" indent="0">
              <a:buNone/>
            </a:pPr>
            <a:r>
              <a:rPr lang="zh-TW" altLang="en-US" sz="900" b="1" dirty="0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大內、張、原 管理</a:t>
            </a:r>
            <a:endParaRPr lang="en-US" altLang="zh-TW" sz="900" b="1" dirty="0">
              <a:solidFill>
                <a:schemeClr val="tx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0" indent="0">
              <a:buNone/>
            </a:pPr>
            <a:r>
              <a:rPr lang="zh-TW" altLang="en-US" sz="900" b="1" dirty="0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各窯的進度状況。</a:t>
            </a:r>
          </a:p>
          <a:p>
            <a:pPr marL="0" indent="0">
              <a:buNone/>
            </a:pPr>
            <a:r>
              <a:rPr lang="zh-TW" altLang="en-US" sz="900" b="1" dirty="0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★用横展開進度確認表</a:t>
            </a:r>
            <a:endParaRPr lang="en-US" altLang="zh-TW" sz="900" b="1" dirty="0">
              <a:solidFill>
                <a:schemeClr val="tx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0" indent="0">
              <a:buNone/>
            </a:pPr>
            <a:r>
              <a:rPr lang="zh-TW" altLang="en-US" sz="900" b="1" dirty="0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 做進度確認。</a:t>
            </a:r>
          </a:p>
        </p:txBody>
      </p:sp>
      <p:sp>
        <p:nvSpPr>
          <p:cNvPr id="12" name="內容版面配置區 3">
            <a:extLst>
              <a:ext uri="{FF2B5EF4-FFF2-40B4-BE49-F238E27FC236}">
                <a16:creationId xmlns:a16="http://schemas.microsoft.com/office/drawing/2014/main" id="{3675B600-4DE7-F951-877B-6D51C6C4F1EF}"/>
              </a:ext>
            </a:extLst>
          </p:cNvPr>
          <p:cNvSpPr txBox="1">
            <a:spLocks/>
          </p:cNvSpPr>
          <p:nvPr/>
        </p:nvSpPr>
        <p:spPr>
          <a:xfrm>
            <a:off x="207024" y="2956045"/>
            <a:ext cx="1223412" cy="7626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wrap="none" lIns="91440" tIns="45720" rIns="91440" bIns="45720" rtlCol="0">
            <a:noAutofit/>
          </a:bodyPr>
          <a:lstStyle>
            <a:lvl1pPr marL="25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Wingdings" panose="05000000000000000000" pitchFamily="2" charset="2"/>
              <a:buChar char="n"/>
              <a:defRPr kumimoji="1" lang="ja-JP" altLang="en-US" sz="1661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61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C8003C"/>
              </a:buClr>
              <a:buSzPct val="80000"/>
              <a:buFont typeface="Wingdings" panose="05000000000000000000" pitchFamily="2" charset="2"/>
              <a:buChar char="l"/>
              <a:defRPr kumimoji="1" sz="1385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2pPr>
            <a:lvl3pPr marL="97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Meiryo UI" panose="020B0604030504040204" pitchFamily="50" charset="-128"/>
              <a:buChar char="━"/>
              <a:defRPr kumimoji="1" sz="1247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3pPr>
            <a:lvl4pPr marL="133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Wingdings" panose="05000000000000000000" pitchFamily="2" charset="2"/>
              <a:buChar char="u"/>
              <a:defRPr kumimoji="1" sz="1108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4pPr>
            <a:lvl5pPr marL="1548000" indent="-144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Arial" panose="020B0604020202020204" pitchFamily="34" charset="0"/>
              <a:buChar char="•"/>
              <a:defRPr kumimoji="1" sz="969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ja-JP" altLang="en-US" sz="9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由技開提供其他據點</a:t>
            </a:r>
            <a:endParaRPr lang="en-US" altLang="ja-JP" sz="900" b="1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ja-JP" altLang="en-US" sz="9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的情報</a:t>
            </a:r>
          </a:p>
          <a:p>
            <a:pPr marL="0" indent="0">
              <a:spcBef>
                <a:spcPts val="0"/>
              </a:spcBef>
              <a:buNone/>
            </a:pPr>
            <a:r>
              <a:rPr lang="ja-JP" altLang="en-US" sz="9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・異常報告書</a:t>
            </a:r>
          </a:p>
          <a:p>
            <a:pPr marL="0" indent="0">
              <a:spcBef>
                <a:spcPts val="0"/>
              </a:spcBef>
              <a:buNone/>
            </a:pPr>
            <a:r>
              <a:rPr lang="ja-JP" altLang="en-US" sz="9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・調査依頼</a:t>
            </a:r>
          </a:p>
          <a:p>
            <a:pPr marL="0" indent="0">
              <a:spcBef>
                <a:spcPts val="0"/>
              </a:spcBef>
              <a:buNone/>
            </a:pPr>
            <a:r>
              <a:rPr lang="ja-JP" altLang="en-US" sz="9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・改善事例等</a:t>
            </a:r>
            <a:endParaRPr lang="en-US" altLang="ja-JP" sz="900" b="1" dirty="0"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  <p:sp>
        <p:nvSpPr>
          <p:cNvPr id="13" name="內容版面配置區 3">
            <a:extLst>
              <a:ext uri="{FF2B5EF4-FFF2-40B4-BE49-F238E27FC236}">
                <a16:creationId xmlns:a16="http://schemas.microsoft.com/office/drawing/2014/main" id="{F3DC7D37-E125-FBFD-9F0C-DCBE4A7181E8}"/>
              </a:ext>
            </a:extLst>
          </p:cNvPr>
          <p:cNvSpPr txBox="1">
            <a:spLocks/>
          </p:cNvSpPr>
          <p:nvPr/>
        </p:nvSpPr>
        <p:spPr>
          <a:xfrm>
            <a:off x="1596682" y="2956045"/>
            <a:ext cx="1107996" cy="7626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wrap="none" lIns="91440" tIns="45720" rIns="91440" bIns="45720" rtlCol="0">
            <a:noAutofit/>
          </a:bodyPr>
          <a:lstStyle>
            <a:lvl1pPr marL="25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Wingdings" panose="05000000000000000000" pitchFamily="2" charset="2"/>
              <a:buChar char="n"/>
              <a:defRPr kumimoji="1" lang="ja-JP" altLang="en-US" sz="1661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61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C8003C"/>
              </a:buClr>
              <a:buSzPct val="80000"/>
              <a:buFont typeface="Wingdings" panose="05000000000000000000" pitchFamily="2" charset="2"/>
              <a:buChar char="l"/>
              <a:defRPr kumimoji="1" sz="1385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2pPr>
            <a:lvl3pPr marL="97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Meiryo UI" panose="020B0604030504040204" pitchFamily="50" charset="-128"/>
              <a:buChar char="━"/>
              <a:defRPr kumimoji="1" sz="1247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3pPr>
            <a:lvl4pPr marL="133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Wingdings" panose="05000000000000000000" pitchFamily="2" charset="2"/>
              <a:buChar char="u"/>
              <a:defRPr kumimoji="1" sz="1108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4pPr>
            <a:lvl5pPr marL="1548000" indent="-144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Arial" panose="020B0604020202020204" pitchFamily="34" charset="0"/>
              <a:buChar char="•"/>
              <a:defRPr kumimoji="1" sz="969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zh-TW" altLang="en-US" sz="9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存放</a:t>
            </a:r>
            <a:endParaRPr lang="en-US" altLang="zh-TW" sz="900" b="1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ja-JP" altLang="en-US" sz="9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⇒ＡＤＴ内発</a:t>
            </a:r>
            <a:r>
              <a:rPr lang="zh-TW" altLang="en-US" sz="9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送</a:t>
            </a:r>
            <a:endParaRPr lang="en-US" altLang="ja-JP" sz="900" b="1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ja-JP" sz="9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※</a:t>
            </a:r>
            <a:r>
              <a:rPr lang="zh-TW" altLang="en-US" sz="9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擔當</a:t>
            </a:r>
            <a:r>
              <a:rPr lang="ja-JP" altLang="zh-TW" sz="900" b="1" dirty="0">
                <a:solidFill>
                  <a:schemeClr val="dk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⇒</a:t>
            </a:r>
            <a:r>
              <a:rPr lang="zh-TW" altLang="zh-TW" sz="900" b="1" dirty="0">
                <a:solidFill>
                  <a:schemeClr val="dk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乙原</a:t>
            </a:r>
            <a:r>
              <a:rPr lang="ja-JP" altLang="en-US" sz="9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さん</a:t>
            </a:r>
          </a:p>
        </p:txBody>
      </p:sp>
      <p:sp>
        <p:nvSpPr>
          <p:cNvPr id="14" name="內容版面配置區 3">
            <a:extLst>
              <a:ext uri="{FF2B5EF4-FFF2-40B4-BE49-F238E27FC236}">
                <a16:creationId xmlns:a16="http://schemas.microsoft.com/office/drawing/2014/main" id="{AA1F0E7A-3F4A-3469-BD36-5B7D30C1111F}"/>
              </a:ext>
            </a:extLst>
          </p:cNvPr>
          <p:cNvSpPr txBox="1">
            <a:spLocks/>
          </p:cNvSpPr>
          <p:nvPr/>
        </p:nvSpPr>
        <p:spPr>
          <a:xfrm>
            <a:off x="2870586" y="2956045"/>
            <a:ext cx="1569660" cy="104131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wrap="none" lIns="91440" tIns="45720" rIns="91440" bIns="45720" rtlCol="0">
            <a:noAutofit/>
          </a:bodyPr>
          <a:lstStyle>
            <a:lvl1pPr marL="25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Wingdings" panose="05000000000000000000" pitchFamily="2" charset="2"/>
              <a:buChar char="n"/>
              <a:defRPr kumimoji="1" lang="ja-JP" altLang="en-US" sz="1661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61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C8003C"/>
              </a:buClr>
              <a:buSzPct val="80000"/>
              <a:buFont typeface="Wingdings" panose="05000000000000000000" pitchFamily="2" charset="2"/>
              <a:buChar char="l"/>
              <a:defRPr kumimoji="1" sz="1385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2pPr>
            <a:lvl3pPr marL="97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Meiryo UI" panose="020B0604030504040204" pitchFamily="50" charset="-128"/>
              <a:buChar char="━"/>
              <a:defRPr kumimoji="1" sz="1247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3pPr>
            <a:lvl4pPr marL="133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Wingdings" panose="05000000000000000000" pitchFamily="2" charset="2"/>
              <a:buChar char="u"/>
              <a:defRPr kumimoji="1" sz="1108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4pPr>
            <a:lvl5pPr marL="1548000" indent="-144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Arial" panose="020B0604020202020204" pitchFamily="34" charset="0"/>
              <a:buChar char="•"/>
              <a:defRPr kumimoji="1" sz="969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sz="9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包含設技・推進課，</a:t>
            </a:r>
            <a:endParaRPr lang="en-US" altLang="ja-JP" sz="900" b="1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0" indent="0">
              <a:buNone/>
            </a:pPr>
            <a:r>
              <a:rPr lang="ja-JP" altLang="en-US" sz="9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進行対策検討。</a:t>
            </a:r>
          </a:p>
          <a:p>
            <a:pPr marL="0" indent="0">
              <a:buNone/>
            </a:pPr>
            <a:r>
              <a:rPr lang="ja-JP" altLang="en-US" sz="9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★討論至是否需要横展開。</a:t>
            </a:r>
            <a:endParaRPr lang="en-US" altLang="ja-JP" sz="900" b="1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0" indent="0">
              <a:buNone/>
            </a:pPr>
            <a:r>
              <a:rPr lang="ja-JP" altLang="en-US" sz="9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★横展開進度確認表更新。</a:t>
            </a:r>
          </a:p>
          <a:p>
            <a:pPr marL="0" indent="0">
              <a:buNone/>
            </a:pPr>
            <a:r>
              <a:rPr lang="en-US" altLang="ja-JP" sz="9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※</a:t>
            </a:r>
            <a:r>
              <a:rPr lang="ja-JP" altLang="en-US" sz="9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担当⇒大內、張、原</a:t>
            </a:r>
          </a:p>
        </p:txBody>
      </p:sp>
      <p:sp>
        <p:nvSpPr>
          <p:cNvPr id="15" name="內容版面配置區 3">
            <a:extLst>
              <a:ext uri="{FF2B5EF4-FFF2-40B4-BE49-F238E27FC236}">
                <a16:creationId xmlns:a16="http://schemas.microsoft.com/office/drawing/2014/main" id="{6931F243-2221-558E-87A5-561E1AD35C3B}"/>
              </a:ext>
            </a:extLst>
          </p:cNvPr>
          <p:cNvSpPr txBox="1">
            <a:spLocks/>
          </p:cNvSpPr>
          <p:nvPr/>
        </p:nvSpPr>
        <p:spPr>
          <a:xfrm>
            <a:off x="4593362" y="2956045"/>
            <a:ext cx="1454244" cy="1040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wrap="none" lIns="91440" tIns="45720" rIns="91440" bIns="45720" rtlCol="0">
            <a:noAutofit/>
          </a:bodyPr>
          <a:lstStyle>
            <a:lvl1pPr marL="25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Wingdings" panose="05000000000000000000" pitchFamily="2" charset="2"/>
              <a:buChar char="n"/>
              <a:defRPr kumimoji="1" lang="ja-JP" altLang="en-US" sz="1661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61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C8003C"/>
              </a:buClr>
              <a:buSzPct val="80000"/>
              <a:buFont typeface="Wingdings" panose="05000000000000000000" pitchFamily="2" charset="2"/>
              <a:buChar char="l"/>
              <a:defRPr kumimoji="1" sz="1385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2pPr>
            <a:lvl3pPr marL="97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Meiryo UI" panose="020B0604030504040204" pitchFamily="50" charset="-128"/>
              <a:buChar char="━"/>
              <a:defRPr kumimoji="1" sz="1247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3pPr>
            <a:lvl4pPr marL="133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Wingdings" panose="05000000000000000000" pitchFamily="2" charset="2"/>
              <a:buChar char="u"/>
              <a:defRPr kumimoji="1" sz="1108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4pPr>
            <a:lvl5pPr marL="1548000" indent="-144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Arial" panose="020B0604020202020204" pitchFamily="34" charset="0"/>
              <a:buChar char="•"/>
              <a:defRPr kumimoji="1" sz="969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sz="9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由設技・推進課將</a:t>
            </a:r>
            <a:endParaRPr lang="en-US" altLang="ja-JP" sz="900" b="1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0" indent="0">
              <a:buNone/>
            </a:pPr>
            <a:r>
              <a:rPr lang="ja-JP" altLang="en-US" sz="9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橫展開内容發送至各窯。</a:t>
            </a:r>
          </a:p>
          <a:p>
            <a:pPr marL="0" indent="0">
              <a:buNone/>
            </a:pPr>
            <a:r>
              <a:rPr lang="ja-JP" altLang="en-US" sz="9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★乙原・富羿也同時發送</a:t>
            </a:r>
            <a:endParaRPr lang="en-US" altLang="ja-JP" sz="900" b="1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0" indent="0">
              <a:buNone/>
            </a:pPr>
            <a:r>
              <a:rPr lang="zh-TW" altLang="en-US" sz="9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  </a:t>
            </a:r>
            <a:r>
              <a:rPr lang="ja-JP" altLang="en-US" sz="9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情報至各窯担当者。</a:t>
            </a:r>
          </a:p>
        </p:txBody>
      </p:sp>
      <p:sp>
        <p:nvSpPr>
          <p:cNvPr id="16" name="內容版面配置區 3">
            <a:extLst>
              <a:ext uri="{FF2B5EF4-FFF2-40B4-BE49-F238E27FC236}">
                <a16:creationId xmlns:a16="http://schemas.microsoft.com/office/drawing/2014/main" id="{A5B45AEC-FCD7-0E4D-325E-3B4CCC998C1C}"/>
              </a:ext>
            </a:extLst>
          </p:cNvPr>
          <p:cNvSpPr txBox="1">
            <a:spLocks/>
          </p:cNvSpPr>
          <p:nvPr/>
        </p:nvSpPr>
        <p:spPr>
          <a:xfrm>
            <a:off x="6213514" y="2956045"/>
            <a:ext cx="1223412" cy="1040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wrap="none" lIns="91440" tIns="45720" rIns="91440" bIns="45720" rtlCol="0">
            <a:noAutofit/>
          </a:bodyPr>
          <a:lstStyle>
            <a:lvl1pPr marL="25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Wingdings" panose="05000000000000000000" pitchFamily="2" charset="2"/>
              <a:buChar char="n"/>
              <a:defRPr kumimoji="1" lang="ja-JP" altLang="en-US" sz="1661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61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C8003C"/>
              </a:buClr>
              <a:buSzPct val="80000"/>
              <a:buFont typeface="Wingdings" panose="05000000000000000000" pitchFamily="2" charset="2"/>
              <a:buChar char="l"/>
              <a:defRPr kumimoji="1" sz="1385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2pPr>
            <a:lvl3pPr marL="97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Meiryo UI" panose="020B0604030504040204" pitchFamily="50" charset="-128"/>
              <a:buChar char="━"/>
              <a:defRPr kumimoji="1" sz="1247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3pPr>
            <a:lvl4pPr marL="133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Wingdings" panose="05000000000000000000" pitchFamily="2" charset="2"/>
              <a:buChar char="u"/>
              <a:defRPr kumimoji="1" sz="1108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4pPr>
            <a:lvl5pPr marL="1548000" indent="-144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Arial" panose="020B0604020202020204" pitchFamily="34" charset="0"/>
              <a:buChar char="•"/>
              <a:defRPr kumimoji="1" sz="969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sz="900" b="1" dirty="0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各窯担当者與設技・</a:t>
            </a:r>
            <a:endParaRPr lang="en-US" altLang="ja-JP" sz="900" b="1" dirty="0">
              <a:solidFill>
                <a:schemeClr val="tx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0" indent="0">
              <a:buNone/>
            </a:pPr>
            <a:r>
              <a:rPr lang="ja-JP" altLang="en-US" sz="900" b="1" dirty="0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推進課進行横展開</a:t>
            </a:r>
            <a:endParaRPr lang="en-US" altLang="ja-JP" sz="900" b="1" dirty="0">
              <a:solidFill>
                <a:schemeClr val="tx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0" indent="0">
              <a:buNone/>
            </a:pPr>
            <a:r>
              <a:rPr lang="ja-JP" altLang="en-US" sz="900" b="1" dirty="0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的調整。</a:t>
            </a:r>
          </a:p>
          <a:p>
            <a:pPr marL="0" indent="0">
              <a:buNone/>
            </a:pPr>
            <a:r>
              <a:rPr lang="ja-JP" altLang="en-US" sz="900" b="1" dirty="0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★横展開進度確認表</a:t>
            </a:r>
            <a:endParaRPr lang="en-US" altLang="ja-JP" sz="900" b="1" dirty="0">
              <a:solidFill>
                <a:schemeClr val="tx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0" indent="0">
              <a:buNone/>
            </a:pPr>
            <a:r>
              <a:rPr lang="en-US" altLang="ja-JP" sz="900" b="1" dirty="0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 KEY</a:t>
            </a:r>
            <a:r>
              <a:rPr lang="ja-JP" altLang="en-US" sz="900" b="1" dirty="0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入進度状況。</a:t>
            </a:r>
          </a:p>
        </p:txBody>
      </p:sp>
      <p:sp>
        <p:nvSpPr>
          <p:cNvPr id="17" name="內容版面配置區 3">
            <a:extLst>
              <a:ext uri="{FF2B5EF4-FFF2-40B4-BE49-F238E27FC236}">
                <a16:creationId xmlns:a16="http://schemas.microsoft.com/office/drawing/2014/main" id="{3188B569-88C9-AEF7-41F7-8C70FD87FBD5}"/>
              </a:ext>
            </a:extLst>
          </p:cNvPr>
          <p:cNvSpPr txBox="1">
            <a:spLocks/>
          </p:cNvSpPr>
          <p:nvPr/>
        </p:nvSpPr>
        <p:spPr>
          <a:xfrm>
            <a:off x="7583032" y="2956045"/>
            <a:ext cx="1338828" cy="1040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wrap="none" lIns="91440" tIns="45720" rIns="91440" bIns="45720" rtlCol="0">
            <a:noAutofit/>
          </a:bodyPr>
          <a:lstStyle>
            <a:lvl1pPr marL="25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Wingdings" panose="05000000000000000000" pitchFamily="2" charset="2"/>
              <a:buChar char="n"/>
              <a:defRPr kumimoji="1" lang="ja-JP" altLang="en-US" sz="1661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61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C8003C"/>
              </a:buClr>
              <a:buSzPct val="80000"/>
              <a:buFont typeface="Wingdings" panose="05000000000000000000" pitchFamily="2" charset="2"/>
              <a:buChar char="l"/>
              <a:defRPr kumimoji="1" sz="1385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2pPr>
            <a:lvl3pPr marL="97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Meiryo UI" panose="020B0604030504040204" pitchFamily="50" charset="-128"/>
              <a:buChar char="━"/>
              <a:defRPr kumimoji="1" sz="1247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3pPr>
            <a:lvl4pPr marL="133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Wingdings" panose="05000000000000000000" pitchFamily="2" charset="2"/>
              <a:buChar char="u"/>
              <a:defRPr kumimoji="1" sz="1108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4pPr>
            <a:lvl5pPr marL="1548000" indent="-144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Arial" panose="020B0604020202020204" pitchFamily="34" charset="0"/>
              <a:buChar char="•"/>
              <a:defRPr kumimoji="1" sz="969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sz="900" b="1" dirty="0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設備</a:t>
            </a:r>
            <a:r>
              <a:rPr lang="en-US" altLang="zh-TW" sz="900" b="1" dirty="0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LOSS</a:t>
            </a:r>
            <a:r>
              <a:rPr lang="zh-TW" altLang="en-US" sz="900" b="1" dirty="0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削減</a:t>
            </a:r>
            <a:r>
              <a:rPr lang="en-US" altLang="zh-TW" sz="900" b="1" dirty="0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TEAM</a:t>
            </a:r>
            <a:r>
              <a:rPr lang="zh-TW" altLang="en-US" sz="900" b="1" dirty="0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：</a:t>
            </a:r>
            <a:endParaRPr lang="en-US" altLang="zh-TW" sz="900" b="1" dirty="0">
              <a:solidFill>
                <a:schemeClr val="tx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0" indent="0">
              <a:buNone/>
            </a:pPr>
            <a:r>
              <a:rPr lang="zh-TW" altLang="en-US" sz="900" b="1" dirty="0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大內、張、原 管理</a:t>
            </a:r>
            <a:endParaRPr lang="en-US" altLang="zh-TW" sz="900" b="1" dirty="0">
              <a:solidFill>
                <a:schemeClr val="tx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0" indent="0">
              <a:buNone/>
            </a:pPr>
            <a:r>
              <a:rPr lang="zh-TW" altLang="en-US" sz="900" b="1" dirty="0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各窯的進度状況。</a:t>
            </a:r>
          </a:p>
          <a:p>
            <a:pPr marL="0" indent="0">
              <a:buNone/>
            </a:pPr>
            <a:r>
              <a:rPr lang="zh-TW" altLang="en-US" sz="900" b="1" dirty="0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★用横展開進度確認表</a:t>
            </a:r>
            <a:endParaRPr lang="en-US" altLang="zh-TW" sz="900" b="1" dirty="0">
              <a:solidFill>
                <a:schemeClr val="tx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0" indent="0">
              <a:buNone/>
            </a:pPr>
            <a:r>
              <a:rPr lang="zh-TW" altLang="en-US" sz="900" b="1" dirty="0">
                <a:solidFill>
                  <a:schemeClr val="tx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 做進度確認。</a:t>
            </a:r>
          </a:p>
        </p:txBody>
      </p:sp>
      <p:sp>
        <p:nvSpPr>
          <p:cNvPr id="18" name="內容版面配置區 3">
            <a:extLst>
              <a:ext uri="{FF2B5EF4-FFF2-40B4-BE49-F238E27FC236}">
                <a16:creationId xmlns:a16="http://schemas.microsoft.com/office/drawing/2014/main" id="{A7777FA3-3E33-B4BC-43B3-59AB6C2ED8B3}"/>
              </a:ext>
            </a:extLst>
          </p:cNvPr>
          <p:cNvSpPr txBox="1">
            <a:spLocks/>
          </p:cNvSpPr>
          <p:nvPr/>
        </p:nvSpPr>
        <p:spPr>
          <a:xfrm>
            <a:off x="207024" y="3867778"/>
            <a:ext cx="1223412" cy="8074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wrap="none" lIns="91440" tIns="45720" rIns="91440" bIns="45720" rtlCol="0">
            <a:noAutofit/>
          </a:bodyPr>
          <a:lstStyle>
            <a:lvl1pPr marL="25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Wingdings" panose="05000000000000000000" pitchFamily="2" charset="2"/>
              <a:buChar char="n"/>
              <a:defRPr kumimoji="1" lang="ja-JP" altLang="en-US" sz="1661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61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C8003C"/>
              </a:buClr>
              <a:buSzPct val="80000"/>
              <a:buFont typeface="Wingdings" panose="05000000000000000000" pitchFamily="2" charset="2"/>
              <a:buChar char="l"/>
              <a:defRPr kumimoji="1" sz="1385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2pPr>
            <a:lvl3pPr marL="97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Meiryo UI" panose="020B0604030504040204" pitchFamily="50" charset="-128"/>
              <a:buChar char="━"/>
              <a:defRPr kumimoji="1" sz="1247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3pPr>
            <a:lvl4pPr marL="133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Wingdings" panose="05000000000000000000" pitchFamily="2" charset="2"/>
              <a:buChar char="u"/>
              <a:defRPr kumimoji="1" sz="1108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4pPr>
            <a:lvl5pPr marL="1548000" indent="-144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Arial" panose="020B0604020202020204" pitchFamily="34" charset="0"/>
              <a:buChar char="•"/>
              <a:defRPr kumimoji="1" sz="969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zh-TW" altLang="en-US" sz="9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★由設備異常發生</a:t>
            </a:r>
            <a:endParaRPr lang="en-US" altLang="zh-TW" sz="900" b="1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zh-TW" altLang="en-US" sz="9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單位</a:t>
            </a:r>
            <a:r>
              <a:rPr lang="en-US" altLang="zh-TW" sz="900" b="1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+</a:t>
            </a:r>
            <a:r>
              <a:rPr lang="zh-TW" altLang="en-US" sz="900" b="1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生推</a:t>
            </a:r>
            <a:r>
              <a:rPr lang="zh-TW" altLang="en-US" sz="9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與設備技術</a:t>
            </a:r>
            <a:endParaRPr lang="en-US" altLang="zh-TW" sz="900" b="1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zh-TW" altLang="en-US" sz="9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討論發生原因與對策</a:t>
            </a:r>
            <a:endParaRPr lang="en-US" altLang="ja-JP" sz="900" b="1" dirty="0"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  <p:sp>
        <p:nvSpPr>
          <p:cNvPr id="19" name="內容版面配置區 3">
            <a:extLst>
              <a:ext uri="{FF2B5EF4-FFF2-40B4-BE49-F238E27FC236}">
                <a16:creationId xmlns:a16="http://schemas.microsoft.com/office/drawing/2014/main" id="{43ED3503-4B74-7349-8CCD-A2A8698A954C}"/>
              </a:ext>
            </a:extLst>
          </p:cNvPr>
          <p:cNvSpPr txBox="1">
            <a:spLocks/>
          </p:cNvSpPr>
          <p:nvPr/>
        </p:nvSpPr>
        <p:spPr>
          <a:xfrm>
            <a:off x="1596682" y="3867778"/>
            <a:ext cx="1107996" cy="8074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wrap="none" lIns="91440" tIns="45720" rIns="91440" bIns="45720" rtlCol="0">
            <a:noAutofit/>
          </a:bodyPr>
          <a:lstStyle>
            <a:lvl1pPr marL="25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Wingdings" panose="05000000000000000000" pitchFamily="2" charset="2"/>
              <a:buChar char="n"/>
              <a:defRPr kumimoji="1" lang="ja-JP" altLang="en-US" sz="1661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61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C8003C"/>
              </a:buClr>
              <a:buSzPct val="80000"/>
              <a:buFont typeface="Wingdings" panose="05000000000000000000" pitchFamily="2" charset="2"/>
              <a:buChar char="l"/>
              <a:defRPr kumimoji="1" sz="1385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2pPr>
            <a:lvl3pPr marL="97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Meiryo UI" panose="020B0604030504040204" pitchFamily="50" charset="-128"/>
              <a:buChar char="━"/>
              <a:defRPr kumimoji="1" sz="1247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3pPr>
            <a:lvl4pPr marL="133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Wingdings" panose="05000000000000000000" pitchFamily="2" charset="2"/>
              <a:buChar char="u"/>
              <a:defRPr kumimoji="1" sz="1108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4pPr>
            <a:lvl5pPr marL="1548000" indent="-144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Arial" panose="020B0604020202020204" pitchFamily="34" charset="0"/>
              <a:buChar char="•"/>
              <a:defRPr kumimoji="1" sz="969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zh-TW" altLang="en-US" sz="9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★</a:t>
            </a:r>
            <a:r>
              <a:rPr lang="zh-TW" altLang="en-US" sz="900" b="1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各窯作成報告書，</a:t>
            </a:r>
            <a:endParaRPr lang="en-US" altLang="zh-TW" sz="900" b="1" dirty="0">
              <a:solidFill>
                <a:srgbClr val="FF0000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zh-TW" altLang="en-US" sz="900" b="1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推進課作成內容確</a:t>
            </a:r>
            <a:endParaRPr lang="en-US" altLang="zh-TW" sz="900" b="1" dirty="0">
              <a:solidFill>
                <a:srgbClr val="FF0000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zh-TW" altLang="en-US" sz="900" b="1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認沒有問題後</a:t>
            </a:r>
            <a:r>
              <a:rPr lang="zh-TW" altLang="en-US" sz="9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，由</a:t>
            </a:r>
            <a:endParaRPr lang="en-US" altLang="zh-TW" sz="900" b="1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zh-TW" altLang="en-US" sz="9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各單位副理提供最</a:t>
            </a:r>
            <a:endParaRPr lang="en-US" altLang="zh-TW" sz="900" b="1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zh-TW" altLang="en-US" sz="9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終報告書。</a:t>
            </a:r>
            <a:endParaRPr lang="ja-JP" altLang="en-US" sz="900" b="1" dirty="0"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50E26E39-FD30-B4C1-37AC-E46B3D465022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1430774" y="1884185"/>
            <a:ext cx="165908" cy="0"/>
          </a:xfrm>
          <a:prstGeom prst="straightConnector1">
            <a:avLst/>
          </a:prstGeom>
          <a:ln w="15875">
            <a:solidFill>
              <a:srgbClr val="001F6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DFD107C8-3BCB-4B76-6294-9514D5697A6E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2704678" y="1884185"/>
            <a:ext cx="159512" cy="456"/>
          </a:xfrm>
          <a:prstGeom prst="straightConnector1">
            <a:avLst/>
          </a:prstGeom>
          <a:ln w="15875">
            <a:solidFill>
              <a:srgbClr val="001F6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>
            <a:extLst>
              <a:ext uri="{FF2B5EF4-FFF2-40B4-BE49-F238E27FC236}">
                <a16:creationId xmlns:a16="http://schemas.microsoft.com/office/drawing/2014/main" id="{A3CAB48A-AD6F-2379-F520-8D8321EFC515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4433850" y="1884185"/>
            <a:ext cx="159512" cy="456"/>
          </a:xfrm>
          <a:prstGeom prst="straightConnector1">
            <a:avLst/>
          </a:prstGeom>
          <a:ln w="15875">
            <a:solidFill>
              <a:srgbClr val="001F6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16B535D6-528F-ACF0-3C66-9AE84443D17F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6047606" y="1884185"/>
            <a:ext cx="158728" cy="0"/>
          </a:xfrm>
          <a:prstGeom prst="straightConnector1">
            <a:avLst/>
          </a:prstGeom>
          <a:ln w="15875">
            <a:solidFill>
              <a:srgbClr val="001F6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00B442F4-6789-28DA-F219-5E010086487A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7429746" y="1884185"/>
            <a:ext cx="153286" cy="0"/>
          </a:xfrm>
          <a:prstGeom prst="straightConnector1">
            <a:avLst/>
          </a:prstGeom>
          <a:ln w="15875">
            <a:solidFill>
              <a:srgbClr val="001F6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9816BA6A-D4A5-AB59-3E20-345BC2A89F89}"/>
              </a:ext>
            </a:extLst>
          </p:cNvPr>
          <p:cNvCxnSpPr>
            <a:cxnSpLocks/>
          </p:cNvCxnSpPr>
          <p:nvPr/>
        </p:nvCxnSpPr>
        <p:spPr>
          <a:xfrm>
            <a:off x="2704678" y="3387380"/>
            <a:ext cx="159512" cy="456"/>
          </a:xfrm>
          <a:prstGeom prst="straightConnector1">
            <a:avLst/>
          </a:prstGeom>
          <a:ln w="15875">
            <a:solidFill>
              <a:srgbClr val="001F6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>
            <a:extLst>
              <a:ext uri="{FF2B5EF4-FFF2-40B4-BE49-F238E27FC236}">
                <a16:creationId xmlns:a16="http://schemas.microsoft.com/office/drawing/2014/main" id="{9E1FDEE9-6F40-B126-03B5-61A4B33E586A}"/>
              </a:ext>
            </a:extLst>
          </p:cNvPr>
          <p:cNvCxnSpPr>
            <a:cxnSpLocks/>
          </p:cNvCxnSpPr>
          <p:nvPr/>
        </p:nvCxnSpPr>
        <p:spPr>
          <a:xfrm flipV="1">
            <a:off x="4433850" y="3387380"/>
            <a:ext cx="159512" cy="456"/>
          </a:xfrm>
          <a:prstGeom prst="straightConnector1">
            <a:avLst/>
          </a:prstGeom>
          <a:ln w="15875">
            <a:solidFill>
              <a:srgbClr val="001F6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42">
            <a:extLst>
              <a:ext uri="{FF2B5EF4-FFF2-40B4-BE49-F238E27FC236}">
                <a16:creationId xmlns:a16="http://schemas.microsoft.com/office/drawing/2014/main" id="{82DFC084-7D3C-BD62-AB4C-5961618D9C62}"/>
              </a:ext>
            </a:extLst>
          </p:cNvPr>
          <p:cNvCxnSpPr>
            <a:cxnSpLocks/>
          </p:cNvCxnSpPr>
          <p:nvPr/>
        </p:nvCxnSpPr>
        <p:spPr>
          <a:xfrm>
            <a:off x="6047606" y="3387380"/>
            <a:ext cx="158728" cy="0"/>
          </a:xfrm>
          <a:prstGeom prst="straightConnector1">
            <a:avLst/>
          </a:prstGeom>
          <a:ln w="15875">
            <a:solidFill>
              <a:srgbClr val="001F6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43">
            <a:extLst>
              <a:ext uri="{FF2B5EF4-FFF2-40B4-BE49-F238E27FC236}">
                <a16:creationId xmlns:a16="http://schemas.microsoft.com/office/drawing/2014/main" id="{5AA34CE9-A699-D01A-101A-F7CEEEA679B5}"/>
              </a:ext>
            </a:extLst>
          </p:cNvPr>
          <p:cNvCxnSpPr>
            <a:cxnSpLocks/>
          </p:cNvCxnSpPr>
          <p:nvPr/>
        </p:nvCxnSpPr>
        <p:spPr>
          <a:xfrm>
            <a:off x="7429746" y="3387380"/>
            <a:ext cx="153286" cy="0"/>
          </a:xfrm>
          <a:prstGeom prst="straightConnector1">
            <a:avLst/>
          </a:prstGeom>
          <a:ln w="15875">
            <a:solidFill>
              <a:srgbClr val="001F6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714F4F09-0960-5369-AD4C-A6B54D55850C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>
            <a:off x="1430436" y="4271506"/>
            <a:ext cx="166246" cy="0"/>
          </a:xfrm>
          <a:prstGeom prst="straightConnector1">
            <a:avLst/>
          </a:prstGeom>
          <a:ln w="15875">
            <a:solidFill>
              <a:srgbClr val="001F6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47">
            <a:extLst>
              <a:ext uri="{FF2B5EF4-FFF2-40B4-BE49-F238E27FC236}">
                <a16:creationId xmlns:a16="http://schemas.microsoft.com/office/drawing/2014/main" id="{994C0F74-B28A-A7B2-4E27-61F0840D2FC3}"/>
              </a:ext>
            </a:extLst>
          </p:cNvPr>
          <p:cNvCxnSpPr>
            <a:cxnSpLocks/>
            <a:stCxn id="12" idx="2"/>
            <a:endCxn id="18" idx="0"/>
          </p:cNvCxnSpPr>
          <p:nvPr/>
        </p:nvCxnSpPr>
        <p:spPr>
          <a:xfrm>
            <a:off x="818730" y="3718740"/>
            <a:ext cx="0" cy="149038"/>
          </a:xfrm>
          <a:prstGeom prst="straightConnector1">
            <a:avLst/>
          </a:prstGeom>
          <a:ln w="15875">
            <a:solidFill>
              <a:srgbClr val="001F6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單箭頭接點 48">
            <a:extLst>
              <a:ext uri="{FF2B5EF4-FFF2-40B4-BE49-F238E27FC236}">
                <a16:creationId xmlns:a16="http://schemas.microsoft.com/office/drawing/2014/main" id="{69A92E71-72DC-8EFD-44AC-804C7C2790F2}"/>
              </a:ext>
            </a:extLst>
          </p:cNvPr>
          <p:cNvCxnSpPr>
            <a:cxnSpLocks/>
            <a:stCxn id="19" idx="0"/>
            <a:endCxn id="13" idx="2"/>
          </p:cNvCxnSpPr>
          <p:nvPr/>
        </p:nvCxnSpPr>
        <p:spPr>
          <a:xfrm flipV="1">
            <a:off x="2150680" y="3718740"/>
            <a:ext cx="0" cy="149038"/>
          </a:xfrm>
          <a:prstGeom prst="straightConnector1">
            <a:avLst/>
          </a:prstGeom>
          <a:ln w="15875">
            <a:solidFill>
              <a:srgbClr val="001F6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3787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B73C0-F79A-F1C6-34BF-8AD4CF21C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083A88-845E-7659-290E-320A86BAE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品質</a:t>
            </a:r>
            <a:r>
              <a:rPr lang="ja-JP" altLang="en-US" dirty="0"/>
              <a:t>異常の再発防止取り組み</a:t>
            </a:r>
            <a:endParaRPr kumimoji="1" lang="ja-JP" altLang="en-US" dirty="0"/>
          </a:p>
        </p:txBody>
      </p:sp>
      <p:sp>
        <p:nvSpPr>
          <p:cNvPr id="3" name="內容版面配置區 3">
            <a:extLst>
              <a:ext uri="{FF2B5EF4-FFF2-40B4-BE49-F238E27FC236}">
                <a16:creationId xmlns:a16="http://schemas.microsoft.com/office/drawing/2014/main" id="{1A5954D7-326B-A52E-B281-F04D93C2C4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000" y="640851"/>
            <a:ext cx="4651017" cy="347916"/>
          </a:xfrm>
        </p:spPr>
        <p:txBody>
          <a:bodyPr wrap="none">
            <a:spAutoFit/>
          </a:bodyPr>
          <a:lstStyle/>
          <a:p>
            <a:r>
              <a:rPr lang="zh-TW" altLang="en-US" b="1" dirty="0">
                <a:solidFill>
                  <a:schemeClr val="tx1"/>
                </a:solidFill>
              </a:rPr>
              <a:t>部內工程内異常横展開会議</a:t>
            </a:r>
            <a:r>
              <a:rPr lang="en-US" altLang="zh-TW" b="1" dirty="0">
                <a:solidFill>
                  <a:schemeClr val="tx1"/>
                </a:solidFill>
              </a:rPr>
              <a:t>(</a:t>
            </a:r>
            <a:r>
              <a:rPr lang="en-US" altLang="ja-JP" b="1" dirty="0">
                <a:solidFill>
                  <a:schemeClr val="tx1"/>
                </a:solidFill>
              </a:rPr>
              <a:t>HOT</a:t>
            </a:r>
            <a:r>
              <a:rPr lang="zh-TW" altLang="en-US" b="1" dirty="0">
                <a:solidFill>
                  <a:schemeClr val="tx1"/>
                </a:solidFill>
              </a:rPr>
              <a:t>、</a:t>
            </a:r>
            <a:r>
              <a:rPr lang="en-US" altLang="ja-JP" b="1" dirty="0">
                <a:solidFill>
                  <a:schemeClr val="tx1"/>
                </a:solidFill>
              </a:rPr>
              <a:t>COLD)</a:t>
            </a:r>
            <a:r>
              <a:rPr lang="ja-JP" altLang="en-US" b="1" dirty="0">
                <a:solidFill>
                  <a:schemeClr val="tx1"/>
                </a:solidFill>
              </a:rPr>
              <a:t>：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sp>
        <p:nvSpPr>
          <p:cNvPr id="4" name="箭號: 有線條的向右箭號 3">
            <a:extLst>
              <a:ext uri="{FF2B5EF4-FFF2-40B4-BE49-F238E27FC236}">
                <a16:creationId xmlns:a16="http://schemas.microsoft.com/office/drawing/2014/main" id="{0316A34B-BBD4-29BF-EA84-092EB01881DC}"/>
              </a:ext>
            </a:extLst>
          </p:cNvPr>
          <p:cNvSpPr/>
          <p:nvPr/>
        </p:nvSpPr>
        <p:spPr>
          <a:xfrm>
            <a:off x="356260" y="1041419"/>
            <a:ext cx="8431480" cy="768197"/>
          </a:xfrm>
          <a:prstGeom prst="stripedRightArrow">
            <a:avLst>
              <a:gd name="adj1" fmla="val 50000"/>
              <a:gd name="adj2" fmla="val 98123"/>
            </a:avLst>
          </a:prstGeom>
          <a:solidFill>
            <a:srgbClr val="0050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TW" altLang="en-US" sz="2000" b="1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横展開会議               </a:t>
            </a:r>
            <a:r>
              <a:rPr lang="zh-TW" altLang="en-US" sz="1600" b="1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頻度：次</a:t>
            </a:r>
            <a:r>
              <a:rPr lang="en-US" altLang="zh-TW" sz="1600" b="1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/</a:t>
            </a:r>
            <a:r>
              <a:rPr lang="zh-TW" altLang="en-US" sz="1600" b="1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月</a:t>
            </a:r>
            <a:endParaRPr kumimoji="1" lang="zh-TW" altLang="en-US" sz="2000" b="1" dirty="0">
              <a:solidFill>
                <a:schemeClr val="bg1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  <p:sp>
        <p:nvSpPr>
          <p:cNvPr id="5" name="內容版面配置區 3">
            <a:extLst>
              <a:ext uri="{FF2B5EF4-FFF2-40B4-BE49-F238E27FC236}">
                <a16:creationId xmlns:a16="http://schemas.microsoft.com/office/drawing/2014/main" id="{B832AF3C-63F2-8C19-A5CD-1141D77507F7}"/>
              </a:ext>
            </a:extLst>
          </p:cNvPr>
          <p:cNvSpPr txBox="1">
            <a:spLocks/>
          </p:cNvSpPr>
          <p:nvPr/>
        </p:nvSpPr>
        <p:spPr>
          <a:xfrm>
            <a:off x="718791" y="1688310"/>
            <a:ext cx="1931619" cy="347916"/>
          </a:xfrm>
          <a:prstGeom prst="rect">
            <a:avLst/>
          </a:prstGeom>
        </p:spPr>
        <p:txBody>
          <a:bodyPr vert="horz" wrap="none" lIns="91440" tIns="45720" rIns="91440" bIns="45720" rtlCol="0">
            <a:spAutoFit/>
          </a:bodyPr>
          <a:lstStyle>
            <a:lvl1pPr marL="25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Wingdings" panose="05000000000000000000" pitchFamily="2" charset="2"/>
              <a:buChar char="n"/>
              <a:defRPr kumimoji="1" lang="ja-JP" altLang="en-US" sz="1661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61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C8003C"/>
              </a:buClr>
              <a:buSzPct val="80000"/>
              <a:buFont typeface="Wingdings" panose="05000000000000000000" pitchFamily="2" charset="2"/>
              <a:buChar char="l"/>
              <a:defRPr kumimoji="1" sz="1385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2pPr>
            <a:lvl3pPr marL="97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Meiryo UI" panose="020B0604030504040204" pitchFamily="50" charset="-128"/>
              <a:buChar char="━"/>
              <a:defRPr kumimoji="1" sz="1247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3pPr>
            <a:lvl4pPr marL="133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Wingdings" panose="05000000000000000000" pitchFamily="2" charset="2"/>
              <a:buChar char="u"/>
              <a:defRPr kumimoji="1" sz="1108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4pPr>
            <a:lvl5pPr marL="1548000" indent="-144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Arial" panose="020B0604020202020204" pitchFamily="34" charset="0"/>
              <a:buChar char="•"/>
              <a:defRPr kumimoji="1" sz="969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l"/>
            </a:pPr>
            <a:r>
              <a:rPr lang="zh-TW" altLang="en-US" b="1" dirty="0">
                <a:solidFill>
                  <a:schemeClr val="tx1"/>
                </a:solidFill>
              </a:rPr>
              <a:t>異常內容確認：</a:t>
            </a:r>
          </a:p>
        </p:txBody>
      </p:sp>
      <p:sp>
        <p:nvSpPr>
          <p:cNvPr id="6" name="內容版面配置區 3">
            <a:extLst>
              <a:ext uri="{FF2B5EF4-FFF2-40B4-BE49-F238E27FC236}">
                <a16:creationId xmlns:a16="http://schemas.microsoft.com/office/drawing/2014/main" id="{CC90A17C-5829-57EC-9B9B-37E3C33394E5}"/>
              </a:ext>
            </a:extLst>
          </p:cNvPr>
          <p:cNvSpPr txBox="1">
            <a:spLocks/>
          </p:cNvSpPr>
          <p:nvPr/>
        </p:nvSpPr>
        <p:spPr>
          <a:xfrm>
            <a:off x="1388985" y="1991465"/>
            <a:ext cx="1685077" cy="292388"/>
          </a:xfrm>
          <a:prstGeom prst="rect">
            <a:avLst/>
          </a:prstGeom>
        </p:spPr>
        <p:txBody>
          <a:bodyPr vert="horz" wrap="none" lIns="91440" tIns="45720" rIns="91440" bIns="45720" rtlCol="0">
            <a:spAutoFit/>
          </a:bodyPr>
          <a:lstStyle>
            <a:lvl1pPr marL="25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Wingdings" panose="05000000000000000000" pitchFamily="2" charset="2"/>
              <a:buChar char="n"/>
              <a:defRPr kumimoji="1" lang="ja-JP" altLang="en-US" sz="1661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61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C8003C"/>
              </a:buClr>
              <a:buSzPct val="80000"/>
              <a:buFont typeface="Wingdings" panose="05000000000000000000" pitchFamily="2" charset="2"/>
              <a:buChar char="l"/>
              <a:defRPr kumimoji="1" sz="1385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2pPr>
            <a:lvl3pPr marL="97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Meiryo UI" panose="020B0604030504040204" pitchFamily="50" charset="-128"/>
              <a:buChar char="━"/>
              <a:defRPr kumimoji="1" sz="1247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3pPr>
            <a:lvl4pPr marL="133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Wingdings" panose="05000000000000000000" pitchFamily="2" charset="2"/>
              <a:buChar char="u"/>
              <a:defRPr kumimoji="1" sz="1108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4pPr>
            <a:lvl5pPr marL="1548000" indent="-144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Arial" panose="020B0604020202020204" pitchFamily="34" charset="0"/>
              <a:buChar char="•"/>
              <a:defRPr kumimoji="1" sz="969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是否追加細項說明？</a:t>
            </a:r>
          </a:p>
        </p:txBody>
      </p:sp>
      <p:sp>
        <p:nvSpPr>
          <p:cNvPr id="7" name="內容版面配置區 3">
            <a:extLst>
              <a:ext uri="{FF2B5EF4-FFF2-40B4-BE49-F238E27FC236}">
                <a16:creationId xmlns:a16="http://schemas.microsoft.com/office/drawing/2014/main" id="{C965F05E-03B2-FE30-CDD8-1D9D42865362}"/>
              </a:ext>
            </a:extLst>
          </p:cNvPr>
          <p:cNvSpPr txBox="1">
            <a:spLocks/>
          </p:cNvSpPr>
          <p:nvPr/>
        </p:nvSpPr>
        <p:spPr>
          <a:xfrm>
            <a:off x="718791" y="2425129"/>
            <a:ext cx="2803653" cy="347916"/>
          </a:xfrm>
          <a:prstGeom prst="rect">
            <a:avLst/>
          </a:prstGeom>
        </p:spPr>
        <p:txBody>
          <a:bodyPr vert="horz" wrap="none" lIns="91440" tIns="45720" rIns="91440" bIns="45720" rtlCol="0">
            <a:spAutoFit/>
          </a:bodyPr>
          <a:lstStyle>
            <a:lvl1pPr marL="25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Wingdings" panose="05000000000000000000" pitchFamily="2" charset="2"/>
              <a:buChar char="n"/>
              <a:defRPr kumimoji="1" lang="ja-JP" altLang="en-US" sz="1661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61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C8003C"/>
              </a:buClr>
              <a:buSzPct val="80000"/>
              <a:buFont typeface="Wingdings" panose="05000000000000000000" pitchFamily="2" charset="2"/>
              <a:buChar char="l"/>
              <a:defRPr kumimoji="1" sz="1385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2pPr>
            <a:lvl3pPr marL="97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Meiryo UI" panose="020B0604030504040204" pitchFamily="50" charset="-128"/>
              <a:buChar char="━"/>
              <a:defRPr kumimoji="1" sz="1247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3pPr>
            <a:lvl4pPr marL="133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Wingdings" panose="05000000000000000000" pitchFamily="2" charset="2"/>
              <a:buChar char="u"/>
              <a:defRPr kumimoji="1" sz="1108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4pPr>
            <a:lvl5pPr marL="1548000" indent="-144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Arial" panose="020B0604020202020204" pitchFamily="34" charset="0"/>
              <a:buChar char="•"/>
              <a:defRPr kumimoji="1" sz="969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l"/>
            </a:pPr>
            <a:r>
              <a:rPr lang="en-US" altLang="zh-TW" b="1" dirty="0">
                <a:solidFill>
                  <a:schemeClr val="tx1"/>
                </a:solidFill>
              </a:rPr>
              <a:t>A.I.</a:t>
            </a:r>
            <a:r>
              <a:rPr lang="zh-TW" altLang="en-US" b="1" dirty="0">
                <a:solidFill>
                  <a:schemeClr val="tx1"/>
                </a:solidFill>
              </a:rPr>
              <a:t>項目的進度</a:t>
            </a:r>
            <a:r>
              <a:rPr lang="en-US" altLang="zh-TW" b="1" dirty="0">
                <a:solidFill>
                  <a:schemeClr val="tx1"/>
                </a:solidFill>
              </a:rPr>
              <a:t>Check</a:t>
            </a:r>
            <a:r>
              <a:rPr lang="zh-TW" altLang="en-US" b="1" dirty="0">
                <a:solidFill>
                  <a:schemeClr val="tx1"/>
                </a:solidFill>
              </a:rPr>
              <a:t>：</a:t>
            </a:r>
          </a:p>
        </p:txBody>
      </p:sp>
      <p:sp>
        <p:nvSpPr>
          <p:cNvPr id="9" name="內容版面配置區 3">
            <a:extLst>
              <a:ext uri="{FF2B5EF4-FFF2-40B4-BE49-F238E27FC236}">
                <a16:creationId xmlns:a16="http://schemas.microsoft.com/office/drawing/2014/main" id="{518A140E-FBAB-7F4C-C7FB-020A0EA7C811}"/>
              </a:ext>
            </a:extLst>
          </p:cNvPr>
          <p:cNvSpPr txBox="1">
            <a:spLocks/>
          </p:cNvSpPr>
          <p:nvPr/>
        </p:nvSpPr>
        <p:spPr>
          <a:xfrm>
            <a:off x="1388985" y="2728284"/>
            <a:ext cx="1685077" cy="292388"/>
          </a:xfrm>
          <a:prstGeom prst="rect">
            <a:avLst/>
          </a:prstGeom>
        </p:spPr>
        <p:txBody>
          <a:bodyPr vert="horz" wrap="none" lIns="91440" tIns="45720" rIns="91440" bIns="45720" rtlCol="0">
            <a:spAutoFit/>
          </a:bodyPr>
          <a:lstStyle>
            <a:lvl1pPr marL="25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Wingdings" panose="05000000000000000000" pitchFamily="2" charset="2"/>
              <a:buChar char="n"/>
              <a:defRPr kumimoji="1" lang="ja-JP" altLang="en-US" sz="1661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61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C8003C"/>
              </a:buClr>
              <a:buSzPct val="80000"/>
              <a:buFont typeface="Wingdings" panose="05000000000000000000" pitchFamily="2" charset="2"/>
              <a:buChar char="l"/>
              <a:defRPr kumimoji="1" sz="1385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2pPr>
            <a:lvl3pPr marL="97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Meiryo UI" panose="020B0604030504040204" pitchFamily="50" charset="-128"/>
              <a:buChar char="━"/>
              <a:defRPr kumimoji="1" sz="1247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3pPr>
            <a:lvl4pPr marL="133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Wingdings" panose="05000000000000000000" pitchFamily="2" charset="2"/>
              <a:buChar char="u"/>
              <a:defRPr kumimoji="1" sz="1108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4pPr>
            <a:lvl5pPr marL="1548000" indent="-144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Arial" panose="020B0604020202020204" pitchFamily="34" charset="0"/>
              <a:buChar char="•"/>
              <a:defRPr kumimoji="1" sz="969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是否追加細項說明？</a:t>
            </a:r>
          </a:p>
        </p:txBody>
      </p:sp>
      <p:sp>
        <p:nvSpPr>
          <p:cNvPr id="10" name="內容版面配置區 3">
            <a:extLst>
              <a:ext uri="{FF2B5EF4-FFF2-40B4-BE49-F238E27FC236}">
                <a16:creationId xmlns:a16="http://schemas.microsoft.com/office/drawing/2014/main" id="{9F17DDCE-C984-E60C-DCAE-C5314193002B}"/>
              </a:ext>
            </a:extLst>
          </p:cNvPr>
          <p:cNvSpPr txBox="1">
            <a:spLocks/>
          </p:cNvSpPr>
          <p:nvPr/>
        </p:nvSpPr>
        <p:spPr>
          <a:xfrm>
            <a:off x="718791" y="3166866"/>
            <a:ext cx="2358018" cy="347916"/>
          </a:xfrm>
          <a:prstGeom prst="rect">
            <a:avLst/>
          </a:prstGeom>
        </p:spPr>
        <p:txBody>
          <a:bodyPr vert="horz" wrap="none" lIns="91440" tIns="45720" rIns="91440" bIns="45720" rtlCol="0">
            <a:spAutoFit/>
          </a:bodyPr>
          <a:lstStyle>
            <a:lvl1pPr marL="25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Wingdings" panose="05000000000000000000" pitchFamily="2" charset="2"/>
              <a:buChar char="n"/>
              <a:defRPr kumimoji="1" lang="ja-JP" altLang="en-US" sz="1661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61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C8003C"/>
              </a:buClr>
              <a:buSzPct val="80000"/>
              <a:buFont typeface="Wingdings" panose="05000000000000000000" pitchFamily="2" charset="2"/>
              <a:buChar char="l"/>
              <a:defRPr kumimoji="1" sz="1385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2pPr>
            <a:lvl3pPr marL="97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Meiryo UI" panose="020B0604030504040204" pitchFamily="50" charset="-128"/>
              <a:buChar char="━"/>
              <a:defRPr kumimoji="1" sz="1247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3pPr>
            <a:lvl4pPr marL="133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Wingdings" panose="05000000000000000000" pitchFamily="2" charset="2"/>
              <a:buChar char="u"/>
              <a:defRPr kumimoji="1" sz="1108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4pPr>
            <a:lvl5pPr marL="1548000" indent="-144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Arial" panose="020B0604020202020204" pitchFamily="34" charset="0"/>
              <a:buChar char="•"/>
              <a:defRPr kumimoji="1" sz="969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l"/>
            </a:pPr>
            <a:r>
              <a:rPr lang="zh-TW" altLang="en-US" b="1" dirty="0">
                <a:solidFill>
                  <a:schemeClr val="tx1"/>
                </a:solidFill>
              </a:rPr>
              <a:t>進度及現狀的掌握：</a:t>
            </a:r>
          </a:p>
        </p:txBody>
      </p:sp>
      <p:sp>
        <p:nvSpPr>
          <p:cNvPr id="11" name="內容版面配置區 3">
            <a:extLst>
              <a:ext uri="{FF2B5EF4-FFF2-40B4-BE49-F238E27FC236}">
                <a16:creationId xmlns:a16="http://schemas.microsoft.com/office/drawing/2014/main" id="{E23A5CEE-5A28-8949-0171-3D2D7C68E341}"/>
              </a:ext>
            </a:extLst>
          </p:cNvPr>
          <p:cNvSpPr txBox="1">
            <a:spLocks/>
          </p:cNvSpPr>
          <p:nvPr/>
        </p:nvSpPr>
        <p:spPr>
          <a:xfrm>
            <a:off x="1388985" y="3470021"/>
            <a:ext cx="1685077" cy="292388"/>
          </a:xfrm>
          <a:prstGeom prst="rect">
            <a:avLst/>
          </a:prstGeom>
        </p:spPr>
        <p:txBody>
          <a:bodyPr vert="horz" wrap="none" lIns="91440" tIns="45720" rIns="91440" bIns="45720" rtlCol="0">
            <a:spAutoFit/>
          </a:bodyPr>
          <a:lstStyle>
            <a:lvl1pPr marL="25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Wingdings" panose="05000000000000000000" pitchFamily="2" charset="2"/>
              <a:buChar char="n"/>
              <a:defRPr kumimoji="1" lang="ja-JP" altLang="en-US" sz="1661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61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C8003C"/>
              </a:buClr>
              <a:buSzPct val="80000"/>
              <a:buFont typeface="Wingdings" panose="05000000000000000000" pitchFamily="2" charset="2"/>
              <a:buChar char="l"/>
              <a:defRPr kumimoji="1" sz="1385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2pPr>
            <a:lvl3pPr marL="97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Meiryo UI" panose="020B0604030504040204" pitchFamily="50" charset="-128"/>
              <a:buChar char="━"/>
              <a:defRPr kumimoji="1" sz="1247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3pPr>
            <a:lvl4pPr marL="133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Wingdings" panose="05000000000000000000" pitchFamily="2" charset="2"/>
              <a:buChar char="u"/>
              <a:defRPr kumimoji="1" sz="1108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4pPr>
            <a:lvl5pPr marL="1548000" indent="-144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Arial" panose="020B0604020202020204" pitchFamily="34" charset="0"/>
              <a:buChar char="•"/>
              <a:defRPr kumimoji="1" sz="969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是否追加細項說明？</a:t>
            </a:r>
          </a:p>
        </p:txBody>
      </p:sp>
      <p:sp>
        <p:nvSpPr>
          <p:cNvPr id="12" name="內容版面配置區 3">
            <a:extLst>
              <a:ext uri="{FF2B5EF4-FFF2-40B4-BE49-F238E27FC236}">
                <a16:creationId xmlns:a16="http://schemas.microsoft.com/office/drawing/2014/main" id="{98193F4F-BF88-1B4A-2C45-CFC43D181AE2}"/>
              </a:ext>
            </a:extLst>
          </p:cNvPr>
          <p:cNvSpPr txBox="1">
            <a:spLocks/>
          </p:cNvSpPr>
          <p:nvPr/>
        </p:nvSpPr>
        <p:spPr>
          <a:xfrm>
            <a:off x="718791" y="3907106"/>
            <a:ext cx="2784417" cy="347916"/>
          </a:xfrm>
          <a:prstGeom prst="rect">
            <a:avLst/>
          </a:prstGeom>
        </p:spPr>
        <p:txBody>
          <a:bodyPr vert="horz" wrap="none" lIns="91440" tIns="45720" rIns="91440" bIns="45720" rtlCol="0">
            <a:spAutoFit/>
          </a:bodyPr>
          <a:lstStyle>
            <a:lvl1pPr marL="25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Wingdings" panose="05000000000000000000" pitchFamily="2" charset="2"/>
              <a:buChar char="n"/>
              <a:defRPr kumimoji="1" lang="ja-JP" altLang="en-US" sz="1661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61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C8003C"/>
              </a:buClr>
              <a:buSzPct val="80000"/>
              <a:buFont typeface="Wingdings" panose="05000000000000000000" pitchFamily="2" charset="2"/>
              <a:buChar char="l"/>
              <a:defRPr kumimoji="1" sz="1385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2pPr>
            <a:lvl3pPr marL="97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Meiryo UI" panose="020B0604030504040204" pitchFamily="50" charset="-128"/>
              <a:buChar char="━"/>
              <a:defRPr kumimoji="1" sz="1247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3pPr>
            <a:lvl4pPr marL="133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Wingdings" panose="05000000000000000000" pitchFamily="2" charset="2"/>
              <a:buChar char="u"/>
              <a:defRPr kumimoji="1" sz="1108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4pPr>
            <a:lvl5pPr marL="1548000" indent="-144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Arial" panose="020B0604020202020204" pitchFamily="34" charset="0"/>
              <a:buChar char="•"/>
              <a:defRPr kumimoji="1" sz="969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l"/>
            </a:pPr>
            <a:r>
              <a:rPr lang="zh-TW" altLang="en-US" b="1" dirty="0">
                <a:solidFill>
                  <a:schemeClr val="tx1"/>
                </a:solidFill>
              </a:rPr>
              <a:t>異常橫展開的進度跟催：</a:t>
            </a:r>
          </a:p>
        </p:txBody>
      </p:sp>
      <p:sp>
        <p:nvSpPr>
          <p:cNvPr id="13" name="內容版面配置區 3">
            <a:extLst>
              <a:ext uri="{FF2B5EF4-FFF2-40B4-BE49-F238E27FC236}">
                <a16:creationId xmlns:a16="http://schemas.microsoft.com/office/drawing/2014/main" id="{B2A37378-807D-E725-B571-2C0205E86478}"/>
              </a:ext>
            </a:extLst>
          </p:cNvPr>
          <p:cNvSpPr txBox="1">
            <a:spLocks/>
          </p:cNvSpPr>
          <p:nvPr/>
        </p:nvSpPr>
        <p:spPr>
          <a:xfrm>
            <a:off x="1388985" y="4210261"/>
            <a:ext cx="1685077" cy="292388"/>
          </a:xfrm>
          <a:prstGeom prst="rect">
            <a:avLst/>
          </a:prstGeom>
        </p:spPr>
        <p:txBody>
          <a:bodyPr vert="horz" wrap="none" lIns="91440" tIns="45720" rIns="91440" bIns="45720" rtlCol="0">
            <a:spAutoFit/>
          </a:bodyPr>
          <a:lstStyle>
            <a:lvl1pPr marL="25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Wingdings" panose="05000000000000000000" pitchFamily="2" charset="2"/>
              <a:buChar char="n"/>
              <a:defRPr kumimoji="1" lang="ja-JP" altLang="en-US" sz="1661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61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C8003C"/>
              </a:buClr>
              <a:buSzPct val="80000"/>
              <a:buFont typeface="Wingdings" panose="05000000000000000000" pitchFamily="2" charset="2"/>
              <a:buChar char="l"/>
              <a:defRPr kumimoji="1" sz="1385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2pPr>
            <a:lvl3pPr marL="97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Meiryo UI" panose="020B0604030504040204" pitchFamily="50" charset="-128"/>
              <a:buChar char="━"/>
              <a:defRPr kumimoji="1" sz="1247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3pPr>
            <a:lvl4pPr marL="133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Wingdings" panose="05000000000000000000" pitchFamily="2" charset="2"/>
              <a:buChar char="u"/>
              <a:defRPr kumimoji="1" sz="1108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4pPr>
            <a:lvl5pPr marL="1548000" indent="-144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Arial" panose="020B0604020202020204" pitchFamily="34" charset="0"/>
              <a:buChar char="•"/>
              <a:defRPr kumimoji="1" sz="969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是否追加細項說明？</a:t>
            </a:r>
          </a:p>
        </p:txBody>
      </p:sp>
      <p:sp>
        <p:nvSpPr>
          <p:cNvPr id="14" name="內容版面配置區 3">
            <a:extLst>
              <a:ext uri="{FF2B5EF4-FFF2-40B4-BE49-F238E27FC236}">
                <a16:creationId xmlns:a16="http://schemas.microsoft.com/office/drawing/2014/main" id="{746B8C96-A021-CB28-90BB-B32295CB8E48}"/>
              </a:ext>
            </a:extLst>
          </p:cNvPr>
          <p:cNvSpPr txBox="1">
            <a:spLocks/>
          </p:cNvSpPr>
          <p:nvPr/>
        </p:nvSpPr>
        <p:spPr>
          <a:xfrm>
            <a:off x="4779239" y="1688310"/>
            <a:ext cx="1931619" cy="347916"/>
          </a:xfrm>
          <a:prstGeom prst="rect">
            <a:avLst/>
          </a:prstGeom>
        </p:spPr>
        <p:txBody>
          <a:bodyPr vert="horz" wrap="none" lIns="91440" tIns="45720" rIns="91440" bIns="45720" rtlCol="0">
            <a:spAutoFit/>
          </a:bodyPr>
          <a:lstStyle>
            <a:lvl1pPr marL="25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Wingdings" panose="05000000000000000000" pitchFamily="2" charset="2"/>
              <a:buChar char="n"/>
              <a:defRPr kumimoji="1" lang="ja-JP" altLang="en-US" sz="1661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61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C8003C"/>
              </a:buClr>
              <a:buSzPct val="80000"/>
              <a:buFont typeface="Wingdings" panose="05000000000000000000" pitchFamily="2" charset="2"/>
              <a:buChar char="l"/>
              <a:defRPr kumimoji="1" sz="1385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2pPr>
            <a:lvl3pPr marL="97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Meiryo UI" panose="020B0604030504040204" pitchFamily="50" charset="-128"/>
              <a:buChar char="━"/>
              <a:defRPr kumimoji="1" sz="1247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3pPr>
            <a:lvl4pPr marL="133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Wingdings" panose="05000000000000000000" pitchFamily="2" charset="2"/>
              <a:buChar char="u"/>
              <a:defRPr kumimoji="1" sz="1108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4pPr>
            <a:lvl5pPr marL="1548000" indent="-144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Arial" panose="020B0604020202020204" pitchFamily="34" charset="0"/>
              <a:buChar char="•"/>
              <a:defRPr kumimoji="1" sz="969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l"/>
            </a:pPr>
            <a:r>
              <a:rPr lang="zh-TW" altLang="en-US" b="1" dirty="0">
                <a:solidFill>
                  <a:schemeClr val="tx1"/>
                </a:solidFill>
              </a:rPr>
              <a:t>會議參加對象：</a:t>
            </a:r>
          </a:p>
        </p:txBody>
      </p:sp>
      <p:sp>
        <p:nvSpPr>
          <p:cNvPr id="15" name="內容版面配置區 3">
            <a:extLst>
              <a:ext uri="{FF2B5EF4-FFF2-40B4-BE49-F238E27FC236}">
                <a16:creationId xmlns:a16="http://schemas.microsoft.com/office/drawing/2014/main" id="{FE88D356-4360-1169-38B1-10B2BCBDBEB5}"/>
              </a:ext>
            </a:extLst>
          </p:cNvPr>
          <p:cNvSpPr txBox="1">
            <a:spLocks/>
          </p:cNvSpPr>
          <p:nvPr/>
        </p:nvSpPr>
        <p:spPr>
          <a:xfrm>
            <a:off x="5048559" y="2204692"/>
            <a:ext cx="1937005" cy="307777"/>
          </a:xfrm>
          <a:prstGeom prst="rect">
            <a:avLst/>
          </a:prstGeom>
        </p:spPr>
        <p:txBody>
          <a:bodyPr vert="horz" wrap="none" lIns="91440" tIns="45720" rIns="91440" bIns="45720" rtlCol="0">
            <a:spAutoFit/>
          </a:bodyPr>
          <a:lstStyle>
            <a:lvl1pPr marL="25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Wingdings" panose="05000000000000000000" pitchFamily="2" charset="2"/>
              <a:buChar char="n"/>
              <a:defRPr kumimoji="1" lang="ja-JP" altLang="en-US" sz="1661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61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C8003C"/>
              </a:buClr>
              <a:buSzPct val="80000"/>
              <a:buFont typeface="Wingdings" panose="05000000000000000000" pitchFamily="2" charset="2"/>
              <a:buChar char="l"/>
              <a:defRPr kumimoji="1" sz="1385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2pPr>
            <a:lvl3pPr marL="97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Meiryo UI" panose="020B0604030504040204" pitchFamily="50" charset="-128"/>
              <a:buChar char="━"/>
              <a:defRPr kumimoji="1" sz="1247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3pPr>
            <a:lvl4pPr marL="133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Wingdings" panose="05000000000000000000" pitchFamily="2" charset="2"/>
              <a:buChar char="u"/>
              <a:defRPr kumimoji="1" sz="1108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4pPr>
            <a:lvl5pPr marL="1548000" indent="-144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Arial" panose="020B0604020202020204" pitchFamily="34" charset="0"/>
              <a:buChar char="•"/>
              <a:defRPr kumimoji="1" sz="969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sz="1400" b="1" dirty="0">
                <a:solidFill>
                  <a:schemeClr val="tx1"/>
                </a:solidFill>
              </a:rPr>
              <a:t>日籍</a:t>
            </a:r>
            <a:r>
              <a:rPr lang="en-US" altLang="zh-TW" sz="1400" b="1" dirty="0">
                <a:solidFill>
                  <a:schemeClr val="tx1"/>
                </a:solidFill>
              </a:rPr>
              <a:t>(HOT</a:t>
            </a:r>
            <a:r>
              <a:rPr lang="zh-TW" altLang="en-US" sz="1400" b="1" dirty="0">
                <a:solidFill>
                  <a:schemeClr val="tx1"/>
                </a:solidFill>
              </a:rPr>
              <a:t>、</a:t>
            </a:r>
            <a:r>
              <a:rPr lang="en-US" altLang="zh-TW" sz="1400" b="1" dirty="0">
                <a:solidFill>
                  <a:schemeClr val="tx1"/>
                </a:solidFill>
              </a:rPr>
              <a:t>COLD)</a:t>
            </a:r>
            <a:r>
              <a:rPr lang="zh-TW" altLang="en-US" sz="1400" b="1" dirty="0">
                <a:solidFill>
                  <a:schemeClr val="tx1"/>
                </a:solidFill>
              </a:rPr>
              <a:t>：</a:t>
            </a:r>
          </a:p>
        </p:txBody>
      </p:sp>
      <p:sp>
        <p:nvSpPr>
          <p:cNvPr id="16" name="內容版面配置區 3">
            <a:extLst>
              <a:ext uri="{FF2B5EF4-FFF2-40B4-BE49-F238E27FC236}">
                <a16:creationId xmlns:a16="http://schemas.microsoft.com/office/drawing/2014/main" id="{58386167-38AF-C6F6-5361-3AE3ED86E777}"/>
              </a:ext>
            </a:extLst>
          </p:cNvPr>
          <p:cNvSpPr txBox="1">
            <a:spLocks/>
          </p:cNvSpPr>
          <p:nvPr/>
        </p:nvSpPr>
        <p:spPr>
          <a:xfrm>
            <a:off x="5448914" y="2492589"/>
            <a:ext cx="2762295" cy="307777"/>
          </a:xfrm>
          <a:prstGeom prst="rect">
            <a:avLst/>
          </a:prstGeom>
        </p:spPr>
        <p:txBody>
          <a:bodyPr vert="horz" wrap="none" lIns="91440" tIns="45720" rIns="91440" bIns="45720" rtlCol="0">
            <a:spAutoFit/>
          </a:bodyPr>
          <a:lstStyle>
            <a:lvl1pPr marL="25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Wingdings" panose="05000000000000000000" pitchFamily="2" charset="2"/>
              <a:buChar char="n"/>
              <a:defRPr kumimoji="1" lang="ja-JP" altLang="en-US" sz="1661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61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C8003C"/>
              </a:buClr>
              <a:buSzPct val="80000"/>
              <a:buFont typeface="Wingdings" panose="05000000000000000000" pitchFamily="2" charset="2"/>
              <a:buChar char="l"/>
              <a:defRPr kumimoji="1" sz="1385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2pPr>
            <a:lvl3pPr marL="97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Meiryo UI" panose="020B0604030504040204" pitchFamily="50" charset="-128"/>
              <a:buChar char="━"/>
              <a:defRPr kumimoji="1" sz="1247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3pPr>
            <a:lvl4pPr marL="133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Wingdings" panose="05000000000000000000" pitchFamily="2" charset="2"/>
              <a:buChar char="u"/>
              <a:defRPr kumimoji="1" sz="1108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4pPr>
            <a:lvl5pPr marL="1548000" indent="-144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Arial" panose="020B0604020202020204" pitchFamily="34" charset="0"/>
              <a:buChar char="•"/>
              <a:defRPr kumimoji="1" sz="969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大和</a:t>
            </a:r>
            <a:r>
              <a:rPr lang="ja-JP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さん</a:t>
            </a:r>
            <a:r>
              <a:rPr lang="zh-TW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、戶田</a:t>
            </a:r>
            <a:r>
              <a:rPr lang="ja-JP" altLang="en-US" sz="14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さん</a:t>
            </a:r>
            <a:r>
              <a:rPr lang="zh-TW" altLang="en-US" sz="14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、大內</a:t>
            </a:r>
            <a:r>
              <a:rPr lang="ja-JP" altLang="en-US" sz="14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さん</a:t>
            </a:r>
            <a:r>
              <a:rPr lang="en-US" altLang="zh-TW" sz="14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…</a:t>
            </a:r>
            <a:endParaRPr lang="zh-TW" altLang="en-US" sz="13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內容版面配置區 3">
            <a:extLst>
              <a:ext uri="{FF2B5EF4-FFF2-40B4-BE49-F238E27FC236}">
                <a16:creationId xmlns:a16="http://schemas.microsoft.com/office/drawing/2014/main" id="{B5F2420B-8DD8-AF92-6B44-02585AD39F21}"/>
              </a:ext>
            </a:extLst>
          </p:cNvPr>
          <p:cNvSpPr txBox="1">
            <a:spLocks/>
          </p:cNvSpPr>
          <p:nvPr/>
        </p:nvSpPr>
        <p:spPr>
          <a:xfrm>
            <a:off x="5048559" y="3064143"/>
            <a:ext cx="1937005" cy="307777"/>
          </a:xfrm>
          <a:prstGeom prst="rect">
            <a:avLst/>
          </a:prstGeom>
        </p:spPr>
        <p:txBody>
          <a:bodyPr vert="horz" wrap="none" lIns="91440" tIns="45720" rIns="91440" bIns="45720" rtlCol="0">
            <a:spAutoFit/>
          </a:bodyPr>
          <a:lstStyle>
            <a:lvl1pPr marL="25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Wingdings" panose="05000000000000000000" pitchFamily="2" charset="2"/>
              <a:buChar char="n"/>
              <a:defRPr kumimoji="1" lang="ja-JP" altLang="en-US" sz="1661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61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C8003C"/>
              </a:buClr>
              <a:buSzPct val="80000"/>
              <a:buFont typeface="Wingdings" panose="05000000000000000000" pitchFamily="2" charset="2"/>
              <a:buChar char="l"/>
              <a:defRPr kumimoji="1" sz="1385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2pPr>
            <a:lvl3pPr marL="97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Meiryo UI" panose="020B0604030504040204" pitchFamily="50" charset="-128"/>
              <a:buChar char="━"/>
              <a:defRPr kumimoji="1" sz="1247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3pPr>
            <a:lvl4pPr marL="133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Wingdings" panose="05000000000000000000" pitchFamily="2" charset="2"/>
              <a:buChar char="u"/>
              <a:defRPr kumimoji="1" sz="1108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4pPr>
            <a:lvl5pPr marL="1548000" indent="-144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Arial" panose="020B0604020202020204" pitchFamily="34" charset="0"/>
              <a:buChar char="•"/>
              <a:defRPr kumimoji="1" sz="969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sz="1400" b="1" dirty="0">
                <a:solidFill>
                  <a:schemeClr val="tx1"/>
                </a:solidFill>
              </a:rPr>
              <a:t>台籍</a:t>
            </a:r>
            <a:r>
              <a:rPr lang="en-US" altLang="zh-TW" sz="1400" b="1" dirty="0">
                <a:solidFill>
                  <a:schemeClr val="tx1"/>
                </a:solidFill>
              </a:rPr>
              <a:t>(HOT</a:t>
            </a:r>
            <a:r>
              <a:rPr lang="zh-TW" altLang="en-US" sz="1400" b="1" dirty="0">
                <a:solidFill>
                  <a:schemeClr val="tx1"/>
                </a:solidFill>
              </a:rPr>
              <a:t>、</a:t>
            </a:r>
            <a:r>
              <a:rPr lang="en-US" altLang="zh-TW" sz="1400" b="1" dirty="0">
                <a:solidFill>
                  <a:schemeClr val="tx1"/>
                </a:solidFill>
              </a:rPr>
              <a:t>COLD)</a:t>
            </a:r>
            <a:r>
              <a:rPr lang="zh-TW" altLang="en-US" sz="1400" b="1" dirty="0">
                <a:solidFill>
                  <a:schemeClr val="tx1"/>
                </a:solidFill>
              </a:rPr>
              <a:t>：</a:t>
            </a:r>
          </a:p>
        </p:txBody>
      </p:sp>
      <p:sp>
        <p:nvSpPr>
          <p:cNvPr id="18" name="內容版面配置區 3">
            <a:extLst>
              <a:ext uri="{FF2B5EF4-FFF2-40B4-BE49-F238E27FC236}">
                <a16:creationId xmlns:a16="http://schemas.microsoft.com/office/drawing/2014/main" id="{49A11302-8D2F-771F-90A0-3436DA060AA1}"/>
              </a:ext>
            </a:extLst>
          </p:cNvPr>
          <p:cNvSpPr txBox="1">
            <a:spLocks/>
          </p:cNvSpPr>
          <p:nvPr/>
        </p:nvSpPr>
        <p:spPr>
          <a:xfrm>
            <a:off x="5448914" y="3352040"/>
            <a:ext cx="1538306" cy="820738"/>
          </a:xfrm>
          <a:prstGeom prst="rect">
            <a:avLst/>
          </a:prstGeom>
        </p:spPr>
        <p:txBody>
          <a:bodyPr vert="horz" wrap="none" lIns="91440" tIns="45720" rIns="91440" bIns="45720" rtlCol="0">
            <a:spAutoFit/>
          </a:bodyPr>
          <a:lstStyle>
            <a:lvl1pPr marL="25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Wingdings" panose="05000000000000000000" pitchFamily="2" charset="2"/>
              <a:buChar char="n"/>
              <a:defRPr kumimoji="1" lang="ja-JP" altLang="en-US" sz="1661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61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C8003C"/>
              </a:buClr>
              <a:buSzPct val="80000"/>
              <a:buFont typeface="Wingdings" panose="05000000000000000000" pitchFamily="2" charset="2"/>
              <a:buChar char="l"/>
              <a:defRPr kumimoji="1" sz="1385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2pPr>
            <a:lvl3pPr marL="97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Meiryo UI" panose="020B0604030504040204" pitchFamily="50" charset="-128"/>
              <a:buChar char="━"/>
              <a:defRPr kumimoji="1" sz="1247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3pPr>
            <a:lvl4pPr marL="1332000" indent="-252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Wingdings" panose="05000000000000000000" pitchFamily="2" charset="2"/>
              <a:buChar char="u"/>
              <a:defRPr kumimoji="1" sz="1108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4pPr>
            <a:lvl5pPr marL="1548000" indent="-144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buClr>
                <a:srgbClr val="001F6B"/>
              </a:buClr>
              <a:buSzPct val="80000"/>
              <a:buFont typeface="Arial" panose="020B0604020202020204" pitchFamily="34" charset="0"/>
              <a:buChar char="•"/>
              <a:defRPr kumimoji="1" sz="969" b="0" i="0" kern="1200" baseline="0">
                <a:solidFill>
                  <a:srgbClr val="40404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經理、</a:t>
            </a:r>
            <a:endParaRPr lang="en-US" altLang="zh-TW" sz="13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US" altLang="zh-TW" sz="13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HOT</a:t>
            </a:r>
            <a:r>
              <a:rPr lang="zh-TW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及</a:t>
            </a:r>
            <a:r>
              <a:rPr lang="en-US" altLang="zh-TW" sz="13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COLD</a:t>
            </a:r>
            <a:r>
              <a:rPr lang="zh-TW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副理</a:t>
            </a:r>
            <a:endParaRPr lang="en-US" altLang="zh-TW" sz="13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US" altLang="zh-TW" sz="13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HOT</a:t>
            </a:r>
            <a:r>
              <a:rPr lang="zh-TW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及</a:t>
            </a:r>
            <a:r>
              <a:rPr lang="en-US" altLang="zh-TW" sz="13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COLD</a:t>
            </a:r>
            <a:r>
              <a:rPr lang="zh-TW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主任</a:t>
            </a:r>
          </a:p>
        </p:txBody>
      </p:sp>
    </p:spTree>
    <p:extLst>
      <p:ext uri="{BB962C8B-B14F-4D97-AF65-F5344CB8AC3E}">
        <p14:creationId xmlns:p14="http://schemas.microsoft.com/office/powerpoint/2010/main" val="4056451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E6F3A-02C1-66DC-F5C1-A863AED0A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FB76AA-8C2C-73F6-3151-A205EE8FC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品質</a:t>
            </a:r>
            <a:r>
              <a:rPr lang="ja-JP" altLang="en-US" dirty="0"/>
              <a:t>異常の再発防止取り組み</a:t>
            </a:r>
            <a:endParaRPr kumimoji="1" lang="ja-JP" altLang="en-US" dirty="0"/>
          </a:p>
        </p:txBody>
      </p:sp>
      <p:graphicFrame>
        <p:nvGraphicFramePr>
          <p:cNvPr id="7" name="內容版面配置區 6">
            <a:extLst>
              <a:ext uri="{FF2B5EF4-FFF2-40B4-BE49-F238E27FC236}">
                <a16:creationId xmlns:a16="http://schemas.microsoft.com/office/drawing/2014/main" id="{F66CFE11-4783-BC07-B0D3-B46399A3253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84102" y="3086100"/>
          <a:ext cx="8680099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9417">
                  <a:extLst>
                    <a:ext uri="{9D8B030D-6E8A-4147-A177-3AD203B41FA5}">
                      <a16:colId xmlns:a16="http://schemas.microsoft.com/office/drawing/2014/main" val="4271742060"/>
                    </a:ext>
                  </a:extLst>
                </a:gridCol>
                <a:gridCol w="949257">
                  <a:extLst>
                    <a:ext uri="{9D8B030D-6E8A-4147-A177-3AD203B41FA5}">
                      <a16:colId xmlns:a16="http://schemas.microsoft.com/office/drawing/2014/main" val="2564978070"/>
                    </a:ext>
                  </a:extLst>
                </a:gridCol>
                <a:gridCol w="718775">
                  <a:extLst>
                    <a:ext uri="{9D8B030D-6E8A-4147-A177-3AD203B41FA5}">
                      <a16:colId xmlns:a16="http://schemas.microsoft.com/office/drawing/2014/main" val="3438861851"/>
                    </a:ext>
                  </a:extLst>
                </a:gridCol>
                <a:gridCol w="718775">
                  <a:extLst>
                    <a:ext uri="{9D8B030D-6E8A-4147-A177-3AD203B41FA5}">
                      <a16:colId xmlns:a16="http://schemas.microsoft.com/office/drawing/2014/main" val="416227041"/>
                    </a:ext>
                  </a:extLst>
                </a:gridCol>
                <a:gridCol w="718775">
                  <a:extLst>
                    <a:ext uri="{9D8B030D-6E8A-4147-A177-3AD203B41FA5}">
                      <a16:colId xmlns:a16="http://schemas.microsoft.com/office/drawing/2014/main" val="1944834843"/>
                    </a:ext>
                  </a:extLst>
                </a:gridCol>
                <a:gridCol w="718775">
                  <a:extLst>
                    <a:ext uri="{9D8B030D-6E8A-4147-A177-3AD203B41FA5}">
                      <a16:colId xmlns:a16="http://schemas.microsoft.com/office/drawing/2014/main" val="3450807697"/>
                    </a:ext>
                  </a:extLst>
                </a:gridCol>
                <a:gridCol w="718775">
                  <a:extLst>
                    <a:ext uri="{9D8B030D-6E8A-4147-A177-3AD203B41FA5}">
                      <a16:colId xmlns:a16="http://schemas.microsoft.com/office/drawing/2014/main" val="2570696702"/>
                    </a:ext>
                  </a:extLst>
                </a:gridCol>
                <a:gridCol w="718775">
                  <a:extLst>
                    <a:ext uri="{9D8B030D-6E8A-4147-A177-3AD203B41FA5}">
                      <a16:colId xmlns:a16="http://schemas.microsoft.com/office/drawing/2014/main" val="3352650782"/>
                    </a:ext>
                  </a:extLst>
                </a:gridCol>
                <a:gridCol w="718775">
                  <a:extLst>
                    <a:ext uri="{9D8B030D-6E8A-4147-A177-3AD203B41FA5}">
                      <a16:colId xmlns:a16="http://schemas.microsoft.com/office/drawing/2014/main" val="1023551946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r>
                        <a:rPr lang="zh-TW" altLang="en-US" sz="15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對象：</a:t>
                      </a:r>
                      <a:r>
                        <a:rPr lang="en-US" altLang="zh-TW" sz="15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KF</a:t>
                      </a:r>
                      <a:r>
                        <a:rPr lang="zh-TW" altLang="en-US" sz="15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窯 </a:t>
                      </a:r>
                      <a:r>
                        <a:rPr lang="en-US" altLang="zh-TW" sz="15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Br </a:t>
                      </a:r>
                      <a:r>
                        <a:rPr lang="zh-TW" altLang="en-US" sz="15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工程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擔當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1</a:t>
                      </a:r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2</a:t>
                      </a:r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3</a:t>
                      </a:r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4</a:t>
                      </a:r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5</a:t>
                      </a:r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6</a:t>
                      </a:r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7</a:t>
                      </a:r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88789328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接觸部材清點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2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製造</a:t>
                      </a:r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266322075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現行管理辦法確認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+mn-cs"/>
                        </a:rPr>
                        <a:t>製造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 panose="020B0604030504040204" pitchFamily="34" charset="-128"/>
                        <a:ea typeface="Meiryo UI" panose="020B0604030504040204" pitchFamily="34" charset="-128"/>
                        <a:cs typeface="+mn-cs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115021134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風險評估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+mn-cs"/>
                        </a:rPr>
                        <a:t>製造</a:t>
                      </a:r>
                      <a:r>
                        <a:rPr kumimoji="0" lang="en-US" altLang="ja-JP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+mn-cs"/>
                        </a:rPr>
                        <a:t>/</a:t>
                      </a:r>
                      <a:r>
                        <a:rPr kumimoji="0" lang="ja-JP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+mn-cs"/>
                        </a:rPr>
                        <a:t>品証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 panose="020B0604030504040204" pitchFamily="34" charset="-128"/>
                        <a:ea typeface="Meiryo UI" panose="020B0604030504040204" pitchFamily="34" charset="-128"/>
                        <a:cs typeface="+mn-cs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405293397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風險鑑別</a:t>
                      </a:r>
                      <a:r>
                        <a:rPr lang="en-US" altLang="zh-TW" sz="12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(</a:t>
                      </a:r>
                      <a:r>
                        <a:rPr lang="zh-TW" altLang="en-US" sz="12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依評估結果判斷對策要否</a:t>
                      </a:r>
                      <a:r>
                        <a:rPr lang="en-US" altLang="zh-TW" sz="12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)</a:t>
                      </a:r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+mn-cs"/>
                        </a:rPr>
                        <a:t>製造</a:t>
                      </a:r>
                      <a:r>
                        <a:rPr kumimoji="0" lang="en-US" altLang="ja-JP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+mn-cs"/>
                        </a:rPr>
                        <a:t>/</a:t>
                      </a:r>
                      <a:r>
                        <a:rPr kumimoji="0" lang="ja-JP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+mn-cs"/>
                        </a:rPr>
                        <a:t>品証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 panose="020B0604030504040204" pitchFamily="34" charset="-128"/>
                        <a:ea typeface="Meiryo UI" panose="020B0604030504040204" pitchFamily="34" charset="-128"/>
                        <a:cs typeface="+mn-cs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9546062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對策檢討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+mn-cs"/>
                        </a:rPr>
                        <a:t>製造</a:t>
                      </a:r>
                      <a:r>
                        <a:rPr kumimoji="0" lang="en-US" altLang="ja-JP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+mn-cs"/>
                        </a:rPr>
                        <a:t>/</a:t>
                      </a:r>
                      <a:r>
                        <a:rPr kumimoji="0" lang="ja-JP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+mn-cs"/>
                        </a:rPr>
                        <a:t>品証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 panose="020B0604030504040204" pitchFamily="34" charset="-128"/>
                        <a:ea typeface="Meiryo UI" panose="020B0604030504040204" pitchFamily="34" charset="-128"/>
                        <a:cs typeface="+mn-cs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66660562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對策實施</a:t>
                      </a:r>
                      <a:endParaRPr lang="en-US" altLang="zh-TW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+mn-cs"/>
                        </a:rPr>
                        <a:t>製造</a:t>
                      </a:r>
                      <a:r>
                        <a:rPr kumimoji="0" lang="en-US" altLang="ja-JP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+mn-cs"/>
                        </a:rPr>
                        <a:t>/</a:t>
                      </a:r>
                      <a:r>
                        <a:rPr kumimoji="0" lang="ja-JP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+mn-cs"/>
                        </a:rPr>
                        <a:t>品証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 panose="020B0604030504040204" pitchFamily="34" charset="-128"/>
                        <a:ea typeface="Meiryo UI" panose="020B0604030504040204" pitchFamily="34" charset="-128"/>
                        <a:cs typeface="+mn-cs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393718545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效果確認、標準化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+mn-cs"/>
                        </a:rPr>
                        <a:t>製造</a:t>
                      </a:r>
                      <a:r>
                        <a:rPr kumimoji="0" lang="en-US" altLang="ja-JP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+mn-cs"/>
                        </a:rPr>
                        <a:t>/</a:t>
                      </a:r>
                      <a:r>
                        <a:rPr kumimoji="0" lang="ja-JP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+mn-cs"/>
                        </a:rPr>
                        <a:t>品証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 panose="020B0604030504040204" pitchFamily="34" charset="-128"/>
                        <a:ea typeface="Meiryo UI" panose="020B0604030504040204" pitchFamily="34" charset="-128"/>
                        <a:cs typeface="+mn-cs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464802056"/>
                  </a:ext>
                </a:extLst>
              </a:tr>
            </a:tbl>
          </a:graphicData>
        </a:graphic>
      </p:graphicFrame>
      <p:sp>
        <p:nvSpPr>
          <p:cNvPr id="8" name="文字方塊 4">
            <a:extLst>
              <a:ext uri="{FF2B5EF4-FFF2-40B4-BE49-F238E27FC236}">
                <a16:creationId xmlns:a16="http://schemas.microsoft.com/office/drawing/2014/main" id="{514078A1-988A-C92A-EE9B-6781C67640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102" y="663914"/>
            <a:ext cx="732050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zh-TW" altLang="en-US" sz="15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▇ 活動重點：</a:t>
            </a:r>
            <a:endParaRPr lang="en-US" altLang="zh-TW" sz="1500" b="1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BD6C3EF-2BD7-94EB-22BF-8F5762C54259}"/>
              </a:ext>
            </a:extLst>
          </p:cNvPr>
          <p:cNvSpPr txBox="1"/>
          <p:nvPr/>
        </p:nvSpPr>
        <p:spPr>
          <a:xfrm>
            <a:off x="219968" y="862267"/>
            <a:ext cx="8706379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ja-JP" altLang="zh-TW" sz="1500" kern="0" dirty="0">
                <a:latin typeface="Meiryo UI" panose="020B0604030504040204" pitchFamily="34" charset="-128"/>
                <a:ea typeface="Meiryo UI" panose="020B0604030504040204" pitchFamily="34" charset="-128"/>
                <a:cs typeface="MS PGothic" panose="020B0600070205080204" pitchFamily="34" charset="-128"/>
              </a:rPr>
              <a:t>工程管理能力レベルの把握から向上したい</a:t>
            </a:r>
            <a:r>
              <a:rPr lang="zh-TW" altLang="zh-TW" sz="1500" kern="0" dirty="0">
                <a:latin typeface="Meiryo UI" panose="020B0604030504040204" pitchFamily="34" charset="-128"/>
                <a:ea typeface="Meiryo UI" panose="020B0604030504040204" pitchFamily="34" charset="-128"/>
                <a:cs typeface="New MingLiu"/>
              </a:rPr>
              <a:t> </a:t>
            </a:r>
            <a:endParaRPr lang="zh-TW" altLang="zh-TW" sz="1500" kern="100" dirty="0">
              <a:latin typeface="Meiryo UI" panose="020B0604030504040204" pitchFamily="34" charset="-128"/>
              <a:ea typeface="Meiryo UI" panose="020B0604030504040204" pitchFamily="34" charset="-128"/>
              <a:cs typeface="Times New Roman" panose="02020603050405020304" pitchFamily="18" charset="0"/>
            </a:endParaRPr>
          </a:p>
          <a:p>
            <a:r>
              <a:rPr lang="ja-JP" altLang="zh-TW" sz="1500" kern="0" dirty="0">
                <a:latin typeface="Meiryo UI" panose="020B0604030504040204" pitchFamily="34" charset="-128"/>
                <a:ea typeface="Meiryo UI" panose="020B0604030504040204" pitchFamily="34" charset="-128"/>
                <a:cs typeface="MS PGothic" panose="020B0600070205080204" pitchFamily="34" charset="-128"/>
              </a:rPr>
              <a:t>・接触部材に関する</a:t>
            </a:r>
            <a:r>
              <a:rPr lang="ja-JP" altLang="en-US" sz="1500" kern="0" dirty="0">
                <a:latin typeface="Meiryo UI" panose="020B0604030504040204" pitchFamily="34" charset="-128"/>
                <a:ea typeface="Meiryo UI" panose="020B0604030504040204" pitchFamily="34" charset="-128"/>
                <a:cs typeface="MS PGothic" panose="020B0600070205080204" pitchFamily="34" charset="-128"/>
              </a:rPr>
              <a:t>、</a:t>
            </a:r>
            <a:r>
              <a:rPr lang="ja-JP" altLang="zh-TW" sz="1500" kern="0" dirty="0">
                <a:latin typeface="Meiryo UI" panose="020B0604030504040204" pitchFamily="34" charset="-128"/>
                <a:ea typeface="Meiryo UI" panose="020B0604030504040204" pitchFamily="34" charset="-128"/>
                <a:cs typeface="MS PGothic" panose="020B0600070205080204" pitchFamily="34" charset="-128"/>
              </a:rPr>
              <a:t>日常的な設備点検・記録・計画管理（工事後の立ち上げ点検含む）</a:t>
            </a:r>
            <a:r>
              <a:rPr lang="zh-TW" altLang="zh-TW" sz="1500" kern="0" dirty="0">
                <a:latin typeface="Meiryo UI" panose="020B0604030504040204" pitchFamily="34" charset="-128"/>
                <a:ea typeface="Meiryo UI" panose="020B0604030504040204" pitchFamily="34" charset="-128"/>
                <a:cs typeface="New MingLiu"/>
              </a:rPr>
              <a:t> </a:t>
            </a:r>
            <a:endParaRPr lang="zh-TW" altLang="zh-TW" sz="1500" kern="100" dirty="0">
              <a:latin typeface="Meiryo UI" panose="020B0604030504040204" pitchFamily="34" charset="-128"/>
              <a:ea typeface="Meiryo UI" panose="020B0604030504040204" pitchFamily="34" charset="-128"/>
              <a:cs typeface="Times New Roman" panose="02020603050405020304" pitchFamily="18" charset="0"/>
            </a:endParaRPr>
          </a:p>
          <a:p>
            <a:r>
              <a:rPr lang="ja-JP" altLang="zh-TW" sz="1500" kern="0" dirty="0">
                <a:latin typeface="Meiryo UI" panose="020B0604030504040204" pitchFamily="34" charset="-128"/>
                <a:ea typeface="Meiryo UI" panose="020B0604030504040204" pitchFamily="34" charset="-128"/>
                <a:cs typeface="MS PGothic" panose="020B0600070205080204" pitchFamily="34" charset="-128"/>
              </a:rPr>
              <a:t>・接触部材に関する、日常的に発生する（</a:t>
            </a:r>
            <a:r>
              <a:rPr lang="en-US" altLang="zh-TW" sz="1500" kern="0" dirty="0">
                <a:latin typeface="Meiryo UI" panose="020B0604030504040204" pitchFamily="34" charset="-128"/>
                <a:ea typeface="Meiryo UI" panose="020B0604030504040204" pitchFamily="34" charset="-128"/>
                <a:cs typeface="New MingLiu"/>
              </a:rPr>
              <a:t>1</a:t>
            </a:r>
            <a:r>
              <a:rPr lang="ja-JP" altLang="zh-TW" sz="1500" kern="0" dirty="0">
                <a:latin typeface="Meiryo UI" panose="020B0604030504040204" pitchFamily="34" charset="-128"/>
                <a:ea typeface="Meiryo UI" panose="020B0604030504040204" pitchFamily="34" charset="-128"/>
                <a:cs typeface="New MingLiu"/>
              </a:rPr>
              <a:t>回</a:t>
            </a:r>
            <a:r>
              <a:rPr lang="en-US" altLang="zh-TW" sz="1500" kern="0" dirty="0">
                <a:latin typeface="Meiryo UI" panose="020B0604030504040204" pitchFamily="34" charset="-128"/>
                <a:ea typeface="Meiryo UI" panose="020B0604030504040204" pitchFamily="34" charset="-128"/>
                <a:cs typeface="New MingLiu"/>
              </a:rPr>
              <a:t>/</a:t>
            </a:r>
            <a:r>
              <a:rPr lang="ja-JP" altLang="zh-TW" sz="1500" kern="0" dirty="0">
                <a:latin typeface="Meiryo UI" panose="020B0604030504040204" pitchFamily="34" charset="-128"/>
                <a:ea typeface="Meiryo UI" panose="020B0604030504040204" pitchFamily="34" charset="-128"/>
                <a:cs typeface="MS PGothic" panose="020B0600070205080204" pitchFamily="34" charset="-128"/>
              </a:rPr>
              <a:t>月程度以上）トラブル時の対応点検・記録・計画管理）状況</a:t>
            </a:r>
            <a:r>
              <a:rPr lang="zh-TW" altLang="zh-TW" sz="1500" kern="0" dirty="0">
                <a:latin typeface="Meiryo UI" panose="020B0604030504040204" pitchFamily="34" charset="-128"/>
                <a:ea typeface="Meiryo UI" panose="020B0604030504040204" pitchFamily="34" charset="-128"/>
                <a:cs typeface="New MingLiu"/>
              </a:rPr>
              <a:t> </a:t>
            </a:r>
            <a:endParaRPr lang="en-US" altLang="zh-TW" sz="1500" kern="100" dirty="0">
              <a:latin typeface="Meiryo UI" panose="020B0604030504040204" pitchFamily="34" charset="-128"/>
              <a:ea typeface="Meiryo UI" panose="020B060403050404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10" name="文字方塊 4">
            <a:extLst>
              <a:ext uri="{FF2B5EF4-FFF2-40B4-BE49-F238E27FC236}">
                <a16:creationId xmlns:a16="http://schemas.microsoft.com/office/drawing/2014/main" id="{990DA70B-846F-D90E-C02A-FCC2A25A71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103" y="1594645"/>
            <a:ext cx="600103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zh-TW" altLang="en-US" sz="15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▇ 活動目標：</a:t>
            </a:r>
            <a:endParaRPr lang="en-US" altLang="zh-TW" sz="1500" b="1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CA6BB56-2BA5-E684-BA83-D210893DC3A6}"/>
              </a:ext>
            </a:extLst>
          </p:cNvPr>
          <p:cNvSpPr txBox="1"/>
          <p:nvPr/>
        </p:nvSpPr>
        <p:spPr>
          <a:xfrm>
            <a:off x="450689" y="1827691"/>
            <a:ext cx="632452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211" indent="-201211">
              <a:spcBef>
                <a:spcPct val="0"/>
              </a:spcBef>
              <a:defRPr/>
            </a:pPr>
            <a:r>
              <a:rPr lang="ja-JP" altLang="en-US" sz="1500" dirty="0">
                <a:latin typeface="Meiryo UI" panose="020B0604030504040204" pitchFamily="34" charset="-128"/>
                <a:ea typeface="Meiryo UI" panose="020B0604030504040204" pitchFamily="34" charset="-128"/>
              </a:rPr>
              <a:t>・到達イメージ：</a:t>
            </a:r>
            <a:r>
              <a:rPr lang="zh-TW" altLang="en-US" sz="1500" dirty="0">
                <a:latin typeface="Meiryo UI" panose="020B0604030504040204" pitchFamily="34" charset="-128"/>
                <a:ea typeface="Meiryo UI" panose="020B0604030504040204" pitchFamily="34" charset="-128"/>
              </a:rPr>
              <a:t>接觸部材管理體制構築 </a:t>
            </a:r>
            <a:r>
              <a:rPr lang="en-US" altLang="zh-TW" sz="1500" dirty="0">
                <a:latin typeface="Meiryo UI" panose="020B0604030504040204" pitchFamily="34" charset="-128"/>
                <a:ea typeface="Meiryo UI" panose="020B0604030504040204" pitchFamily="34" charset="-128"/>
              </a:rPr>
              <a:t>(</a:t>
            </a:r>
            <a:r>
              <a:rPr lang="zh-TW" altLang="en-US" sz="1500" dirty="0">
                <a:latin typeface="Meiryo UI" panose="020B0604030504040204" pitchFamily="34" charset="-128"/>
                <a:ea typeface="Meiryo UI" panose="020B0604030504040204" pitchFamily="34" charset="-128"/>
              </a:rPr>
              <a:t>日常管理、異常對應、記錄留存</a:t>
            </a:r>
            <a:r>
              <a:rPr lang="en-US" altLang="zh-TW" sz="1500" dirty="0">
                <a:latin typeface="Meiryo UI" panose="020B0604030504040204" pitchFamily="34" charset="-128"/>
                <a:ea typeface="Meiryo UI" panose="020B0604030504040204" pitchFamily="34" charset="-128"/>
              </a:rPr>
              <a:t>)</a:t>
            </a:r>
          </a:p>
          <a:p>
            <a:pPr marL="201211" indent="-201211">
              <a:spcBef>
                <a:spcPct val="0"/>
              </a:spcBef>
              <a:defRPr/>
            </a:pPr>
            <a:r>
              <a:rPr lang="ja-JP" altLang="en-US" sz="1500" dirty="0">
                <a:latin typeface="Meiryo UI" panose="020B0604030504040204" pitchFamily="34" charset="-128"/>
                <a:ea typeface="Meiryo UI" panose="020B0604030504040204" pitchFamily="34" charset="-128"/>
              </a:rPr>
              <a:t>・活動成果確認指標：</a:t>
            </a:r>
            <a:r>
              <a:rPr lang="zh-TW" altLang="en-US" sz="1500" dirty="0">
                <a:latin typeface="Meiryo UI" panose="020B0604030504040204" pitchFamily="34" charset="-128"/>
                <a:ea typeface="Meiryo UI" panose="020B0604030504040204" pitchFamily="34" charset="-128"/>
              </a:rPr>
              <a:t>接觸部材起因流出件數</a:t>
            </a:r>
            <a:r>
              <a:rPr lang="ja-JP" altLang="en-US" sz="1500" dirty="0">
                <a:latin typeface="Meiryo UI" panose="020B0604030504040204" pitchFamily="34" charset="-128"/>
                <a:ea typeface="Meiryo UI" panose="020B0604030504040204" pitchFamily="34" charset="-128"/>
              </a:rPr>
              <a:t>　</a:t>
            </a:r>
            <a:r>
              <a:rPr lang="zh-TW" altLang="en-US" sz="1500" dirty="0">
                <a:latin typeface="Meiryo UI" panose="020B0604030504040204" pitchFamily="34" charset="-128"/>
                <a:ea typeface="Meiryo UI" panose="020B0604030504040204" pitchFamily="34" charset="-128"/>
              </a:rPr>
              <a:t>８月</a:t>
            </a:r>
            <a:r>
              <a:rPr lang="ja-JP" altLang="en-US" sz="1500" dirty="0">
                <a:latin typeface="Meiryo UI" panose="020B0604030504040204" pitchFamily="34" charset="-128"/>
                <a:ea typeface="Meiryo UI" panose="020B0604030504040204" pitchFamily="34" charset="-128"/>
              </a:rPr>
              <a:t>以降</a:t>
            </a:r>
            <a:r>
              <a:rPr lang="zh-TW" altLang="en-US" sz="1500" dirty="0">
                <a:latin typeface="Meiryo UI" panose="020B0604030504040204" pitchFamily="34" charset="-128"/>
                <a:ea typeface="Meiryo UI" panose="020B0604030504040204" pitchFamily="34" charset="-128"/>
              </a:rPr>
              <a:t>０件</a:t>
            </a:r>
            <a:endParaRPr lang="en-US" altLang="ja-JP" sz="15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3" name="文字方塊 4">
            <a:extLst>
              <a:ext uri="{FF2B5EF4-FFF2-40B4-BE49-F238E27FC236}">
                <a16:creationId xmlns:a16="http://schemas.microsoft.com/office/drawing/2014/main" id="{77606E17-258B-3CBA-B3D6-4695FDF9E5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665" y="2327146"/>
            <a:ext cx="5113856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zh-TW" altLang="en-US" sz="15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▇ 活動對象：</a:t>
            </a:r>
            <a:r>
              <a:rPr lang="en-US" altLang="zh-TW" sz="1500" dirty="0">
                <a:latin typeface="Meiryo UI" panose="020B0604030504040204" pitchFamily="34" charset="-128"/>
                <a:ea typeface="Meiryo UI" panose="020B0604030504040204" pitchFamily="34" charset="-128"/>
              </a:rPr>
              <a:t>KF</a:t>
            </a:r>
            <a:r>
              <a:rPr lang="zh-TW" altLang="en-US" sz="1500" dirty="0">
                <a:latin typeface="Meiryo UI" panose="020B0604030504040204" pitchFamily="34" charset="-128"/>
                <a:ea typeface="Meiryo UI" panose="020B0604030504040204" pitchFamily="34" charset="-128"/>
              </a:rPr>
              <a:t>窯 </a:t>
            </a:r>
            <a:r>
              <a:rPr lang="en-US" altLang="zh-TW" sz="1500" dirty="0">
                <a:latin typeface="Meiryo UI" panose="020B0604030504040204" pitchFamily="34" charset="-128"/>
                <a:ea typeface="Meiryo UI" panose="020B0604030504040204" pitchFamily="34" charset="-128"/>
              </a:rPr>
              <a:t>Br</a:t>
            </a:r>
            <a:r>
              <a:rPr lang="zh-TW" altLang="en-US" sz="1500" dirty="0">
                <a:latin typeface="Meiryo UI" panose="020B0604030504040204" pitchFamily="34" charset="-128"/>
                <a:ea typeface="Meiryo UI" panose="020B0604030504040204" pitchFamily="34" charset="-128"/>
              </a:rPr>
              <a:t>工程  </a:t>
            </a:r>
            <a:r>
              <a:rPr lang="en-US" altLang="zh-TW" sz="1500" dirty="0">
                <a:latin typeface="Meiryo UI" panose="020B0604030504040204" pitchFamily="34" charset="-128"/>
                <a:ea typeface="Meiryo UI" panose="020B0604030504040204" pitchFamily="34" charset="-128"/>
              </a:rPr>
              <a:t>(8</a:t>
            </a:r>
            <a:r>
              <a:rPr lang="zh-TW" altLang="en-US" sz="1500" dirty="0">
                <a:latin typeface="Meiryo UI" panose="020B0604030504040204" pitchFamily="34" charset="-128"/>
                <a:ea typeface="Meiryo UI" panose="020B0604030504040204" pitchFamily="34" charset="-128"/>
              </a:rPr>
              <a:t>月～他窯橫展開檢討</a:t>
            </a:r>
            <a:r>
              <a:rPr lang="en-US" altLang="zh-TW" sz="1500" dirty="0">
                <a:latin typeface="Meiryo UI" panose="020B0604030504040204" pitchFamily="34" charset="-128"/>
                <a:ea typeface="Meiryo UI" panose="020B0604030504040204" pitchFamily="34" charset="-128"/>
              </a:rPr>
              <a:t>)</a:t>
            </a:r>
          </a:p>
          <a:p>
            <a:r>
              <a:rPr lang="zh-TW" altLang="en-US" sz="15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▇ 活動期間：</a:t>
            </a:r>
            <a:r>
              <a:rPr lang="zh-TW" altLang="en-US" sz="1500" dirty="0">
                <a:latin typeface="Meiryo UI" panose="020B0604030504040204" pitchFamily="34" charset="-128"/>
                <a:ea typeface="Meiryo UI" panose="020B0604030504040204" pitchFamily="34" charset="-128"/>
              </a:rPr>
              <a:t>～</a:t>
            </a:r>
            <a:r>
              <a:rPr lang="en-US" altLang="zh-TW" sz="1500" dirty="0">
                <a:latin typeface="Meiryo UI" panose="020B0604030504040204" pitchFamily="34" charset="-128"/>
                <a:ea typeface="Meiryo UI" panose="020B0604030504040204" pitchFamily="34" charset="-128"/>
              </a:rPr>
              <a:t>2026/7/E</a:t>
            </a:r>
          </a:p>
          <a:p>
            <a:r>
              <a:rPr lang="zh-TW" altLang="en-US" sz="15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▇ </a:t>
            </a:r>
            <a:r>
              <a:rPr lang="ja-JP" altLang="en-US" sz="15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行動スケジュール</a:t>
            </a:r>
            <a:endParaRPr lang="zh-TW" altLang="en-US" sz="1500" b="1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32DDEEA-A76B-96BD-1BBE-EC57A977D2CF}"/>
              </a:ext>
            </a:extLst>
          </p:cNvPr>
          <p:cNvSpPr/>
          <p:nvPr/>
        </p:nvSpPr>
        <p:spPr>
          <a:xfrm>
            <a:off x="6775214" y="1805156"/>
            <a:ext cx="1893197" cy="11228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zh-TW" altLang="en-US" b="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▇ 活動成員</a:t>
            </a:r>
            <a:r>
              <a:rPr lang="en-US" altLang="zh-TW" sz="1013" b="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  <a:sym typeface="Wingdings" panose="05000000000000000000" pitchFamily="2" charset="2"/>
              </a:rPr>
              <a:t>:</a:t>
            </a:r>
            <a:r>
              <a:rPr lang="zh-TW" altLang="en-US" sz="1013" b="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  <a:sym typeface="Wingdings" panose="05000000000000000000" pitchFamily="2" charset="2"/>
              </a:rPr>
              <a:t> </a:t>
            </a:r>
            <a:r>
              <a:rPr lang="en-US" altLang="zh-TW" sz="1013" b="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  <a:sym typeface="Wingdings" panose="05000000000000000000" pitchFamily="2" charset="2"/>
              </a:rPr>
              <a:t>(</a:t>
            </a:r>
            <a:r>
              <a:rPr lang="zh-TW" altLang="en-US" sz="1013" b="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  <a:sym typeface="Wingdings" panose="05000000000000000000" pitchFamily="2" charset="2"/>
              </a:rPr>
              <a:t>主要</a:t>
            </a:r>
            <a:r>
              <a:rPr lang="en-US" altLang="zh-TW" sz="1013" b="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  <a:sym typeface="Wingdings" panose="05000000000000000000" pitchFamily="2" charset="2"/>
              </a:rPr>
              <a:t>)</a:t>
            </a:r>
            <a:endParaRPr lang="en-US" altLang="zh-TW" b="1" dirty="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r>
              <a:rPr lang="zh-TW" altLang="en-US" sz="1013" b="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    </a:t>
            </a:r>
            <a:r>
              <a:rPr lang="zh-TW" altLang="en-US" sz="1013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製造：邱世文</a:t>
            </a:r>
            <a:endParaRPr lang="en-US" altLang="zh-TW" sz="1013" dirty="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r>
              <a:rPr lang="en-US" altLang="zh-TW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             </a:t>
            </a:r>
            <a:r>
              <a:rPr lang="zh-TW" altLang="en-US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賴勃伸</a:t>
            </a:r>
            <a:endParaRPr lang="en-US" altLang="zh-TW" dirty="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r>
              <a:rPr lang="en-US" altLang="zh-TW" sz="1013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    </a:t>
            </a:r>
            <a:r>
              <a:rPr lang="zh-TW" altLang="en-US" sz="1013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品保：楊信興</a:t>
            </a:r>
            <a:endParaRPr lang="en-US" altLang="zh-TW" sz="1013" dirty="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r>
              <a:rPr lang="en-US" altLang="zh-TW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             </a:t>
            </a:r>
            <a:r>
              <a:rPr lang="zh-TW" altLang="en-US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林家慶</a:t>
            </a:r>
            <a:endParaRPr lang="en-US" altLang="zh-TW" dirty="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71BE375A-501C-52DE-8B22-41AB32FE1BBE}"/>
              </a:ext>
            </a:extLst>
          </p:cNvPr>
          <p:cNvCxnSpPr>
            <a:cxnSpLocks/>
          </p:cNvCxnSpPr>
          <p:nvPr/>
        </p:nvCxnSpPr>
        <p:spPr>
          <a:xfrm>
            <a:off x="4075612" y="3512199"/>
            <a:ext cx="496388" cy="0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BEC639BB-3CD8-05D7-15BC-C72B281FC9A2}"/>
              </a:ext>
            </a:extLst>
          </p:cNvPr>
          <p:cNvCxnSpPr>
            <a:cxnSpLocks/>
          </p:cNvCxnSpPr>
          <p:nvPr/>
        </p:nvCxnSpPr>
        <p:spPr>
          <a:xfrm>
            <a:off x="6681529" y="4533070"/>
            <a:ext cx="912073" cy="0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DB2854A4-672F-43FD-9EE0-36DC1FB497A7}"/>
              </a:ext>
            </a:extLst>
          </p:cNvPr>
          <p:cNvCxnSpPr>
            <a:cxnSpLocks/>
          </p:cNvCxnSpPr>
          <p:nvPr/>
        </p:nvCxnSpPr>
        <p:spPr>
          <a:xfrm>
            <a:off x="6185141" y="4276286"/>
            <a:ext cx="496388" cy="0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473D3654-2669-8627-BC5E-786EF6440CC9}"/>
              </a:ext>
            </a:extLst>
          </p:cNvPr>
          <p:cNvCxnSpPr>
            <a:cxnSpLocks/>
          </p:cNvCxnSpPr>
          <p:nvPr/>
        </p:nvCxnSpPr>
        <p:spPr>
          <a:xfrm>
            <a:off x="5303521" y="4019503"/>
            <a:ext cx="1378008" cy="0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E90F8D63-DBB3-0EE1-7AB6-C3EEBA1BC07F}"/>
              </a:ext>
            </a:extLst>
          </p:cNvPr>
          <p:cNvCxnSpPr>
            <a:cxnSpLocks/>
          </p:cNvCxnSpPr>
          <p:nvPr/>
        </p:nvCxnSpPr>
        <p:spPr>
          <a:xfrm>
            <a:off x="6743682" y="4771064"/>
            <a:ext cx="1378008" cy="0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B8B3D434-316C-F6EA-5ABC-FA821305BD81}"/>
              </a:ext>
            </a:extLst>
          </p:cNvPr>
          <p:cNvCxnSpPr>
            <a:cxnSpLocks/>
          </p:cNvCxnSpPr>
          <p:nvPr/>
        </p:nvCxnSpPr>
        <p:spPr>
          <a:xfrm>
            <a:off x="7486193" y="5009059"/>
            <a:ext cx="1378008" cy="0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0233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5D246A-2183-B2C1-7B0F-ADB22A3E3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BF624E9-0254-A3BD-115A-1CBA965AC162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9612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ボックス 4">
            <a:extLst>
              <a:ext uri="{FF2B5EF4-FFF2-40B4-BE49-F238E27FC236}">
                <a16:creationId xmlns:a16="http://schemas.microsoft.com/office/drawing/2014/main" id="{641DF3FD-1E7D-E7E6-5E59-6A34CE5270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001" y="215555"/>
            <a:ext cx="6727031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fontAlgn="ctr"/>
            <a:r>
              <a:rPr lang="en-US" altLang="ja-JP" sz="21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</a:t>
            </a:r>
            <a:r>
              <a:rPr lang="ja-JP" altLang="en-US" sz="21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面定位置キズ件の反省</a:t>
            </a:r>
            <a:endParaRPr lang="zh-TW" altLang="en-US" sz="21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47C735D3-6489-ECF0-140B-1FAA20512133}"/>
              </a:ext>
            </a:extLst>
          </p:cNvPr>
          <p:cNvSpPr txBox="1">
            <a:spLocks/>
          </p:cNvSpPr>
          <p:nvPr/>
        </p:nvSpPr>
        <p:spPr>
          <a:xfrm>
            <a:off x="186632" y="709699"/>
            <a:ext cx="4836036" cy="2287914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365125" indent="-255588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0713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38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kumimoji="1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kumimoji="1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1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0" indent="0">
              <a:buNone/>
            </a:pPr>
            <a:r>
              <a:rPr lang="en-US" altLang="zh-TW" sz="1800" dirty="0">
                <a:latin typeface="Meiryo UI" panose="020B0604030504040204" pitchFamily="34" charset="-128"/>
                <a:ea typeface="Meiryo UI" panose="020B0604030504040204" pitchFamily="34" charset="-128"/>
              </a:rPr>
              <a:t>T</a:t>
            </a:r>
            <a:r>
              <a:rPr lang="zh-TW" altLang="en-US" sz="1800" dirty="0">
                <a:latin typeface="Meiryo UI" panose="020B0604030504040204" pitchFamily="34" charset="-128"/>
                <a:ea typeface="Meiryo UI" panose="020B0604030504040204" pitchFamily="34" charset="-128"/>
              </a:rPr>
              <a:t>面定位置傷一件，目前已知</a:t>
            </a:r>
            <a:endParaRPr lang="en-US" altLang="zh-TW" sz="18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zh-TW" altLang="en-US" sz="1800" dirty="0">
                <a:latin typeface="Meiryo UI" panose="020B0604030504040204" pitchFamily="34" charset="-128"/>
                <a:ea typeface="Meiryo UI" panose="020B0604030504040204" pitchFamily="34" charset="-128"/>
              </a:rPr>
              <a:t>．</a:t>
            </a:r>
            <a:r>
              <a:rPr lang="en-US" altLang="zh-TW" sz="1800" dirty="0">
                <a:latin typeface="Meiryo UI" panose="020B0604030504040204" pitchFamily="34" charset="-128"/>
                <a:ea typeface="Meiryo UI" panose="020B0604030504040204" pitchFamily="34" charset="-128"/>
              </a:rPr>
              <a:t>11/22</a:t>
            </a:r>
            <a:r>
              <a:rPr lang="zh-TW" altLang="en-US" sz="1800" dirty="0">
                <a:latin typeface="Meiryo UI" panose="020B0604030504040204" pitchFamily="34" charset="-128"/>
                <a:ea typeface="Meiryo UI" panose="020B0604030504040204" pitchFamily="34" charset="-128"/>
              </a:rPr>
              <a:t>、</a:t>
            </a:r>
            <a:r>
              <a:rPr lang="en-US" altLang="zh-TW" sz="1800" dirty="0">
                <a:latin typeface="Meiryo UI" panose="020B0604030504040204" pitchFamily="34" charset="-128"/>
                <a:ea typeface="Meiryo UI" panose="020B0604030504040204" pitchFamily="34" charset="-128"/>
              </a:rPr>
              <a:t>12/5</a:t>
            </a:r>
            <a:r>
              <a:rPr lang="zh-TW" altLang="en-US" sz="1800" dirty="0">
                <a:latin typeface="Meiryo UI" panose="020B0604030504040204" pitchFamily="34" charset="-128"/>
                <a:ea typeface="Meiryo UI" panose="020B0604030504040204" pitchFamily="34" charset="-128"/>
              </a:rPr>
              <a:t>、</a:t>
            </a:r>
            <a:r>
              <a:rPr lang="en-US" altLang="zh-TW" sz="1800" dirty="0">
                <a:latin typeface="Meiryo UI" panose="020B0604030504040204" pitchFamily="34" charset="-128"/>
                <a:ea typeface="Meiryo UI" panose="020B0604030504040204" pitchFamily="34" charset="-128"/>
              </a:rPr>
              <a:t>12/7 </a:t>
            </a:r>
            <a:r>
              <a:rPr lang="ja-JP" altLang="en-US" sz="1800" dirty="0">
                <a:latin typeface="Meiryo UI" panose="020B0604030504040204" pitchFamily="34" charset="-128"/>
                <a:ea typeface="Meiryo UI" panose="020B0604030504040204" pitchFamily="34" charset="-128"/>
              </a:rPr>
              <a:t>吸着</a:t>
            </a:r>
            <a:r>
              <a:rPr lang="en-US" altLang="ja-JP" sz="1800" dirty="0">
                <a:latin typeface="Meiryo UI" panose="020B0604030504040204" pitchFamily="34" charset="-128"/>
                <a:ea typeface="Meiryo UI" panose="020B0604030504040204" pitchFamily="34" charset="-128"/>
              </a:rPr>
              <a:t>PAD</a:t>
            </a:r>
            <a:r>
              <a:rPr lang="ja-JP" altLang="en-US" sz="1800" dirty="0">
                <a:latin typeface="Meiryo UI" panose="020B0604030504040204" pitchFamily="34" charset="-128"/>
                <a:ea typeface="Meiryo UI" panose="020B0604030504040204" pitchFamily="34" charset="-128"/>
              </a:rPr>
              <a:t>起因の</a:t>
            </a:r>
            <a:r>
              <a:rPr lang="zh-TW" altLang="en-US" sz="1800" dirty="0">
                <a:latin typeface="Meiryo UI" panose="020B0604030504040204" pitchFamily="34" charset="-128"/>
                <a:ea typeface="Meiryo UI" panose="020B0604030504040204" pitchFamily="34" charset="-128"/>
              </a:rPr>
              <a:t>吸著</a:t>
            </a:r>
            <a:r>
              <a:rPr lang="ja-JP" altLang="en-US" sz="1800" dirty="0">
                <a:latin typeface="Meiryo UI" panose="020B0604030504040204" pitchFamily="34" charset="-128"/>
                <a:ea typeface="Meiryo UI" panose="020B0604030504040204" pitchFamily="34" charset="-128"/>
              </a:rPr>
              <a:t>ミス発生</a:t>
            </a:r>
            <a:endParaRPr lang="en-US" altLang="ja-JP" sz="18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ja-JP" altLang="en-US" sz="1800" dirty="0">
                <a:latin typeface="Meiryo UI" panose="020B0604030504040204" pitchFamily="34" charset="-128"/>
                <a:ea typeface="Meiryo UI" panose="020B0604030504040204" pitchFamily="34" charset="-128"/>
              </a:rPr>
              <a:t>　　</a:t>
            </a:r>
            <a:r>
              <a:rPr lang="en-US" altLang="zh-TW" sz="1800" dirty="0">
                <a:latin typeface="Meiryo UI" panose="020B0604030504040204" pitchFamily="34" charset="-128"/>
                <a:ea typeface="Meiryo UI" panose="020B0604030504040204" pitchFamily="34" charset="-128"/>
              </a:rPr>
              <a:t>(</a:t>
            </a:r>
            <a:r>
              <a:rPr lang="zh-TW" altLang="en-US" sz="1800" dirty="0">
                <a:latin typeface="Meiryo UI" panose="020B0604030504040204" pitchFamily="34" charset="-128"/>
                <a:ea typeface="Meiryo UI" panose="020B0604030504040204" pitchFamily="34" charset="-128"/>
              </a:rPr>
              <a:t>無</a:t>
            </a:r>
            <a:r>
              <a:rPr lang="en-US" altLang="zh-TW" sz="1800" dirty="0">
                <a:latin typeface="Meiryo UI" panose="020B0604030504040204" pitchFamily="34" charset="-128"/>
                <a:ea typeface="Meiryo UI" panose="020B0604030504040204" pitchFamily="34" charset="-128"/>
              </a:rPr>
              <a:t>Alarm</a:t>
            </a:r>
            <a:r>
              <a:rPr lang="zh-TW" altLang="en-US" sz="1800" dirty="0">
                <a:latin typeface="Meiryo UI" panose="020B0604030504040204" pitchFamily="34" charset="-128"/>
                <a:ea typeface="Meiryo UI" panose="020B0604030504040204" pitchFamily="34" charset="-128"/>
              </a:rPr>
              <a:t>履歷</a:t>
            </a:r>
            <a:r>
              <a:rPr lang="en-US" altLang="zh-TW" sz="1800" dirty="0">
                <a:latin typeface="Meiryo UI" panose="020B0604030504040204" pitchFamily="34" charset="-128"/>
                <a:ea typeface="Meiryo UI" panose="020B0604030504040204" pitchFamily="34" charset="-128"/>
              </a:rPr>
              <a:t>)</a:t>
            </a:r>
          </a:p>
          <a:p>
            <a:pPr marL="0" indent="0">
              <a:buNone/>
            </a:pPr>
            <a:r>
              <a:rPr lang="zh-TW" altLang="en-US" sz="1800" dirty="0">
                <a:latin typeface="Meiryo UI" panose="020B0604030504040204" pitchFamily="34" charset="-128"/>
                <a:ea typeface="Meiryo UI" panose="020B0604030504040204" pitchFamily="34" charset="-128"/>
              </a:rPr>
              <a:t>．</a:t>
            </a:r>
            <a:r>
              <a:rPr lang="en-US" altLang="zh-TW" sz="1800" dirty="0">
                <a:latin typeface="Meiryo UI" panose="020B0604030504040204" pitchFamily="34" charset="-128"/>
                <a:ea typeface="Meiryo UI" panose="020B0604030504040204" pitchFamily="34" charset="-128"/>
              </a:rPr>
              <a:t>11/24</a:t>
            </a:r>
            <a:r>
              <a:rPr lang="zh-TW" altLang="en-US" sz="1800" dirty="0">
                <a:latin typeface="Meiryo UI" panose="020B0604030504040204" pitchFamily="34" charset="-128"/>
                <a:ea typeface="Meiryo UI" panose="020B0604030504040204" pitchFamily="34" charset="-128"/>
              </a:rPr>
              <a:t>、</a:t>
            </a:r>
            <a:r>
              <a:rPr lang="en-US" altLang="zh-TW" sz="1800" dirty="0">
                <a:latin typeface="Meiryo UI" panose="020B0604030504040204" pitchFamily="34" charset="-128"/>
                <a:ea typeface="Meiryo UI" panose="020B0604030504040204" pitchFamily="34" charset="-128"/>
              </a:rPr>
              <a:t>12/5 </a:t>
            </a:r>
            <a:r>
              <a:rPr lang="zh-TW" altLang="en-US" sz="1800" dirty="0">
                <a:latin typeface="Meiryo UI" panose="020B0604030504040204" pitchFamily="34" charset="-128"/>
                <a:ea typeface="Meiryo UI" panose="020B0604030504040204" pitchFamily="34" charset="-128"/>
              </a:rPr>
              <a:t>吸著</a:t>
            </a:r>
            <a:r>
              <a:rPr lang="en-US" altLang="zh-TW" sz="1800" dirty="0">
                <a:latin typeface="Meiryo UI" panose="020B0604030504040204" pitchFamily="34" charset="-128"/>
                <a:ea typeface="Meiryo UI" panose="020B0604030504040204" pitchFamily="34" charset="-128"/>
              </a:rPr>
              <a:t>pad</a:t>
            </a:r>
            <a:r>
              <a:rPr lang="zh-TW" altLang="en-US" sz="1800" dirty="0">
                <a:latin typeface="Meiryo UI" panose="020B0604030504040204" pitchFamily="34" charset="-128"/>
                <a:ea typeface="Meiryo UI" panose="020B0604030504040204" pitchFamily="34" charset="-128"/>
              </a:rPr>
              <a:t>點檢  未發現變形</a:t>
            </a:r>
            <a:endParaRPr lang="en-US" altLang="zh-TW" sz="18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zh-TW" altLang="en-US" sz="1800" dirty="0">
                <a:latin typeface="Meiryo UI" panose="020B0604030504040204" pitchFamily="34" charset="-128"/>
                <a:ea typeface="Meiryo UI" panose="020B0604030504040204" pitchFamily="34" charset="-128"/>
              </a:rPr>
              <a:t>．吸著</a:t>
            </a:r>
            <a:r>
              <a:rPr lang="ja-JP" altLang="en-US" sz="1800" dirty="0">
                <a:latin typeface="Meiryo UI" panose="020B0604030504040204" pitchFamily="34" charset="-128"/>
                <a:ea typeface="Meiryo UI" panose="020B0604030504040204" pitchFamily="34" charset="-128"/>
              </a:rPr>
              <a:t>ミス</a:t>
            </a:r>
            <a:r>
              <a:rPr lang="zh-TW" altLang="en-US" sz="1800" dirty="0">
                <a:latin typeface="Meiryo UI" panose="020B0604030504040204" pitchFamily="34" charset="-128"/>
                <a:ea typeface="Meiryo UI" panose="020B0604030504040204" pitchFamily="34" charset="-128"/>
              </a:rPr>
              <a:t>發生時的異常處理</a:t>
            </a:r>
            <a:endParaRPr lang="en-US" altLang="zh-TW" sz="18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en-US" altLang="zh-TW" sz="1800" dirty="0">
                <a:latin typeface="Meiryo UI" panose="020B0604030504040204" pitchFamily="34" charset="-128"/>
                <a:ea typeface="Meiryo UI" panose="020B0604030504040204" pitchFamily="34" charset="-128"/>
              </a:rPr>
              <a:t>  </a:t>
            </a:r>
            <a:r>
              <a:rPr lang="ja-JP" altLang="en-US" sz="1800" dirty="0">
                <a:latin typeface="Meiryo UI" panose="020B0604030504040204" pitchFamily="34" charset="-128"/>
                <a:ea typeface="Meiryo UI" panose="020B0604030504040204" pitchFamily="34" charset="-128"/>
              </a:rPr>
              <a:t>　</a:t>
            </a:r>
            <a:r>
              <a:rPr lang="zh-TW" altLang="en-US" sz="1800" dirty="0">
                <a:latin typeface="Meiryo UI" panose="020B0604030504040204" pitchFamily="34" charset="-128"/>
                <a:ea typeface="Meiryo UI" panose="020B0604030504040204" pitchFamily="34" charset="-128"/>
              </a:rPr>
              <a:t>．變形原因、開始日期未知</a:t>
            </a:r>
            <a:endParaRPr lang="en-US" altLang="zh-TW" sz="18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zh-TW" altLang="en-US" sz="1800" dirty="0">
                <a:latin typeface="Meiryo UI" panose="020B0604030504040204" pitchFamily="34" charset="-128"/>
                <a:ea typeface="Meiryo UI" panose="020B0604030504040204" pitchFamily="34" charset="-128"/>
              </a:rPr>
              <a:t>．指摘後，</a:t>
            </a:r>
            <a:r>
              <a:rPr lang="en-US" altLang="zh-TW" sz="1800" dirty="0">
                <a:latin typeface="Meiryo UI" panose="020B0604030504040204" pitchFamily="34" charset="-128"/>
                <a:ea typeface="Meiryo UI" panose="020B0604030504040204" pitchFamily="34" charset="-128"/>
              </a:rPr>
              <a:t>12/18 </a:t>
            </a:r>
            <a:r>
              <a:rPr lang="zh-TW" altLang="en-US" sz="1800" dirty="0">
                <a:latin typeface="Meiryo UI" panose="020B0604030504040204" pitchFamily="34" charset="-128"/>
                <a:ea typeface="Meiryo UI" panose="020B0604030504040204" pitchFamily="34" charset="-128"/>
              </a:rPr>
              <a:t>吸著</a:t>
            </a:r>
            <a:r>
              <a:rPr lang="en-US" altLang="zh-TW" sz="1800" dirty="0">
                <a:latin typeface="Meiryo UI" panose="020B0604030504040204" pitchFamily="34" charset="-128"/>
                <a:ea typeface="Meiryo UI" panose="020B0604030504040204" pitchFamily="34" charset="-128"/>
              </a:rPr>
              <a:t>PAD</a:t>
            </a:r>
            <a:r>
              <a:rPr lang="zh-TW" altLang="en-US" sz="1800" dirty="0">
                <a:latin typeface="Meiryo UI" panose="020B0604030504040204" pitchFamily="34" charset="-128"/>
                <a:ea typeface="Meiryo UI" panose="020B0604030504040204" pitchFamily="34" charset="-128"/>
              </a:rPr>
              <a:t>變形</a:t>
            </a:r>
            <a:r>
              <a:rPr lang="ja-JP" altLang="en-US" sz="1800" dirty="0">
                <a:latin typeface="Meiryo UI" panose="020B0604030504040204" pitchFamily="34" charset="-128"/>
                <a:ea typeface="Meiryo UI" panose="020B0604030504040204" pitchFamily="34" charset="-128"/>
              </a:rPr>
              <a:t>発見</a:t>
            </a:r>
            <a:r>
              <a:rPr lang="zh-TW" altLang="en-US" sz="1800" dirty="0">
                <a:latin typeface="Meiryo UI" panose="020B0604030504040204" pitchFamily="34" charset="-128"/>
                <a:ea typeface="Meiryo UI" panose="020B0604030504040204" pitchFamily="34" charset="-128"/>
              </a:rPr>
              <a:t>，交換</a:t>
            </a:r>
            <a:endParaRPr lang="en-US" altLang="zh-TW" sz="18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indent="0">
              <a:buNone/>
            </a:pPr>
            <a:r>
              <a:rPr lang="zh-TW" altLang="en-US" sz="1800" dirty="0">
                <a:latin typeface="Meiryo UI" panose="020B0604030504040204" pitchFamily="34" charset="-128"/>
                <a:ea typeface="Meiryo UI" panose="020B0604030504040204" pitchFamily="34" charset="-128"/>
              </a:rPr>
              <a:t>．</a:t>
            </a:r>
            <a:r>
              <a:rPr lang="en-US" altLang="zh-TW" sz="1800" dirty="0">
                <a:latin typeface="Meiryo UI" panose="020B0604030504040204" pitchFamily="34" charset="-128"/>
                <a:ea typeface="Meiryo UI" panose="020B0604030504040204" pitchFamily="34" charset="-128"/>
              </a:rPr>
              <a:t>Br</a:t>
            </a:r>
            <a:r>
              <a:rPr lang="zh-TW" altLang="en-US" sz="1800" dirty="0">
                <a:latin typeface="Meiryo UI" panose="020B0604030504040204" pitchFamily="34" charset="-128"/>
                <a:ea typeface="Meiryo UI" panose="020B0604030504040204" pitchFamily="34" charset="-128"/>
              </a:rPr>
              <a:t>未檢出，先行未檢出</a:t>
            </a:r>
            <a:r>
              <a:rPr lang="en-US" altLang="zh-TW" sz="1800" dirty="0">
                <a:latin typeface="Meiryo UI" panose="020B0604030504040204" pitchFamily="34" charset="-128"/>
                <a:ea typeface="Meiryo UI" panose="020B0604030504040204" pitchFamily="34" charset="-128"/>
              </a:rPr>
              <a:t>?</a:t>
            </a:r>
          </a:p>
          <a:p>
            <a:pPr marL="0" indent="0">
              <a:buNone/>
            </a:pPr>
            <a:endParaRPr lang="zh-TW" altLang="en-US" sz="18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0571C870-E139-41A9-1ACC-9D4474C9DBB8}"/>
              </a:ext>
            </a:extLst>
          </p:cNvPr>
          <p:cNvGraphicFramePr>
            <a:graphicFrameLocks noGrp="1"/>
          </p:cNvGraphicFramePr>
          <p:nvPr/>
        </p:nvGraphicFramePr>
        <p:xfrm>
          <a:off x="5022667" y="967308"/>
          <a:ext cx="4025306" cy="1909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2653">
                  <a:extLst>
                    <a:ext uri="{9D8B030D-6E8A-4147-A177-3AD203B41FA5}">
                      <a16:colId xmlns:a16="http://schemas.microsoft.com/office/drawing/2014/main" val="4048868777"/>
                    </a:ext>
                  </a:extLst>
                </a:gridCol>
                <a:gridCol w="2012653">
                  <a:extLst>
                    <a:ext uri="{9D8B030D-6E8A-4147-A177-3AD203B41FA5}">
                      <a16:colId xmlns:a16="http://schemas.microsoft.com/office/drawing/2014/main" val="1181314240"/>
                    </a:ext>
                  </a:extLst>
                </a:gridCol>
              </a:tblGrid>
              <a:tr h="318170">
                <a:tc>
                  <a:txBody>
                    <a:bodyPr/>
                    <a:lstStyle/>
                    <a:p>
                      <a:r>
                        <a:rPr lang="en-US" altLang="zh-TW" sz="15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keyword</a:t>
                      </a:r>
                      <a:endParaRPr lang="zh-TW" altLang="en-US" sz="1500" dirty="0"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TW" altLang="en-US" sz="15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上位概念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667466878"/>
                  </a:ext>
                </a:extLst>
              </a:tr>
              <a:tr h="318170">
                <a:tc>
                  <a:txBody>
                    <a:bodyPr/>
                    <a:lstStyle/>
                    <a:p>
                      <a:r>
                        <a:rPr lang="zh-TW" altLang="en-US" sz="15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吸著</a:t>
                      </a:r>
                      <a:r>
                        <a:rPr lang="en-US" altLang="zh-TW" sz="15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PAD</a:t>
                      </a:r>
                      <a:r>
                        <a:rPr lang="zh-TW" altLang="en-US" sz="15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成因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TW" altLang="en-US" sz="15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接觸部材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160605176"/>
                  </a:ext>
                </a:extLst>
              </a:tr>
              <a:tr h="318170">
                <a:tc>
                  <a:txBody>
                    <a:bodyPr/>
                    <a:lstStyle/>
                    <a:p>
                      <a:r>
                        <a:rPr lang="en-US" altLang="zh-TW" sz="15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PAD</a:t>
                      </a:r>
                      <a:r>
                        <a:rPr lang="zh-TW" altLang="en-US" sz="15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變形</a:t>
                      </a:r>
                      <a:r>
                        <a:rPr lang="en-US" altLang="zh-TW" sz="15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/</a:t>
                      </a:r>
                      <a:r>
                        <a:rPr lang="zh-TW" altLang="en-US" sz="15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吸著</a:t>
                      </a:r>
                      <a:r>
                        <a:rPr lang="ja-JP" altLang="en-US" sz="15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ミス</a:t>
                      </a:r>
                      <a:endParaRPr lang="zh-TW" altLang="en-US" sz="1500" dirty="0"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TW" altLang="en-US" sz="15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變動時 </a:t>
                      </a:r>
                      <a:r>
                        <a:rPr lang="en-US" altLang="zh-TW" sz="15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or </a:t>
                      </a:r>
                      <a:r>
                        <a:rPr lang="zh-TW" altLang="en-US" sz="15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異常際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58059808"/>
                  </a:ext>
                </a:extLst>
              </a:tr>
              <a:tr h="318170">
                <a:tc>
                  <a:txBody>
                    <a:bodyPr/>
                    <a:lstStyle/>
                    <a:p>
                      <a:r>
                        <a:rPr lang="zh-TW" altLang="en-US" sz="15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無</a:t>
                      </a:r>
                      <a:r>
                        <a:rPr lang="en-US" altLang="zh-TW" sz="15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Alarm</a:t>
                      </a:r>
                      <a:r>
                        <a:rPr lang="zh-TW" altLang="en-US" sz="15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履歷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TW" altLang="en-US" sz="15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記錄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93884401"/>
                  </a:ext>
                </a:extLst>
              </a:tr>
              <a:tr h="318170">
                <a:tc>
                  <a:txBody>
                    <a:bodyPr/>
                    <a:lstStyle/>
                    <a:p>
                      <a:r>
                        <a:rPr lang="zh-TW" altLang="en-US" sz="15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點檢</a:t>
                      </a:r>
                      <a:r>
                        <a:rPr lang="en-US" altLang="zh-TW" sz="15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(</a:t>
                      </a:r>
                      <a:r>
                        <a:rPr lang="zh-TW" altLang="en-US" sz="15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未檢出</a:t>
                      </a:r>
                      <a:r>
                        <a:rPr lang="en-US" altLang="zh-TW" sz="15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)</a:t>
                      </a:r>
                      <a:endParaRPr lang="zh-TW" altLang="en-US" sz="1500" dirty="0"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TW" altLang="en-US" sz="15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作業，管理方法</a:t>
                      </a:r>
                      <a:r>
                        <a:rPr lang="en-US" altLang="zh-TW" sz="15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(</a:t>
                      </a:r>
                      <a:r>
                        <a:rPr lang="zh-TW" altLang="en-US" sz="15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日常</a:t>
                      </a:r>
                      <a:r>
                        <a:rPr lang="en-US" altLang="zh-TW" sz="15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)</a:t>
                      </a:r>
                      <a:endParaRPr lang="zh-TW" altLang="en-US" sz="1500" dirty="0"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707990707"/>
                  </a:ext>
                </a:extLst>
              </a:tr>
              <a:tr h="318170">
                <a:tc>
                  <a:txBody>
                    <a:bodyPr/>
                    <a:lstStyle/>
                    <a:p>
                      <a:r>
                        <a:rPr lang="en-US" altLang="zh-TW" sz="15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Br</a:t>
                      </a:r>
                      <a:r>
                        <a:rPr lang="zh-TW" altLang="en-US" sz="15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、先行未檢出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TW" altLang="en-US" sz="15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異常後品質確認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27207593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A8719FD1-F29A-29DE-1970-47F069FE3903}"/>
              </a:ext>
            </a:extLst>
          </p:cNvPr>
          <p:cNvSpPr txBox="1"/>
          <p:nvPr/>
        </p:nvSpPr>
        <p:spPr>
          <a:xfrm>
            <a:off x="444599" y="3301601"/>
            <a:ext cx="8353236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7175" indent="-257175">
              <a:buFont typeface="New MingLiu"/>
              <a:buAutoNum type="arabicPeriod"/>
            </a:pPr>
            <a:r>
              <a:rPr lang="ja-JP" altLang="zh-TW" sz="1650" kern="0" dirty="0">
                <a:latin typeface="Meiryo UI" panose="020B0604030504040204" pitchFamily="34" charset="-128"/>
                <a:ea typeface="Meiryo UI" panose="020B0604030504040204" pitchFamily="34" charset="-128"/>
                <a:cs typeface="MS PGothic" panose="020B0600070205080204" pitchFamily="34" charset="-128"/>
              </a:rPr>
              <a:t>接触部材に関する工程管理能力</a:t>
            </a:r>
            <a:r>
              <a:rPr lang="zh-TW" altLang="en-US" sz="1650" kern="0" dirty="0">
                <a:latin typeface="Meiryo UI" panose="020B0604030504040204" pitchFamily="34" charset="-128"/>
                <a:ea typeface="Meiryo UI" panose="020B0604030504040204" pitchFamily="34" charset="-128"/>
                <a:cs typeface="MS PGothic" panose="020B0600070205080204" pitchFamily="34" charset="-128"/>
              </a:rPr>
              <a:t>不足</a:t>
            </a:r>
            <a:r>
              <a:rPr lang="zh-TW" altLang="zh-TW" sz="1650" kern="0" dirty="0">
                <a:latin typeface="Meiryo UI" panose="020B0604030504040204" pitchFamily="34" charset="-128"/>
                <a:ea typeface="Meiryo UI" panose="020B0604030504040204" pitchFamily="34" charset="-128"/>
                <a:cs typeface="New MingLiu"/>
              </a:rPr>
              <a:t> </a:t>
            </a:r>
            <a:endParaRPr lang="zh-TW" altLang="zh-TW" sz="1650" kern="100" dirty="0">
              <a:latin typeface="Meiryo UI" panose="020B0604030504040204" pitchFamily="34" charset="-128"/>
              <a:ea typeface="Meiryo UI" panose="020B0604030504040204" pitchFamily="34" charset="-128"/>
              <a:cs typeface="Times New Roman" panose="02020603050405020304" pitchFamily="18" charset="0"/>
            </a:endParaRPr>
          </a:p>
          <a:p>
            <a:pPr marL="257175" indent="-257175">
              <a:buFont typeface="New MingLiu"/>
              <a:buAutoNum type="arabicPeriod" startAt="2"/>
            </a:pPr>
            <a:r>
              <a:rPr lang="ja-JP" altLang="zh-TW" sz="1650" kern="0" dirty="0">
                <a:latin typeface="Meiryo UI" panose="020B0604030504040204" pitchFamily="34" charset="-128"/>
                <a:ea typeface="Meiryo UI" panose="020B0604030504040204" pitchFamily="34" charset="-128"/>
                <a:cs typeface="MS PGothic" panose="020B0600070205080204" pitchFamily="34" charset="-128"/>
              </a:rPr>
              <a:t>ＡＤＴ内での先行研磨評価で</a:t>
            </a:r>
            <a:r>
              <a:rPr lang="ja-JP" altLang="en-US" sz="1650" kern="0" dirty="0">
                <a:latin typeface="Meiryo UI" panose="020B0604030504040204" pitchFamily="34" charset="-128"/>
                <a:ea typeface="Meiryo UI" panose="020B0604030504040204" pitchFamily="34" charset="-128"/>
                <a:cs typeface="MS PGothic" panose="020B0600070205080204" pitchFamily="34" charset="-128"/>
              </a:rPr>
              <a:t>検出できなかった</a:t>
            </a:r>
            <a:endParaRPr lang="en-US" altLang="ja-JP" sz="1650" kern="0" dirty="0">
              <a:latin typeface="Meiryo UI" panose="020B0604030504040204" pitchFamily="34" charset="-128"/>
              <a:ea typeface="Meiryo UI" panose="020B0604030504040204" pitchFamily="34" charset="-128"/>
              <a:cs typeface="MS PGothic" panose="020B0600070205080204" pitchFamily="34" charset="-128"/>
            </a:endParaRPr>
          </a:p>
          <a:p>
            <a:pPr marL="257175" indent="-257175">
              <a:buFont typeface="New MingLiu"/>
              <a:buAutoNum type="arabicPeriod" startAt="2"/>
            </a:pPr>
            <a:r>
              <a:rPr lang="ja-JP" altLang="zh-TW" sz="1650" kern="0" dirty="0">
                <a:latin typeface="Meiryo UI" panose="020B0604030504040204" pitchFamily="34" charset="-128"/>
                <a:ea typeface="Meiryo UI" panose="020B0604030504040204" pitchFamily="34" charset="-128"/>
                <a:cs typeface="MS PGothic" panose="020B0600070205080204" pitchFamily="34" charset="-128"/>
              </a:rPr>
              <a:t>Ｂｒ検査</a:t>
            </a:r>
            <a:r>
              <a:rPr lang="ja-JP" altLang="en-US" sz="1650" kern="0" dirty="0">
                <a:latin typeface="Meiryo UI" panose="020B0604030504040204" pitchFamily="34" charset="-128"/>
                <a:ea typeface="Meiryo UI" panose="020B0604030504040204" pitchFamily="34" charset="-128"/>
                <a:cs typeface="MS PGothic" panose="020B0600070205080204" pitchFamily="34" charset="-128"/>
              </a:rPr>
              <a:t>で検出できなかった</a:t>
            </a:r>
            <a:r>
              <a:rPr lang="en-US" altLang="ja-JP" sz="1650" kern="0" dirty="0">
                <a:latin typeface="Meiryo UI" panose="020B0604030504040204" pitchFamily="34" charset="-128"/>
                <a:ea typeface="Meiryo UI" panose="020B0604030504040204" pitchFamily="34" charset="-128"/>
                <a:cs typeface="MS PGothic" panose="020B0600070205080204" pitchFamily="34" charset="-128"/>
              </a:rPr>
              <a:t>   (</a:t>
            </a:r>
            <a:r>
              <a:rPr lang="ja-JP" altLang="zh-TW" sz="1650" kern="0" dirty="0">
                <a:latin typeface="Meiryo UI" panose="020B0604030504040204" pitchFamily="34" charset="-128"/>
                <a:ea typeface="Meiryo UI" panose="020B0604030504040204" pitchFamily="34" charset="-128"/>
                <a:cs typeface="MS PGothic" panose="020B0600070205080204" pitchFamily="34" charset="-128"/>
              </a:rPr>
              <a:t>ただし、エッチング</a:t>
            </a:r>
            <a:r>
              <a:rPr lang="ja-JP" altLang="en-US" sz="1650" kern="0" dirty="0">
                <a:latin typeface="Meiryo UI" panose="020B0604030504040204" pitchFamily="34" charset="-128"/>
                <a:ea typeface="Meiryo UI" panose="020B0604030504040204" pitchFamily="34" charset="-128"/>
                <a:cs typeface="MS PGothic" panose="020B0600070205080204" pitchFamily="34" charset="-128"/>
              </a:rPr>
              <a:t>などの</a:t>
            </a:r>
            <a:r>
              <a:rPr lang="ja-JP" altLang="zh-TW" sz="1650" kern="0" dirty="0">
                <a:latin typeface="Meiryo UI" panose="020B0604030504040204" pitchFamily="34" charset="-128"/>
                <a:ea typeface="Meiryo UI" panose="020B0604030504040204" pitchFamily="34" charset="-128"/>
                <a:cs typeface="MS PGothic" panose="020B0600070205080204" pitchFamily="34" charset="-128"/>
              </a:rPr>
              <a:t>手法を使わないと難しい事判明）</a:t>
            </a:r>
            <a:endParaRPr lang="en-US" altLang="zh-TW" sz="1650" kern="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lvl="0"/>
            <a:endParaRPr lang="en-US" altLang="ja-JP" sz="165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lvl="0"/>
            <a:r>
              <a:rPr lang="ja-JP" altLang="en-US" sz="1650" dirty="0">
                <a:latin typeface="Meiryo UI" panose="020B0604030504040204" pitchFamily="34" charset="-128"/>
                <a:ea typeface="Meiryo UI" panose="020B0604030504040204" pitchFamily="34" charset="-128"/>
              </a:rPr>
              <a:t>上記に基づき、まず①の部分について改善活動を展開します。（②、③の部分は別途検討します）</a:t>
            </a:r>
            <a:endParaRPr lang="zh-TW" altLang="en-US" sz="165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1" name="文字方塊 4">
            <a:extLst>
              <a:ext uri="{FF2B5EF4-FFF2-40B4-BE49-F238E27FC236}">
                <a16:creationId xmlns:a16="http://schemas.microsoft.com/office/drawing/2014/main" id="{494720D2-0A79-D081-4EA6-7B55F706A3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747" y="2997613"/>
            <a:ext cx="732050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zh-TW" altLang="en-US" sz="18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▇ 問題點：</a:t>
            </a:r>
            <a:endParaRPr lang="en-US" altLang="zh-TW" sz="1800" b="1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29594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ボックス 4">
            <a:extLst>
              <a:ext uri="{FF2B5EF4-FFF2-40B4-BE49-F238E27FC236}">
                <a16:creationId xmlns:a16="http://schemas.microsoft.com/office/drawing/2014/main" id="{641DF3FD-1E7D-E7E6-5E59-6A34CE5270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533" y="215555"/>
            <a:ext cx="67270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fontAlgn="ctr"/>
            <a:r>
              <a:rPr lang="en-US" altLang="ja-JP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</a:t>
            </a:r>
            <a:r>
              <a:rPr lang="ja-JP" altLang="en-US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面定位置キズ件の反省</a:t>
            </a:r>
            <a:r>
              <a:rPr lang="zh-TW" altLang="en-US" sz="21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今後改善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695FBE42-2020-52A6-4213-E15C3CB81AB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34555107"/>
              </p:ext>
            </p:extLst>
          </p:nvPr>
        </p:nvGraphicFramePr>
        <p:xfrm>
          <a:off x="248361" y="3053310"/>
          <a:ext cx="8680099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9417">
                  <a:extLst>
                    <a:ext uri="{9D8B030D-6E8A-4147-A177-3AD203B41FA5}">
                      <a16:colId xmlns:a16="http://schemas.microsoft.com/office/drawing/2014/main" val="4271742060"/>
                    </a:ext>
                  </a:extLst>
                </a:gridCol>
                <a:gridCol w="949257">
                  <a:extLst>
                    <a:ext uri="{9D8B030D-6E8A-4147-A177-3AD203B41FA5}">
                      <a16:colId xmlns:a16="http://schemas.microsoft.com/office/drawing/2014/main" val="2564978070"/>
                    </a:ext>
                  </a:extLst>
                </a:gridCol>
                <a:gridCol w="718775">
                  <a:extLst>
                    <a:ext uri="{9D8B030D-6E8A-4147-A177-3AD203B41FA5}">
                      <a16:colId xmlns:a16="http://schemas.microsoft.com/office/drawing/2014/main" val="3438861851"/>
                    </a:ext>
                  </a:extLst>
                </a:gridCol>
                <a:gridCol w="718775">
                  <a:extLst>
                    <a:ext uri="{9D8B030D-6E8A-4147-A177-3AD203B41FA5}">
                      <a16:colId xmlns:a16="http://schemas.microsoft.com/office/drawing/2014/main" val="416227041"/>
                    </a:ext>
                  </a:extLst>
                </a:gridCol>
                <a:gridCol w="718775">
                  <a:extLst>
                    <a:ext uri="{9D8B030D-6E8A-4147-A177-3AD203B41FA5}">
                      <a16:colId xmlns:a16="http://schemas.microsoft.com/office/drawing/2014/main" val="1944834843"/>
                    </a:ext>
                  </a:extLst>
                </a:gridCol>
                <a:gridCol w="718775">
                  <a:extLst>
                    <a:ext uri="{9D8B030D-6E8A-4147-A177-3AD203B41FA5}">
                      <a16:colId xmlns:a16="http://schemas.microsoft.com/office/drawing/2014/main" val="3450807697"/>
                    </a:ext>
                  </a:extLst>
                </a:gridCol>
                <a:gridCol w="718775">
                  <a:extLst>
                    <a:ext uri="{9D8B030D-6E8A-4147-A177-3AD203B41FA5}">
                      <a16:colId xmlns:a16="http://schemas.microsoft.com/office/drawing/2014/main" val="2570696702"/>
                    </a:ext>
                  </a:extLst>
                </a:gridCol>
                <a:gridCol w="718775">
                  <a:extLst>
                    <a:ext uri="{9D8B030D-6E8A-4147-A177-3AD203B41FA5}">
                      <a16:colId xmlns:a16="http://schemas.microsoft.com/office/drawing/2014/main" val="3352650782"/>
                    </a:ext>
                  </a:extLst>
                </a:gridCol>
                <a:gridCol w="718775">
                  <a:extLst>
                    <a:ext uri="{9D8B030D-6E8A-4147-A177-3AD203B41FA5}">
                      <a16:colId xmlns:a16="http://schemas.microsoft.com/office/drawing/2014/main" val="1023551946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r>
                        <a:rPr lang="zh-TW" altLang="en-US" sz="15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對象：</a:t>
                      </a:r>
                      <a:r>
                        <a:rPr lang="en-US" altLang="zh-TW" sz="15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KF</a:t>
                      </a:r>
                      <a:r>
                        <a:rPr lang="zh-TW" altLang="en-US" sz="15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窯 </a:t>
                      </a:r>
                      <a:r>
                        <a:rPr lang="en-US" altLang="zh-TW" sz="15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Br </a:t>
                      </a:r>
                      <a:r>
                        <a:rPr lang="zh-TW" altLang="en-US" sz="15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工程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擔當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1</a:t>
                      </a:r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2</a:t>
                      </a:r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3</a:t>
                      </a:r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4</a:t>
                      </a:r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5</a:t>
                      </a:r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6</a:t>
                      </a:r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7</a:t>
                      </a:r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88789328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接觸部材清點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2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製造</a:t>
                      </a:r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266322075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現行管理辦法確認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+mn-cs"/>
                        </a:rPr>
                        <a:t>製造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 panose="020B0604030504040204" pitchFamily="34" charset="-128"/>
                        <a:ea typeface="Meiryo UI" panose="020B0604030504040204" pitchFamily="34" charset="-128"/>
                        <a:cs typeface="+mn-cs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115021134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風險評估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+mn-cs"/>
                        </a:rPr>
                        <a:t>製造</a:t>
                      </a:r>
                      <a:r>
                        <a:rPr kumimoji="0" lang="en-US" altLang="ja-JP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+mn-cs"/>
                        </a:rPr>
                        <a:t>/</a:t>
                      </a:r>
                      <a:r>
                        <a:rPr kumimoji="0" lang="ja-JP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+mn-cs"/>
                        </a:rPr>
                        <a:t>品証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 panose="020B0604030504040204" pitchFamily="34" charset="-128"/>
                        <a:ea typeface="Meiryo UI" panose="020B0604030504040204" pitchFamily="34" charset="-128"/>
                        <a:cs typeface="+mn-cs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405293397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風險鑑別</a:t>
                      </a:r>
                      <a:r>
                        <a:rPr lang="en-US" altLang="zh-TW" sz="12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(</a:t>
                      </a:r>
                      <a:r>
                        <a:rPr lang="zh-TW" altLang="en-US" sz="12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依評估結果判斷對策要否</a:t>
                      </a:r>
                      <a:r>
                        <a:rPr lang="en-US" altLang="zh-TW" sz="12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)</a:t>
                      </a:r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+mn-cs"/>
                        </a:rPr>
                        <a:t>製造</a:t>
                      </a:r>
                      <a:r>
                        <a:rPr kumimoji="0" lang="en-US" altLang="ja-JP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+mn-cs"/>
                        </a:rPr>
                        <a:t>/</a:t>
                      </a:r>
                      <a:r>
                        <a:rPr kumimoji="0" lang="ja-JP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+mn-cs"/>
                        </a:rPr>
                        <a:t>品証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 panose="020B0604030504040204" pitchFamily="34" charset="-128"/>
                        <a:ea typeface="Meiryo UI" panose="020B0604030504040204" pitchFamily="34" charset="-128"/>
                        <a:cs typeface="+mn-cs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9546062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對策檢討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+mn-cs"/>
                        </a:rPr>
                        <a:t>製造</a:t>
                      </a:r>
                      <a:r>
                        <a:rPr kumimoji="0" lang="en-US" altLang="ja-JP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+mn-cs"/>
                        </a:rPr>
                        <a:t>/</a:t>
                      </a:r>
                      <a:r>
                        <a:rPr kumimoji="0" lang="ja-JP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+mn-cs"/>
                        </a:rPr>
                        <a:t>品証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 panose="020B0604030504040204" pitchFamily="34" charset="-128"/>
                        <a:ea typeface="Meiryo UI" panose="020B0604030504040204" pitchFamily="34" charset="-128"/>
                        <a:cs typeface="+mn-cs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66660562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對策實施</a:t>
                      </a:r>
                      <a:endParaRPr lang="en-US" altLang="zh-TW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+mn-cs"/>
                        </a:rPr>
                        <a:t>製造</a:t>
                      </a:r>
                      <a:r>
                        <a:rPr kumimoji="0" lang="en-US" altLang="ja-JP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+mn-cs"/>
                        </a:rPr>
                        <a:t>/</a:t>
                      </a:r>
                      <a:r>
                        <a:rPr kumimoji="0" lang="ja-JP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+mn-cs"/>
                        </a:rPr>
                        <a:t>品証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 panose="020B0604030504040204" pitchFamily="34" charset="-128"/>
                        <a:ea typeface="Meiryo UI" panose="020B0604030504040204" pitchFamily="34" charset="-128"/>
                        <a:cs typeface="+mn-cs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393718545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效果確認、標準化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+mn-cs"/>
                        </a:rPr>
                        <a:t>製造</a:t>
                      </a:r>
                      <a:r>
                        <a:rPr kumimoji="0" lang="en-US" altLang="ja-JP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+mn-cs"/>
                        </a:rPr>
                        <a:t>/</a:t>
                      </a:r>
                      <a:r>
                        <a:rPr kumimoji="0" lang="ja-JP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+mn-cs"/>
                        </a:rPr>
                        <a:t>品証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eiryo UI" panose="020B0604030504040204" pitchFamily="34" charset="-128"/>
                        <a:ea typeface="Meiryo UI" panose="020B0604030504040204" pitchFamily="34" charset="-128"/>
                        <a:cs typeface="+mn-cs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464802056"/>
                  </a:ext>
                </a:extLst>
              </a:tr>
            </a:tbl>
          </a:graphicData>
        </a:graphic>
      </p:graphicFrame>
      <p:sp>
        <p:nvSpPr>
          <p:cNvPr id="4" name="文字方塊 4">
            <a:extLst>
              <a:ext uri="{FF2B5EF4-FFF2-40B4-BE49-F238E27FC236}">
                <a16:creationId xmlns:a16="http://schemas.microsoft.com/office/drawing/2014/main" id="{B08DCBF8-8D53-D955-010D-3ED8BAB589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665" y="2327146"/>
            <a:ext cx="5113856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zh-TW" altLang="en-US" sz="15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▇ 活動對象：</a:t>
            </a:r>
            <a:r>
              <a:rPr lang="en-US" altLang="zh-TW" sz="1500" dirty="0">
                <a:latin typeface="Meiryo UI" panose="020B0604030504040204" pitchFamily="34" charset="-128"/>
                <a:ea typeface="Meiryo UI" panose="020B0604030504040204" pitchFamily="34" charset="-128"/>
              </a:rPr>
              <a:t>KF</a:t>
            </a:r>
            <a:r>
              <a:rPr lang="zh-TW" altLang="en-US" sz="1500" dirty="0">
                <a:latin typeface="Meiryo UI" panose="020B0604030504040204" pitchFamily="34" charset="-128"/>
                <a:ea typeface="Meiryo UI" panose="020B0604030504040204" pitchFamily="34" charset="-128"/>
              </a:rPr>
              <a:t>窯 </a:t>
            </a:r>
            <a:r>
              <a:rPr lang="en-US" altLang="zh-TW" sz="1500" dirty="0">
                <a:latin typeface="Meiryo UI" panose="020B0604030504040204" pitchFamily="34" charset="-128"/>
                <a:ea typeface="Meiryo UI" panose="020B0604030504040204" pitchFamily="34" charset="-128"/>
              </a:rPr>
              <a:t>Br</a:t>
            </a:r>
            <a:r>
              <a:rPr lang="zh-TW" altLang="en-US" sz="1500" dirty="0">
                <a:latin typeface="Meiryo UI" panose="020B0604030504040204" pitchFamily="34" charset="-128"/>
                <a:ea typeface="Meiryo UI" panose="020B0604030504040204" pitchFamily="34" charset="-128"/>
              </a:rPr>
              <a:t>工程  </a:t>
            </a:r>
            <a:r>
              <a:rPr lang="en-US" altLang="zh-TW" sz="1500" dirty="0">
                <a:latin typeface="Meiryo UI" panose="020B0604030504040204" pitchFamily="34" charset="-128"/>
                <a:ea typeface="Meiryo UI" panose="020B0604030504040204" pitchFamily="34" charset="-128"/>
              </a:rPr>
              <a:t>(8</a:t>
            </a:r>
            <a:r>
              <a:rPr lang="zh-TW" altLang="en-US" sz="1500" dirty="0">
                <a:latin typeface="Meiryo UI" panose="020B0604030504040204" pitchFamily="34" charset="-128"/>
                <a:ea typeface="Meiryo UI" panose="020B0604030504040204" pitchFamily="34" charset="-128"/>
              </a:rPr>
              <a:t>月～他窯橫展開檢討</a:t>
            </a:r>
            <a:r>
              <a:rPr lang="en-US" altLang="zh-TW" sz="1500" dirty="0">
                <a:latin typeface="Meiryo UI" panose="020B0604030504040204" pitchFamily="34" charset="-128"/>
                <a:ea typeface="Meiryo UI" panose="020B0604030504040204" pitchFamily="34" charset="-128"/>
              </a:rPr>
              <a:t>)</a:t>
            </a:r>
          </a:p>
          <a:p>
            <a:r>
              <a:rPr lang="zh-TW" altLang="en-US" sz="15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▇ 活動期間：</a:t>
            </a:r>
            <a:r>
              <a:rPr lang="zh-TW" altLang="en-US" sz="1500" dirty="0">
                <a:latin typeface="Meiryo UI" panose="020B0604030504040204" pitchFamily="34" charset="-128"/>
                <a:ea typeface="Meiryo UI" panose="020B0604030504040204" pitchFamily="34" charset="-128"/>
              </a:rPr>
              <a:t>～</a:t>
            </a:r>
            <a:r>
              <a:rPr lang="en-US" altLang="zh-TW" sz="1500" dirty="0">
                <a:latin typeface="Meiryo UI" panose="020B0604030504040204" pitchFamily="34" charset="-128"/>
                <a:ea typeface="Meiryo UI" panose="020B0604030504040204" pitchFamily="34" charset="-128"/>
              </a:rPr>
              <a:t>2026/7/E</a:t>
            </a:r>
          </a:p>
          <a:p>
            <a:r>
              <a:rPr lang="zh-TW" altLang="en-US" sz="15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▇ </a:t>
            </a:r>
            <a:r>
              <a:rPr lang="ja-JP" altLang="en-US" sz="15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行動スケジュール</a:t>
            </a:r>
            <a:endParaRPr lang="zh-TW" altLang="en-US" sz="1500" b="1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4CB4B812-2187-5EDC-42E6-1AFF4CAEF8B8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4229180" y="3442078"/>
            <a:ext cx="372291" cy="0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107F525B-E492-56AD-D800-31D86EADB581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4415326" y="3709866"/>
            <a:ext cx="940443" cy="0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010E3FFB-C1D3-8763-A366-61FE2E4B37FC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5355769" y="3961326"/>
            <a:ext cx="1449977" cy="0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C33D4DB6-D501-9D19-2D9F-6875093568E3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6402922" y="4216048"/>
            <a:ext cx="372291" cy="0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67C60D35-4BDE-5F78-9F16-43975F1F9F68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6805746" y="4474038"/>
            <a:ext cx="685800" cy="0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1AC94462-7580-4AA2-2F77-93A6B1BFAB3D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6805747" y="4715699"/>
            <a:ext cx="1410788" cy="0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37FCBCEB-5B98-EAA0-1737-CEDB82146D15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511142" y="4976954"/>
            <a:ext cx="1410788" cy="0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文字方塊 4">
            <a:extLst>
              <a:ext uri="{FF2B5EF4-FFF2-40B4-BE49-F238E27FC236}">
                <a16:creationId xmlns:a16="http://schemas.microsoft.com/office/drawing/2014/main" id="{4337A99E-0A5E-CD5E-F561-E46A661A9C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102" y="663914"/>
            <a:ext cx="732050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zh-TW" altLang="en-US" sz="15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▇ 活動重點：</a:t>
            </a:r>
            <a:endParaRPr lang="en-US" altLang="zh-TW" sz="1500" b="1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B707A2FD-A8B9-9648-B5CF-D298E7D37457}"/>
              </a:ext>
            </a:extLst>
          </p:cNvPr>
          <p:cNvSpPr txBox="1"/>
          <p:nvPr/>
        </p:nvSpPr>
        <p:spPr>
          <a:xfrm>
            <a:off x="532357" y="874546"/>
            <a:ext cx="8706379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ja-JP" altLang="zh-TW" sz="1500" kern="0" dirty="0">
                <a:latin typeface="Meiryo UI" panose="020B0604030504040204" pitchFamily="34" charset="-128"/>
                <a:ea typeface="Meiryo UI" panose="020B0604030504040204" pitchFamily="34" charset="-128"/>
                <a:cs typeface="MS PGothic" panose="020B0600070205080204" pitchFamily="34" charset="-128"/>
              </a:rPr>
              <a:t>工程管理能力レベルの把握から向上したい</a:t>
            </a:r>
            <a:r>
              <a:rPr lang="zh-TW" altLang="zh-TW" sz="1500" kern="0" dirty="0">
                <a:latin typeface="Meiryo UI" panose="020B0604030504040204" pitchFamily="34" charset="-128"/>
                <a:ea typeface="Meiryo UI" panose="020B0604030504040204" pitchFamily="34" charset="-128"/>
                <a:cs typeface="New MingLiu"/>
              </a:rPr>
              <a:t> </a:t>
            </a:r>
            <a:endParaRPr lang="zh-TW" altLang="zh-TW" sz="1500" kern="100" dirty="0">
              <a:latin typeface="Meiryo UI" panose="020B0604030504040204" pitchFamily="34" charset="-128"/>
              <a:ea typeface="Meiryo UI" panose="020B0604030504040204" pitchFamily="34" charset="-128"/>
              <a:cs typeface="Times New Roman" panose="02020603050405020304" pitchFamily="18" charset="0"/>
            </a:endParaRPr>
          </a:p>
          <a:p>
            <a:r>
              <a:rPr lang="ja-JP" altLang="zh-TW" sz="1500" kern="0" dirty="0">
                <a:latin typeface="Meiryo UI" panose="020B0604030504040204" pitchFamily="34" charset="-128"/>
                <a:ea typeface="Meiryo UI" panose="020B0604030504040204" pitchFamily="34" charset="-128"/>
                <a:cs typeface="MS PGothic" panose="020B0600070205080204" pitchFamily="34" charset="-128"/>
              </a:rPr>
              <a:t>・接触部材に関する</a:t>
            </a:r>
            <a:r>
              <a:rPr lang="ja-JP" altLang="en-US" sz="1500" kern="0" dirty="0">
                <a:latin typeface="Meiryo UI" panose="020B0604030504040204" pitchFamily="34" charset="-128"/>
                <a:ea typeface="Meiryo UI" panose="020B0604030504040204" pitchFamily="34" charset="-128"/>
                <a:cs typeface="MS PGothic" panose="020B0600070205080204" pitchFamily="34" charset="-128"/>
              </a:rPr>
              <a:t>、</a:t>
            </a:r>
            <a:r>
              <a:rPr lang="ja-JP" altLang="zh-TW" sz="1500" kern="0" dirty="0">
                <a:latin typeface="Meiryo UI" panose="020B0604030504040204" pitchFamily="34" charset="-128"/>
                <a:ea typeface="Meiryo UI" panose="020B0604030504040204" pitchFamily="34" charset="-128"/>
                <a:cs typeface="MS PGothic" panose="020B0600070205080204" pitchFamily="34" charset="-128"/>
              </a:rPr>
              <a:t>日常的な設備点検・記録・計画管理（工事後の立ち上げ点検含む）</a:t>
            </a:r>
            <a:r>
              <a:rPr lang="zh-TW" altLang="zh-TW" sz="1500" kern="0" dirty="0">
                <a:latin typeface="Meiryo UI" panose="020B0604030504040204" pitchFamily="34" charset="-128"/>
                <a:ea typeface="Meiryo UI" panose="020B0604030504040204" pitchFamily="34" charset="-128"/>
                <a:cs typeface="New MingLiu"/>
              </a:rPr>
              <a:t> </a:t>
            </a:r>
            <a:endParaRPr lang="zh-TW" altLang="zh-TW" sz="1500" kern="100" dirty="0">
              <a:latin typeface="Meiryo UI" panose="020B0604030504040204" pitchFamily="34" charset="-128"/>
              <a:ea typeface="Meiryo UI" panose="020B0604030504040204" pitchFamily="34" charset="-128"/>
              <a:cs typeface="Times New Roman" panose="02020603050405020304" pitchFamily="18" charset="0"/>
            </a:endParaRPr>
          </a:p>
          <a:p>
            <a:r>
              <a:rPr lang="ja-JP" altLang="zh-TW" sz="1500" kern="0" dirty="0">
                <a:latin typeface="Meiryo UI" panose="020B0604030504040204" pitchFamily="34" charset="-128"/>
                <a:ea typeface="Meiryo UI" panose="020B0604030504040204" pitchFamily="34" charset="-128"/>
                <a:cs typeface="MS PGothic" panose="020B0600070205080204" pitchFamily="34" charset="-128"/>
              </a:rPr>
              <a:t>・接触部材に関する、日常的に発生する（</a:t>
            </a:r>
            <a:r>
              <a:rPr lang="en-US" altLang="zh-TW" sz="1500" kern="0" dirty="0">
                <a:latin typeface="Meiryo UI" panose="020B0604030504040204" pitchFamily="34" charset="-128"/>
                <a:ea typeface="Meiryo UI" panose="020B0604030504040204" pitchFamily="34" charset="-128"/>
                <a:cs typeface="New MingLiu"/>
              </a:rPr>
              <a:t>1</a:t>
            </a:r>
            <a:r>
              <a:rPr lang="ja-JP" altLang="zh-TW" sz="1500" kern="0" dirty="0">
                <a:latin typeface="Meiryo UI" panose="020B0604030504040204" pitchFamily="34" charset="-128"/>
                <a:ea typeface="Meiryo UI" panose="020B0604030504040204" pitchFamily="34" charset="-128"/>
                <a:cs typeface="New MingLiu"/>
              </a:rPr>
              <a:t>回</a:t>
            </a:r>
            <a:r>
              <a:rPr lang="en-US" altLang="zh-TW" sz="1500" kern="0" dirty="0">
                <a:latin typeface="Meiryo UI" panose="020B0604030504040204" pitchFamily="34" charset="-128"/>
                <a:ea typeface="Meiryo UI" panose="020B0604030504040204" pitchFamily="34" charset="-128"/>
                <a:cs typeface="New MingLiu"/>
              </a:rPr>
              <a:t>/</a:t>
            </a:r>
            <a:r>
              <a:rPr lang="ja-JP" altLang="zh-TW" sz="1500" kern="0" dirty="0">
                <a:latin typeface="Meiryo UI" panose="020B0604030504040204" pitchFamily="34" charset="-128"/>
                <a:ea typeface="Meiryo UI" panose="020B0604030504040204" pitchFamily="34" charset="-128"/>
                <a:cs typeface="MS PGothic" panose="020B0600070205080204" pitchFamily="34" charset="-128"/>
              </a:rPr>
              <a:t>月程度以上）トラブル時の対応点検・記録・計画管理）状況</a:t>
            </a:r>
            <a:r>
              <a:rPr lang="zh-TW" altLang="zh-TW" sz="1500" kern="0" dirty="0">
                <a:latin typeface="Meiryo UI" panose="020B0604030504040204" pitchFamily="34" charset="-128"/>
                <a:ea typeface="Meiryo UI" panose="020B0604030504040204" pitchFamily="34" charset="-128"/>
                <a:cs typeface="New MingLiu"/>
              </a:rPr>
              <a:t> </a:t>
            </a:r>
            <a:endParaRPr lang="en-US" altLang="zh-TW" sz="1500" kern="100" dirty="0">
              <a:latin typeface="Meiryo UI" panose="020B0604030504040204" pitchFamily="34" charset="-128"/>
              <a:ea typeface="Meiryo UI" panose="020B060403050404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27" name="文字方塊 4">
            <a:extLst>
              <a:ext uri="{FF2B5EF4-FFF2-40B4-BE49-F238E27FC236}">
                <a16:creationId xmlns:a16="http://schemas.microsoft.com/office/drawing/2014/main" id="{31384CB8-E11E-C2F4-70A7-C5B967AFA7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103" y="1594645"/>
            <a:ext cx="600103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zh-TW" altLang="en-US" sz="15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▇ 活動目標：</a:t>
            </a:r>
            <a:endParaRPr lang="en-US" altLang="zh-TW" sz="1500" b="1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83345F55-7D02-1937-885F-AD666B53773F}"/>
              </a:ext>
            </a:extLst>
          </p:cNvPr>
          <p:cNvSpPr txBox="1"/>
          <p:nvPr/>
        </p:nvSpPr>
        <p:spPr>
          <a:xfrm>
            <a:off x="450689" y="1827691"/>
            <a:ext cx="632452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211" indent="-201211">
              <a:spcBef>
                <a:spcPct val="0"/>
              </a:spcBef>
              <a:defRPr/>
            </a:pPr>
            <a:r>
              <a:rPr lang="ja-JP" altLang="en-US" sz="1500" dirty="0">
                <a:latin typeface="Meiryo UI" panose="020B0604030504040204" pitchFamily="34" charset="-128"/>
                <a:ea typeface="Meiryo UI" panose="020B0604030504040204" pitchFamily="34" charset="-128"/>
              </a:rPr>
              <a:t>・到達イメージ：</a:t>
            </a:r>
            <a:r>
              <a:rPr lang="zh-TW" altLang="en-US" sz="1500" dirty="0">
                <a:latin typeface="Meiryo UI" panose="020B0604030504040204" pitchFamily="34" charset="-128"/>
                <a:ea typeface="Meiryo UI" panose="020B0604030504040204" pitchFamily="34" charset="-128"/>
              </a:rPr>
              <a:t>接觸部材管理體制構築 </a:t>
            </a:r>
            <a:r>
              <a:rPr lang="en-US" altLang="zh-TW" sz="1500" dirty="0">
                <a:latin typeface="Meiryo UI" panose="020B0604030504040204" pitchFamily="34" charset="-128"/>
                <a:ea typeface="Meiryo UI" panose="020B0604030504040204" pitchFamily="34" charset="-128"/>
              </a:rPr>
              <a:t>(</a:t>
            </a:r>
            <a:r>
              <a:rPr lang="zh-TW" altLang="en-US" sz="1500" dirty="0">
                <a:latin typeface="Meiryo UI" panose="020B0604030504040204" pitchFamily="34" charset="-128"/>
                <a:ea typeface="Meiryo UI" panose="020B0604030504040204" pitchFamily="34" charset="-128"/>
              </a:rPr>
              <a:t>日常管理、異常對應、記錄留存</a:t>
            </a:r>
            <a:r>
              <a:rPr lang="en-US" altLang="zh-TW" sz="1500" dirty="0">
                <a:latin typeface="Meiryo UI" panose="020B0604030504040204" pitchFamily="34" charset="-128"/>
                <a:ea typeface="Meiryo UI" panose="020B0604030504040204" pitchFamily="34" charset="-128"/>
              </a:rPr>
              <a:t>)</a:t>
            </a:r>
          </a:p>
          <a:p>
            <a:pPr marL="201211" indent="-201211">
              <a:spcBef>
                <a:spcPct val="0"/>
              </a:spcBef>
              <a:defRPr/>
            </a:pPr>
            <a:r>
              <a:rPr lang="ja-JP" altLang="en-US" sz="1500" dirty="0">
                <a:latin typeface="Meiryo UI" panose="020B0604030504040204" pitchFamily="34" charset="-128"/>
                <a:ea typeface="Meiryo UI" panose="020B0604030504040204" pitchFamily="34" charset="-128"/>
              </a:rPr>
              <a:t>・活動成果確認指標：</a:t>
            </a:r>
            <a:r>
              <a:rPr lang="zh-TW" altLang="en-US" sz="1500" dirty="0">
                <a:latin typeface="Meiryo UI" panose="020B0604030504040204" pitchFamily="34" charset="-128"/>
                <a:ea typeface="Meiryo UI" panose="020B0604030504040204" pitchFamily="34" charset="-128"/>
              </a:rPr>
              <a:t>接觸部材起因流出件數</a:t>
            </a:r>
            <a:r>
              <a:rPr lang="ja-JP" altLang="en-US" sz="1500" dirty="0">
                <a:latin typeface="Meiryo UI" panose="020B0604030504040204" pitchFamily="34" charset="-128"/>
                <a:ea typeface="Meiryo UI" panose="020B0604030504040204" pitchFamily="34" charset="-128"/>
              </a:rPr>
              <a:t>　</a:t>
            </a:r>
            <a:r>
              <a:rPr lang="zh-TW" altLang="en-US" sz="1500" dirty="0">
                <a:latin typeface="Meiryo UI" panose="020B0604030504040204" pitchFamily="34" charset="-128"/>
                <a:ea typeface="Meiryo UI" panose="020B0604030504040204" pitchFamily="34" charset="-128"/>
              </a:rPr>
              <a:t>８月</a:t>
            </a:r>
            <a:r>
              <a:rPr lang="ja-JP" altLang="en-US" sz="1500" dirty="0">
                <a:latin typeface="Meiryo UI" panose="020B0604030504040204" pitchFamily="34" charset="-128"/>
                <a:ea typeface="Meiryo UI" panose="020B0604030504040204" pitchFamily="34" charset="-128"/>
              </a:rPr>
              <a:t>以降</a:t>
            </a:r>
            <a:r>
              <a:rPr lang="zh-TW" altLang="en-US" sz="1500" dirty="0">
                <a:latin typeface="Meiryo UI" panose="020B0604030504040204" pitchFamily="34" charset="-128"/>
                <a:ea typeface="Meiryo UI" panose="020B0604030504040204" pitchFamily="34" charset="-128"/>
              </a:rPr>
              <a:t>０件</a:t>
            </a:r>
            <a:endParaRPr lang="en-US" altLang="ja-JP" sz="15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7A6923E-65DA-0472-2F95-089ADB6A3862}"/>
              </a:ext>
            </a:extLst>
          </p:cNvPr>
          <p:cNvSpPr/>
          <p:nvPr/>
        </p:nvSpPr>
        <p:spPr>
          <a:xfrm>
            <a:off x="6904634" y="1621066"/>
            <a:ext cx="1893197" cy="11228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zh-TW" altLang="en-US" b="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▇ 活動成員</a:t>
            </a:r>
            <a:r>
              <a:rPr lang="en-US" altLang="zh-TW" sz="1013" b="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  <a:sym typeface="Wingdings" panose="05000000000000000000" pitchFamily="2" charset="2"/>
              </a:rPr>
              <a:t>:</a:t>
            </a:r>
            <a:r>
              <a:rPr lang="zh-TW" altLang="en-US" sz="1013" b="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  <a:sym typeface="Wingdings" panose="05000000000000000000" pitchFamily="2" charset="2"/>
              </a:rPr>
              <a:t> </a:t>
            </a:r>
            <a:r>
              <a:rPr lang="en-US" altLang="zh-TW" sz="1013" b="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  <a:sym typeface="Wingdings" panose="05000000000000000000" pitchFamily="2" charset="2"/>
              </a:rPr>
              <a:t>(</a:t>
            </a:r>
            <a:r>
              <a:rPr lang="zh-TW" altLang="en-US" sz="1013" b="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  <a:sym typeface="Wingdings" panose="05000000000000000000" pitchFamily="2" charset="2"/>
              </a:rPr>
              <a:t>主要</a:t>
            </a:r>
            <a:r>
              <a:rPr lang="en-US" altLang="zh-TW" sz="1013" b="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  <a:sym typeface="Wingdings" panose="05000000000000000000" pitchFamily="2" charset="2"/>
              </a:rPr>
              <a:t>)</a:t>
            </a:r>
            <a:endParaRPr lang="en-US" altLang="zh-TW" b="1" dirty="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r>
              <a:rPr lang="zh-TW" altLang="en-US" sz="1013" b="1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    </a:t>
            </a:r>
            <a:r>
              <a:rPr lang="zh-TW" altLang="en-US" sz="1013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製造：邱世文</a:t>
            </a:r>
            <a:endParaRPr lang="en-US" altLang="zh-TW" sz="1013" dirty="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r>
              <a:rPr lang="en-US" altLang="zh-TW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             </a:t>
            </a:r>
            <a:r>
              <a:rPr lang="zh-TW" altLang="en-US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賴勃伸</a:t>
            </a:r>
            <a:endParaRPr lang="en-US" altLang="zh-TW" dirty="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r>
              <a:rPr lang="en-US" altLang="zh-TW" sz="1013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    </a:t>
            </a:r>
            <a:r>
              <a:rPr lang="zh-TW" altLang="en-US" sz="1013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品保：楊信興</a:t>
            </a:r>
            <a:endParaRPr lang="en-US" altLang="zh-TW" sz="1013" dirty="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r>
              <a:rPr lang="en-US" altLang="zh-TW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             </a:t>
            </a:r>
            <a:r>
              <a:rPr lang="zh-TW" altLang="en-US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林家慶</a:t>
            </a:r>
            <a:endParaRPr lang="en-US" altLang="zh-TW" dirty="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09035780"/>
      </p:ext>
    </p:extLst>
  </p:cSld>
  <p:clrMapOvr>
    <a:masterClrMapping/>
  </p:clrMapOvr>
</p:sld>
</file>

<file path=ppt/theme/theme1.xml><?xml version="1.0" encoding="utf-8"?>
<a:theme xmlns:a="http://schemas.openxmlformats.org/drawingml/2006/main" name="AGC_PPT_Internal_16-9">
  <a:themeElements>
    <a:clrScheme name="color_202406">
      <a:dk1>
        <a:sysClr val="windowText" lastClr="000000"/>
      </a:dk1>
      <a:lt1>
        <a:sysClr val="window" lastClr="FFFFFF"/>
      </a:lt1>
      <a:dk2>
        <a:srgbClr val="0050AA"/>
      </a:dk2>
      <a:lt2>
        <a:srgbClr val="F3F3F3"/>
      </a:lt2>
      <a:accent1>
        <a:srgbClr val="001F6B"/>
      </a:accent1>
      <a:accent2>
        <a:srgbClr val="227D92"/>
      </a:accent2>
      <a:accent3>
        <a:srgbClr val="1C7253"/>
      </a:accent3>
      <a:accent4>
        <a:srgbClr val="454649"/>
      </a:accent4>
      <a:accent5>
        <a:srgbClr val="C8003C"/>
      </a:accent5>
      <a:accent6>
        <a:srgbClr val="454649"/>
      </a:accent6>
      <a:hlink>
        <a:srgbClr val="000000"/>
      </a:hlink>
      <a:folHlink>
        <a:srgbClr val="0561AD"/>
      </a:folHlink>
    </a:clrScheme>
    <a:fontScheme name="JE_Meiryo UI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ホワイ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1E1E1"/>
        </a:solidFill>
        <a:ln>
          <a:noFill/>
        </a:ln>
      </a:spPr>
      <a:bodyPr rtlCol="0" anchor="ctr"/>
      <a:lstStyle>
        <a:defPPr algn="ctr">
          <a:defRPr kumimoji="1" sz="800" dirty="0">
            <a:solidFill>
              <a:srgbClr val="404040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5875">
          <a:solidFill>
            <a:srgbClr val="001F6B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kumimoji="1" sz="1800" b="0" i="0" dirty="0" err="1" smtClean="0">
            <a:solidFill>
              <a:srgbClr val="404040"/>
            </a:solidFill>
            <a:latin typeface="Meiryo UI" panose="020B0604030504040204" pitchFamily="50" charset="-128"/>
            <a:ea typeface="Meiryo UI" panose="020B0604030504040204" pitchFamily="50" charset="-128"/>
            <a:cs typeface="Meiryo UI" panose="020B0604030504040204" pitchFamily="50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プレゼンテーション1" id="{AB01E28D-BD01-4F55-93B8-96111D9004BB}" vid="{BBB5F7C2-F2DF-4B05-A8F6-C8FE98B9D02E}"/>
    </a:ext>
  </a:extLst>
</a:theme>
</file>

<file path=ppt/theme/theme2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Yu Gothic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AEE9FCF6597E5649832920905168FDF2" ma:contentTypeVersion="19" ma:contentTypeDescription="建立新的文件。" ma:contentTypeScope="" ma:versionID="f16ac8e34cfaee993874914f788be460">
  <xsd:schema xmlns:xsd="http://www.w3.org/2001/XMLSchema" xmlns:xs="http://www.w3.org/2001/XMLSchema" xmlns:p="http://schemas.microsoft.com/office/2006/metadata/properties" xmlns:ns2="35d95f34-e8a1-40b9-af93-a3e54e226d19" xmlns:ns3="c5ed5643-1602-4064-a57f-14c03643e739" targetNamespace="http://schemas.microsoft.com/office/2006/metadata/properties" ma:root="true" ma:fieldsID="7cd6cca0f21dab6ee87629dd76e18bf3" ns2:_="" ns3:_="">
    <xsd:import namespace="35d95f34-e8a1-40b9-af93-a3e54e226d19"/>
    <xsd:import namespace="c5ed5643-1602-4064-a57f-14c03643e739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lcf76f155ced4ddcb4097134ff3c332f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  <xsd:element ref="ns3:MediaServiceLocation" minOccurs="0"/>
                <xsd:element ref="ns3:MediaServiceObjectDetectorVersions" minOccurs="0"/>
                <xsd:element ref="ns3:MediaServiceSearchProperties" minOccurs="0"/>
                <xsd:element ref="ns3:Level" minOccurs="0"/>
                <xsd:element ref="ns3:_x7ba1__x7406__x8005_" minOccurs="0"/>
                <xsd:element ref="ns3:_x7de8__x8f2f_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d95f34-e8a1-40b9-af93-a3e54e226d19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  <xsd:element name="TaxCatchAll" ma:index="12" nillable="true" ma:displayName="Taxonomy Catch All Column" ma:hidden="true" ma:list="{50fcb70c-3d2d-4899-91be-693e5d14fc10}" ma:internalName="TaxCatchAll" ma:showField="CatchAllData" ma:web="35d95f34-e8a1-40b9-af93-a3e54e226d1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ed5643-1602-4064-a57f-14c03643e739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11" nillable="true" ma:taxonomy="true" ma:internalName="lcf76f155ced4ddcb4097134ff3c332f" ma:taxonomyFieldName="MediaServiceImageTags" ma:displayName="影像標籤" ma:readOnly="false" ma:fieldId="{5cf76f15-5ced-4ddc-b409-7134ff3c332f}" ma:taxonomyMulti="true" ma:sspId="e4472dcf-cde0-4e6a-8f84-bd7a383b25e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evel" ma:index="23" nillable="true" ma:displayName="Level" ma:format="Dropdown" ma:internalName="Level">
      <xsd:simpleType>
        <xsd:restriction base="dms:Choice">
          <xsd:enumeration value="Internal Use Only"/>
          <xsd:enumeration value="Confidential"/>
          <xsd:enumeration value="Higly Confidential"/>
        </xsd:restriction>
      </xsd:simpleType>
    </xsd:element>
    <xsd:element name="_x7ba1__x7406__x8005_" ma:index="24" nillable="true" ma:displayName="管理者" ma:format="Dropdown" ma:list="UserInfo" ma:SharePointGroup="0" ma:internalName="_x7ba1__x7406__x8005_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x7de8__x8f2f_" ma:index="25" nillable="true" ma:displayName="編 輯" ma:format="Hyperlink" ma:internalName="_x7de8__x8f2f_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5d95f34-e8a1-40b9-af93-a3e54e226d19" xsi:nil="true"/>
    <Level xmlns="c5ed5643-1602-4064-a57f-14c03643e739" xsi:nil="true"/>
    <_x7de8__x8f2f_ xmlns="c5ed5643-1602-4064-a57f-14c03643e739">
      <Url xsi:nil="true"/>
      <Description xsi:nil="true"/>
    </_x7de8__x8f2f_>
    <lcf76f155ced4ddcb4097134ff3c332f xmlns="c5ed5643-1602-4064-a57f-14c03643e739">
      <Terms xmlns="http://schemas.microsoft.com/office/infopath/2007/PartnerControls"/>
    </lcf76f155ced4ddcb4097134ff3c332f>
    <_x7ba1__x7406__x8005_ xmlns="c5ed5643-1602-4064-a57f-14c03643e739">
      <UserInfo>
        <DisplayName/>
        <AccountId xsi:nil="true"/>
        <AccountType/>
      </UserInfo>
    </_x7ba1__x7406__x8005_>
  </documentManagement>
</p:properties>
</file>

<file path=customXml/itemProps1.xml><?xml version="1.0" encoding="utf-8"?>
<ds:datastoreItem xmlns:ds="http://schemas.openxmlformats.org/officeDocument/2006/customXml" ds:itemID="{04F10727-9DA0-4A29-B94D-71C2FA347D2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8743524-27B2-4F20-B2BE-E01167080907}">
  <ds:schemaRefs>
    <ds:schemaRef ds:uri="35d95f34-e8a1-40b9-af93-a3e54e226d19"/>
    <ds:schemaRef ds:uri="c5ed5643-1602-4064-a57f-14c03643e73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CC0B66F-E7C5-4063-AB5E-437C829FDAF6}">
  <ds:schemaRefs>
    <ds:schemaRef ds:uri="35d95f34-e8a1-40b9-af93-a3e54e226d19"/>
    <ds:schemaRef ds:uri="c5ed5643-1602-4064-a57f-14c03643e73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PPT_temp_Internal_2</Template>
  <TotalTime>3579</TotalTime>
  <Words>1949</Words>
  <Application>Microsoft Office PowerPoint</Application>
  <PresentationFormat>如螢幕大小 (16:9)</PresentationFormat>
  <Paragraphs>339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21" baseType="lpstr">
      <vt:lpstr>Meiryo</vt:lpstr>
      <vt:lpstr>Meiryo UI</vt:lpstr>
      <vt:lpstr>Microsoft YaHei</vt:lpstr>
      <vt:lpstr>MS Gothic</vt:lpstr>
      <vt:lpstr>New MingLiu</vt:lpstr>
      <vt:lpstr>Yu Gothic</vt:lpstr>
      <vt:lpstr>Arial</vt:lpstr>
      <vt:lpstr>Calibri</vt:lpstr>
      <vt:lpstr>Segoe UI</vt:lpstr>
      <vt:lpstr>Wingdings</vt:lpstr>
      <vt:lpstr>AGC_PPT_Internal_16-9</vt:lpstr>
      <vt:lpstr>2026年拠点コミュニケーション ADT</vt:lpstr>
      <vt:lpstr>2026 ADTの体制</vt:lpstr>
      <vt:lpstr>設備異常の再発防止取り組み</vt:lpstr>
      <vt:lpstr>設備異常の再発防止取り組み</vt:lpstr>
      <vt:lpstr>設備異常の再発防止取り組み</vt:lpstr>
      <vt:lpstr>品質異常の再発防止取り組み</vt:lpstr>
      <vt:lpstr>品質異常の再発防止取り組み</vt:lpstr>
      <vt:lpstr>PowerPoint 簡報</vt:lpstr>
      <vt:lpstr>PowerPoint 簡報</vt:lpstr>
      <vt:lpstr>PowerPoint 簡報</vt:lpstr>
    </vt:vector>
  </TitlesOfParts>
  <Company>AGC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Windows ユーザー</dc:creator>
  <cp:lastModifiedBy>陳 俊碩(chen chunshuo)/ADT/雲林・製１・生產推進</cp:lastModifiedBy>
  <cp:revision>59</cp:revision>
  <dcterms:created xsi:type="dcterms:W3CDTF">2018-06-22T07:01:47Z</dcterms:created>
  <dcterms:modified xsi:type="dcterms:W3CDTF">2026-03-06T09:34:35Z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0x010100AEE9FCF6597E5649832920905168FDF2</vt:lpwstr>
  </property>
  <property fmtid="{D5CDD505-2E9C-101B-9397-08002B2CF9AE}" pid="3" name="Order">
    <vt:r8>1100</vt:r8>
  </property>
  <property fmtid="{D5CDD505-2E9C-101B-9397-08002B2CF9AE}" pid="4" name="_dlc_DocIdItemGuid">
    <vt:lpwstr>aa65d3d7-3878-438d-9320-53687af45cdb</vt:lpwstr>
  </property>
  <property fmtid="{D5CDD505-2E9C-101B-9397-08002B2CF9AE}" pid="5" name="MediaServiceImageTags">
    <vt:lpwstr/>
  </property>
  <property fmtid="{D5CDD505-2E9C-101B-9397-08002B2CF9AE}" pid="6" name="MSIP_Label_5cc66615-6eec-41b4-b3fe-3a9a5bc67cec_Enabled">
    <vt:lpwstr>true</vt:lpwstr>
  </property>
  <property fmtid="{D5CDD505-2E9C-101B-9397-08002B2CF9AE}" pid="7" name="MSIP_Label_5cc66615-6eec-41b4-b3fe-3a9a5bc67cec_SetDate">
    <vt:lpwstr>2025-03-31T08:15:26Z</vt:lpwstr>
  </property>
  <property fmtid="{D5CDD505-2E9C-101B-9397-08002B2CF9AE}" pid="8" name="MSIP_Label_5cc66615-6eec-41b4-b3fe-3a9a5bc67cec_Method">
    <vt:lpwstr>Privileged</vt:lpwstr>
  </property>
  <property fmtid="{D5CDD505-2E9C-101B-9397-08002B2CF9AE}" pid="9" name="MSIP_Label_5cc66615-6eec-41b4-b3fe-3a9a5bc67cec_Name">
    <vt:lpwstr>GCEP2 - Internal Use Only</vt:lpwstr>
  </property>
  <property fmtid="{D5CDD505-2E9C-101B-9397-08002B2CF9AE}" pid="10" name="MSIP_Label_5cc66615-6eec-41b4-b3fe-3a9a5bc67cec_SiteId">
    <vt:lpwstr>90c56ca2-d892-45ce-810d-6cf368facdb3</vt:lpwstr>
  </property>
  <property fmtid="{D5CDD505-2E9C-101B-9397-08002B2CF9AE}" pid="11" name="MSIP_Label_5cc66615-6eec-41b4-b3fe-3a9a5bc67cec_ActionId">
    <vt:lpwstr>7b661ab2-b926-45c0-b4c9-d7930b69b957</vt:lpwstr>
  </property>
  <property fmtid="{D5CDD505-2E9C-101B-9397-08002B2CF9AE}" pid="12" name="MSIP_Label_5cc66615-6eec-41b4-b3fe-3a9a5bc67cec_ContentBits">
    <vt:lpwstr>3</vt:lpwstr>
  </property>
  <property fmtid="{D5CDD505-2E9C-101B-9397-08002B2CF9AE}" pid="13" name="ClassificationContentMarkingFooterLocations">
    <vt:lpwstr>AGC_PPT_Internal_16-9:8</vt:lpwstr>
  </property>
  <property fmtid="{D5CDD505-2E9C-101B-9397-08002B2CF9AE}" pid="14" name="ClassificationContentMarkingFooterText">
    <vt:lpwstr> AGC Group Internal Use Only </vt:lpwstr>
  </property>
</Properties>
</file>